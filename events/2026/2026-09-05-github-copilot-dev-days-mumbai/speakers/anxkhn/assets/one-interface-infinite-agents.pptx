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promise: Copilot fixes a bug, the browser views the live session, and Codex reviews a fork with full history. Keep this brief so the live demo starts at 07:00.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warmly: Software Engineer at Microsoft, Google DeepMind GSoC contributor, independent Omnigent contributor. State 22 merged PRs, six on the Copilot SDK harness. These views are your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developer economics: frontier labs heavily subsidize flat-rate coding subscriptions (Copilot, Claude Code, Codex) with high rate limits, while raw API keys get expensive. When developers hit hourly quotas or need another model's strengths, they switch tools. Copying the last prompt passes a headline while leaving the investigation behind.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all four layers in plain language: model, harness, agent, and meta-harness. Address OpenCode: OpenCode and Copilot are single harnesses with multi-model dispatch, lacking an agent-to-agent protocol to coordinate with external harnesses. Omnigent coordinates separate harnesses and persists session lineage. T3 Code is an agent harness control surface for operating local coding agents through web, desktop, and mobile clients.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Omnigent as an open source way to keep agent work addressable across clients and make forks explicit. Its server-backed record includes normalized session items, usage, policy, and lineage. Apache-2.0 and alpha. Sources: https://omnigent.ai/docs/deploy/overview.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four integration styles: Direct Python SDK (Copilot), Native SDK (Claude Code), Native CLI bridge (Codex, Cursor, OpenCode, Pi, Antigravity, Kimi, Kiro), and Agent Client Protocol (ACP) over stdio (Devin, Grok Build, Gemini, Qwen, Goose). Detail the ACP stack: stdio JSON-RPC transport, capability negotiation, and generic adapter.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Forks preserve complete history: a session fork clones the entire conversation DAG in Postgres, so the receiving agent inherits all prior prompts, file diffs, tool calls, and test outputs. Four reasons to fork: harness capabilities, model specialization, independent review, and rate-limit rotation.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cache cold starts across forks: prompt caches and KV caches are model-checkpoint and tokenizer specific. When forking from Copilot to Codex, history is duplicated in Postgres, but prompt cache hits reset to zero on turn one, requiring full input re-tokenization.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Omnigent's canonical copilot harness uses Python's github-copilot-sdk inside a per-conversation harness process. It is not a direct wrapper around a separately installed Copilot CLI. The SDK manages its bundled CLI backing process. Default model is mai-code-1.1-flash. There are 22 merged contributions, including six Copilot harness PRs.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demo bug is deliberately small. Ask the room to track the active harness, session ID, host and workspace selection, and evidence verified by each agent. Questions are reserved for the last five minutes. Move directly into the demo at 07:00.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DEVDAYS_FINAL_TALK_PLAN.md. Run from 07:00 to 12:45. Do not troubleshoot for more than 12 seconds. End on the Codex verdict and visible session lineage. Do not add another Copilot provider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to the opening question: what moved and what did not? The full conversation history was duplicated in the database, while files were accessed because the fork was bound to the workspace host. Usage is operational evidence, not billing reconciliation.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encrypted reasoning payloads: frontier reasoning models emit sealed chain-of-thought tokens as encrypted_content. Omnigent preserves these encrypted blobs in the session DAG for upstream cryptographic verification without exposing raw scratchpads. Detail pros and trade-offs.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reusable artifact. It is a structured work record that travels with the session. The next agent receives claims it can verify: files, diff, command, and observed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Omnigent's execution architecture: multi-host execution across local machines, SSH servers, and Docker/Kubernetes sandboxes. Three layers of safety: prompts guide intent, policies gate tool calls in software, and sandboxes enforce kernel boundaries.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Copilot primary when it fits. Fork to another harness only for a named role. Bind the correct host and workspace. Verify after the fork. Stop when solved. Omnigent labels itself alpha.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Empowering developers through meta-harnesses: how meta-harnesses let developers, especially young and student engineers, use subsidized frontier plans, keep all context in one session without re-learning tools, and share reproducible, collaborative workflows. End with: carry evidence, not confidence.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Q&amp;A for five minutes. Repeat every audience question into the microphone. Discuss Copilot SDK, session forks, ACP protocol, or security boundaries. Keep the notes URL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6400800"/>
            <a:ext cx="10469880" cy="219456"/>
          </a:xfrm>
          <a:prstGeom prst="rect">
            <a:avLst/>
          </a:prstGeom>
          <a:noFill/>
          <a:ln/>
        </p:spPr>
        <p:txBody>
          <a:bodyPr wrap="square" lIns="0" tIns="0" rIns="0" bIns="0" rtlCol="0" anchor="ctr">
            <a:normAutofit/>
          </a:bodyPr>
          <a:lstStyle/>
          <a:p>
            <a:pPr algn="l" indent="0" marL="0">
              <a:buNone/>
            </a:pPr>
            <a:r>
              <a:rPr lang="en-US" sz="1450" b="1" dirty="0">
                <a:solidFill>
                  <a:srgbClr val="AD0C72"/>
                </a:solidFill>
                <a:latin typeface="Aptos" pitchFamily="34" charset="0"/>
                <a:ea typeface="Aptos" pitchFamily="34" charset="-122"/>
                <a:cs typeface="Aptos" pitchFamily="34" charset="-120"/>
              </a:rPr>
              <a:t>@anxkhn</a:t>
            </a:r>
            <a:pPr algn="l" indent="0" marL="0">
              <a:buNone/>
            </a:pPr>
            <a:r>
              <a:rPr lang="en-US" sz="1450" b="1" dirty="0">
                <a:solidFill>
                  <a:srgbClr val="5C5765"/>
                </a:solidFill>
                <a:latin typeface="Aptos" pitchFamily="34" charset="0"/>
                <a:ea typeface="Aptos" pitchFamily="34" charset="-122"/>
                <a:cs typeface="Aptos" pitchFamily="34" charset="-120"/>
              </a:rPr>
              <a:t>  ·  #DevDays  ·  #DevDaysMumbai  ·  #mumtechup</a:t>
            </a:r>
            <a:endParaRPr lang="en-US" sz="1450" dirty="0"/>
          </a:p>
        </p:txBody>
      </p:sp>
      <p:sp>
        <p:nvSpPr>
          <p:cNvPr id="3" name="Text 1"/>
          <p:cNvSpPr/>
          <p:nvPr/>
        </p:nvSpPr>
        <p:spPr>
          <a:xfrm>
            <a:off x="11064240" y="6419088"/>
            <a:ext cx="438912" cy="182880"/>
          </a:xfrm>
          <a:prstGeom prst="rect">
            <a:avLst/>
          </a:prstGeom>
          <a:noFill/>
          <a:ln/>
        </p:spPr>
        <p:txBody>
          <a:bodyPr wrap="square" lIns="0" tIns="0" rIns="0" bIns="0" rtlCol="0" anchor="ctr">
            <a:normAutofit/>
          </a:bodyPr>
          <a:lstStyle/>
          <a:p>
            <a:pPr algn="r" indent="0" marL="0">
              <a:buNone/>
            </a:pPr>
            <a:r>
              <a:rPr lang="en-US" sz="1200" b="1" dirty="0">
                <a:solidFill>
                  <a:srgbClr val="5C5765"/>
                </a:solidFill>
                <a:latin typeface="Aptos Mono" pitchFamily="34" charset="0"/>
                <a:ea typeface="Aptos Mono" pitchFamily="34" charset="-122"/>
                <a:cs typeface="Aptos Mono" pitchFamily="34" charset="-120"/>
              </a:rPr>
              <a:t>1</a:t>
            </a:r>
            <a:endParaRPr lang="en-US" sz="1200" dirty="0"/>
          </a:p>
        </p:txBody>
      </p:sp>
      <p:pic>
        <p:nvPicPr>
          <p:cNvPr id="5" name="Image 0" descr="Omnigent mascot">    </p:cNvPr>
          <p:cNvPicPr>
            <a:picLocks noChangeAspect="1"/>
          </p:cNvPicPr>
          <p:nvPr/>
        </p:nvPicPr>
        <p:blipFill>
          <a:blip r:embed="rId1"/>
          <a:stretch>
            <a:fillRect/>
          </a:stretch>
        </p:blipFill>
        <p:spPr>
          <a:xfrm>
            <a:off x="658368" y="502920"/>
            <a:ext cx="914400" cy="914400"/>
          </a:xfrm>
          <a:prstGeom prst="rect">
            <a:avLst/>
          </a:prstGeom>
        </p:spPr>
      </p:pic>
      <p:sp>
        <p:nvSpPr>
          <p:cNvPr id="6" name="Text 2"/>
          <p:cNvSpPr/>
          <p:nvPr/>
        </p:nvSpPr>
        <p:spPr>
          <a:xfrm>
            <a:off x="731520" y="1481328"/>
            <a:ext cx="7863840" cy="749808"/>
          </a:xfrm>
          <a:prstGeom prst="rect">
            <a:avLst/>
          </a:prstGeom>
          <a:noFill/>
          <a:ln/>
        </p:spPr>
        <p:txBody>
          <a:bodyPr wrap="square" lIns="0" tIns="0" rIns="0" bIns="0" rtlCol="0" anchor="ctr">
            <a:normAutofit/>
          </a:bodyPr>
          <a:lstStyle/>
          <a:p>
            <a:pPr algn="l" indent="0" marL="0">
              <a:buNone/>
            </a:pPr>
            <a:r>
              <a:rPr lang="en-US" sz="4800" b="1" dirty="0">
                <a:solidFill>
                  <a:srgbClr val="15131A"/>
                </a:solidFill>
                <a:latin typeface="Aptos Display" pitchFamily="34" charset="0"/>
                <a:ea typeface="Aptos Display" pitchFamily="34" charset="-122"/>
                <a:cs typeface="Aptos Display" pitchFamily="34" charset="-120"/>
              </a:rPr>
              <a:t>One Interface,</a:t>
            </a:r>
            <a:endParaRPr lang="en-US" sz="4800" dirty="0"/>
          </a:p>
        </p:txBody>
      </p:sp>
      <p:sp>
        <p:nvSpPr>
          <p:cNvPr id="7" name="Text 3"/>
          <p:cNvSpPr/>
          <p:nvPr/>
        </p:nvSpPr>
        <p:spPr>
          <a:xfrm>
            <a:off x="731520" y="2212848"/>
            <a:ext cx="8595360" cy="841248"/>
          </a:xfrm>
          <a:prstGeom prst="rect">
            <a:avLst/>
          </a:prstGeom>
          <a:noFill/>
          <a:ln/>
        </p:spPr>
        <p:txBody>
          <a:bodyPr wrap="square" lIns="0" tIns="0" rIns="0" bIns="0" rtlCol="0" anchor="ctr">
            <a:normAutofit/>
          </a:bodyPr>
          <a:lstStyle/>
          <a:p>
            <a:pPr algn="l" indent="0" marL="0">
              <a:buNone/>
            </a:pPr>
            <a:r>
              <a:rPr lang="en-US" sz="5400" b="1" dirty="0">
                <a:solidFill>
                  <a:srgbClr val="ED1C9C"/>
                </a:solidFill>
                <a:latin typeface="Aptos Display" pitchFamily="34" charset="0"/>
                <a:ea typeface="Aptos Display" pitchFamily="34" charset="-122"/>
                <a:cs typeface="Aptos Display" pitchFamily="34" charset="-120"/>
              </a:rPr>
              <a:t>Infinite Agents</a:t>
            </a:r>
            <a:endParaRPr lang="en-US" sz="5400" dirty="0"/>
          </a:p>
        </p:txBody>
      </p:sp>
      <p:sp>
        <p:nvSpPr>
          <p:cNvPr id="8" name="Text 4"/>
          <p:cNvSpPr/>
          <p:nvPr/>
        </p:nvSpPr>
        <p:spPr>
          <a:xfrm>
            <a:off x="768096" y="3310128"/>
            <a:ext cx="6583680" cy="384048"/>
          </a:xfrm>
          <a:prstGeom prst="rect">
            <a:avLst/>
          </a:prstGeom>
          <a:noFill/>
          <a:ln/>
        </p:spPr>
        <p:txBody>
          <a:bodyPr wrap="square" lIns="0" tIns="0" rIns="0" bIns="0" rtlCol="0" anchor="ctr">
            <a:normAutofit/>
          </a:bodyPr>
          <a:lstStyle/>
          <a:p>
            <a:pPr algn="l" indent="0" marL="0">
              <a:buNone/>
            </a:pPr>
            <a:r>
              <a:rPr lang="en-US" sz="2400" dirty="0">
                <a:solidFill>
                  <a:srgbClr val="5C5765"/>
                </a:solidFill>
                <a:latin typeface="Aptos" pitchFamily="34" charset="0"/>
                <a:ea typeface="Aptos" pitchFamily="34" charset="-122"/>
                <a:cs typeface="Aptos" pitchFamily="34" charset="-120"/>
              </a:rPr>
              <a:t>Using Copilot with Omnigent</a:t>
            </a:r>
            <a:endParaRPr lang="en-US" sz="2400" dirty="0"/>
          </a:p>
        </p:txBody>
      </p:sp>
      <p:sp>
        <p:nvSpPr>
          <p:cNvPr id="9" name="Shape 5"/>
          <p:cNvSpPr/>
          <p:nvPr/>
        </p:nvSpPr>
        <p:spPr>
          <a:xfrm>
            <a:off x="786384" y="4983480"/>
            <a:ext cx="2743200" cy="0"/>
          </a:xfrm>
          <a:prstGeom prst="line">
            <a:avLst/>
          </a:prstGeom>
          <a:noFill/>
          <a:ln w="50800">
            <a:solidFill>
              <a:srgbClr val="ED1C9C"/>
            </a:solidFill>
            <a:prstDash val="solid"/>
          </a:ln>
        </p:spPr>
      </p:sp>
      <p:sp>
        <p:nvSpPr>
          <p:cNvPr id="10" name="Text 6"/>
          <p:cNvSpPr/>
          <p:nvPr/>
        </p:nvSpPr>
        <p:spPr>
          <a:xfrm>
            <a:off x="768096" y="5230368"/>
            <a:ext cx="2286000" cy="274320"/>
          </a:xfrm>
          <a:prstGeom prst="rect">
            <a:avLst/>
          </a:prstGeom>
          <a:noFill/>
          <a:ln/>
        </p:spPr>
        <p:txBody>
          <a:bodyPr wrap="square" lIns="0" tIns="0" rIns="0" bIns="0" rtlCol="0" anchor="ctr">
            <a:normAutofit/>
          </a:bodyPr>
          <a:lstStyle/>
          <a:p>
            <a:pPr algn="l" indent="0" marL="0">
              <a:buNone/>
            </a:pPr>
            <a:r>
              <a:rPr lang="en-US" sz="1800" b="1" dirty="0">
                <a:solidFill>
                  <a:srgbClr val="15131A"/>
                </a:solidFill>
                <a:latin typeface="Aptos" pitchFamily="34" charset="0"/>
                <a:ea typeface="Aptos" pitchFamily="34" charset="-122"/>
                <a:cs typeface="Aptos" pitchFamily="34" charset="-120"/>
              </a:rPr>
              <a:t>Anas Khan</a:t>
            </a:r>
            <a:endParaRPr lang="en-US" sz="1800" dirty="0"/>
          </a:p>
        </p:txBody>
      </p:sp>
      <p:sp>
        <p:nvSpPr>
          <p:cNvPr id="11" name="Text 7"/>
          <p:cNvSpPr/>
          <p:nvPr/>
        </p:nvSpPr>
        <p:spPr>
          <a:xfrm>
            <a:off x="768096" y="5577840"/>
            <a:ext cx="5943600" cy="256032"/>
          </a:xfrm>
          <a:prstGeom prst="rect">
            <a:avLst/>
          </a:prstGeom>
          <a:noFill/>
          <a:ln/>
        </p:spPr>
        <p:txBody>
          <a:bodyPr wrap="square" lIns="0" tIns="0" rIns="0" bIns="0" rtlCol="0" anchor="ctr">
            <a:normAutofit/>
          </a:bodyPr>
          <a:lstStyle/>
          <a:p>
            <a:pPr algn="l" indent="0" marL="0">
              <a:buNone/>
            </a:pPr>
            <a:r>
              <a:rPr lang="en-US" sz="1500" dirty="0">
                <a:solidFill>
                  <a:srgbClr val="5C5765"/>
                </a:solidFill>
                <a:latin typeface="Aptos" pitchFamily="34" charset="0"/>
                <a:ea typeface="Aptos" pitchFamily="34" charset="-122"/>
                <a:cs typeface="Aptos" pitchFamily="34" charset="-120"/>
              </a:rPr>
              <a:t>Software Engineer, Microsoft · Independent Omnigent contributor</a:t>
            </a:r>
            <a:endParaRPr lang="en-US" sz="1500" dirty="0"/>
          </a:p>
        </p:txBody>
      </p:sp>
      <p:sp>
        <p:nvSpPr>
          <p:cNvPr id="12" name="Text 8"/>
          <p:cNvSpPr/>
          <p:nvPr/>
        </p:nvSpPr>
        <p:spPr>
          <a:xfrm>
            <a:off x="9738360" y="5907024"/>
            <a:ext cx="1645920" cy="256032"/>
          </a:xfrm>
          <a:prstGeom prst="rect">
            <a:avLst/>
          </a:prstGeom>
          <a:noFill/>
          <a:ln/>
        </p:spPr>
        <p:txBody>
          <a:bodyPr wrap="square" lIns="0" tIns="0" rIns="0" bIns="0" rtlCol="0" anchor="ctr">
            <a:normAutofit/>
          </a:bodyPr>
          <a:lstStyle/>
          <a:p>
            <a:pPr algn="r" indent="0" marL="0">
              <a:buNone/>
            </a:pPr>
            <a:r>
              <a:rPr lang="en-US" sz="1300" dirty="0">
                <a:solidFill>
                  <a:srgbClr val="AD0C72"/>
                </a:solidFill>
                <a:latin typeface="Aptos Mono" pitchFamily="34" charset="0"/>
                <a:ea typeface="Aptos Mono" pitchFamily="34" charset="-122"/>
                <a:cs typeface="Aptos Mono" pitchFamily="34" charset="-120"/>
              </a:rPr>
              <a:t>25 min + Q&amp;A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56032"/>
            <a:ext cx="411480" cy="201168"/>
          </a:xfrm>
          <a:prstGeom prst="rect">
            <a:avLst/>
          </a:prstGeom>
          <a:noFill/>
          <a:ln/>
        </p:spPr>
        <p:txBody>
          <a:bodyPr wrap="square" lIns="0" tIns="0" rIns="0" bIns="0" rtlCol="0" anchor="ctr">
            <a:normAutofit/>
          </a:bodyPr>
          <a:lstStyle/>
          <a:p>
            <a:pPr algn="l" indent="0" marL="0">
              <a:buNone/>
            </a:pPr>
            <a:r>
              <a:rPr lang="en-US" sz="1100" b="1" dirty="0">
                <a:solidFill>
                  <a:srgbClr val="AD0C72"/>
                </a:solidFill>
                <a:latin typeface="Aptos Mono" pitchFamily="34" charset="0"/>
                <a:ea typeface="Aptos Mono" pitchFamily="34" charset="-122"/>
                <a:cs typeface="Aptos Mono" pitchFamily="34" charset="-120"/>
              </a:rPr>
              <a:t>02</a:t>
            </a:r>
            <a:endParaRPr lang="en-US" sz="1100" dirty="0"/>
          </a:p>
        </p:txBody>
      </p:sp>
      <p:sp>
        <p:nvSpPr>
          <p:cNvPr id="3" name="Text 1"/>
          <p:cNvSpPr/>
          <p:nvPr/>
        </p:nvSpPr>
        <p:spPr>
          <a:xfrm>
            <a:off x="8961120" y="256032"/>
            <a:ext cx="2606040" cy="201168"/>
          </a:xfrm>
          <a:prstGeom prst="rect">
            <a:avLst/>
          </a:prstGeom>
          <a:noFill/>
          <a:ln/>
        </p:spPr>
        <p:txBody>
          <a:bodyPr wrap="square" lIns="0" tIns="0" rIns="0" bIns="0" rtlCol="0" anchor="ctr">
            <a:normAutofit/>
          </a:bodyPr>
          <a:lstStyle/>
          <a:p>
            <a:pPr algn="r" indent="0" marL="0">
              <a:buNone/>
            </a:pPr>
            <a:r>
              <a:rPr lang="en-US" sz="1000" b="1" dirty="0">
                <a:solidFill>
                  <a:srgbClr val="5C5765"/>
                </a:solidFill>
                <a:latin typeface="Aptos" pitchFamily="34" charset="0"/>
                <a:ea typeface="Aptos" pitchFamily="34" charset="-122"/>
                <a:cs typeface="Aptos" pitchFamily="34" charset="-120"/>
              </a:rPr>
              <a:t>Speaker</a:t>
            </a:r>
            <a:endParaRPr lang="en-US" sz="1000" dirty="0"/>
          </a:p>
        </p:txBody>
      </p:sp>
      <p:sp>
        <p:nvSpPr>
          <p:cNvPr id="4" name="Shape 2"/>
          <p:cNvSpPr/>
          <p:nvPr/>
        </p:nvSpPr>
        <p:spPr>
          <a:xfrm>
            <a:off x="566928" y="566928"/>
            <a:ext cx="11045952" cy="0"/>
          </a:xfrm>
          <a:prstGeom prst="line">
            <a:avLst/>
          </a:prstGeom>
          <a:noFill/>
          <a:ln w="12700">
            <a:solidFill>
              <a:srgbClr val="ECE8EE"/>
            </a:solidFill>
            <a:prstDash val="solid"/>
          </a:ln>
        </p:spPr>
      </p:sp>
      <p:sp>
        <p:nvSpPr>
          <p:cNvPr id="5" name="Text 3"/>
          <p:cNvSpPr/>
          <p:nvPr/>
        </p:nvSpPr>
        <p:spPr>
          <a:xfrm>
            <a:off x="658368" y="786384"/>
            <a:ext cx="10881360" cy="566928"/>
          </a:xfrm>
          <a:prstGeom prst="rect">
            <a:avLst/>
          </a:prstGeom>
          <a:noFill/>
          <a:ln/>
        </p:spPr>
        <p:txBody>
          <a:bodyPr wrap="square" lIns="0" tIns="0" rIns="0" bIns="0" rtlCol="0" anchor="ctr">
            <a:normAutofit/>
          </a:bodyPr>
          <a:lstStyle/>
          <a:p>
            <a:pPr algn="l" indent="0" marL="0">
              <a:buNone/>
            </a:pPr>
            <a:r>
              <a:rPr lang="en-US" sz="3100" b="1" dirty="0">
                <a:solidFill>
                  <a:srgbClr val="15131A"/>
                </a:solidFill>
                <a:latin typeface="Aptos Display" pitchFamily="34" charset="0"/>
                <a:ea typeface="Aptos Display" pitchFamily="34" charset="-122"/>
                <a:cs typeface="Aptos Display" pitchFamily="34" charset="-120"/>
              </a:rPr>
              <a:t>About Anas</a:t>
            </a:r>
            <a:endParaRPr lang="en-US" sz="3100" dirty="0"/>
          </a:p>
        </p:txBody>
      </p:sp>
      <p:sp>
        <p:nvSpPr>
          <p:cNvPr id="6" name="Text 4"/>
          <p:cNvSpPr/>
          <p:nvPr/>
        </p:nvSpPr>
        <p:spPr>
          <a:xfrm>
            <a:off x="658368" y="6400800"/>
            <a:ext cx="10469880" cy="219456"/>
          </a:xfrm>
          <a:prstGeom prst="rect">
            <a:avLst/>
          </a:prstGeom>
          <a:noFill/>
          <a:ln/>
        </p:spPr>
        <p:txBody>
          <a:bodyPr wrap="square" lIns="0" tIns="0" rIns="0" bIns="0" rtlCol="0" anchor="ctr">
            <a:normAutofit/>
          </a:bodyPr>
          <a:lstStyle/>
          <a:p>
            <a:pPr algn="l" indent="0" marL="0">
              <a:buNone/>
            </a:pPr>
            <a:r>
              <a:rPr lang="en-US" sz="1450" b="1" dirty="0">
                <a:solidFill>
                  <a:srgbClr val="AD0C72"/>
                </a:solidFill>
                <a:latin typeface="Aptos" pitchFamily="34" charset="0"/>
                <a:ea typeface="Aptos" pitchFamily="34" charset="-122"/>
                <a:cs typeface="Aptos" pitchFamily="34" charset="-120"/>
              </a:rPr>
              <a:t>@anxkhn</a:t>
            </a:r>
            <a:pPr algn="l" indent="0" marL="0">
              <a:buNone/>
            </a:pPr>
            <a:r>
              <a:rPr lang="en-US" sz="1450" b="1" dirty="0">
                <a:solidFill>
                  <a:srgbClr val="5C5765"/>
                </a:solidFill>
                <a:latin typeface="Aptos" pitchFamily="34" charset="0"/>
                <a:ea typeface="Aptos" pitchFamily="34" charset="-122"/>
                <a:cs typeface="Aptos" pitchFamily="34" charset="-120"/>
              </a:rPr>
              <a:t>  ·  #DevDays  ·  #DevDaysMumbai  ·  #mumtechup</a:t>
            </a:r>
            <a:endParaRPr lang="en-US" sz="1450" dirty="0"/>
          </a:p>
        </p:txBody>
      </p:sp>
      <p:sp>
        <p:nvSpPr>
          <p:cNvPr id="7" name="Text 5"/>
          <p:cNvSpPr/>
          <p:nvPr/>
        </p:nvSpPr>
        <p:spPr>
          <a:xfrm>
            <a:off x="11064240" y="6419088"/>
            <a:ext cx="438912" cy="182880"/>
          </a:xfrm>
          <a:prstGeom prst="rect">
            <a:avLst/>
          </a:prstGeom>
          <a:noFill/>
          <a:ln/>
        </p:spPr>
        <p:txBody>
          <a:bodyPr wrap="square" lIns="0" tIns="0" rIns="0" bIns="0" rtlCol="0" anchor="ctr">
            <a:normAutofit/>
          </a:bodyPr>
          <a:lstStyle/>
          <a:p>
            <a:pPr algn="r" indent="0" marL="0">
              <a:buNone/>
            </a:pPr>
            <a:r>
              <a:rPr lang="en-US" sz="1200" b="1" dirty="0">
                <a:solidFill>
                  <a:srgbClr val="5C5765"/>
                </a:solidFill>
                <a:latin typeface="Aptos Mono" pitchFamily="34" charset="0"/>
                <a:ea typeface="Aptos Mono" pitchFamily="34" charset="-122"/>
                <a:cs typeface="Aptos Mono" pitchFamily="34" charset="-120"/>
              </a:rPr>
              <a:t>2</a:t>
            </a:r>
            <a:endParaRPr lang="en-US" sz="1200" dirty="0"/>
          </a:p>
        </p:txBody>
      </p:sp>
      <p:pic>
        <p:nvPicPr>
          <p:cNvPr id="9" name="Image 0" descr="Anas Khan speaking at a technology event">    </p:cNvPr>
          <p:cNvPicPr>
            <a:picLocks noChangeAspect="1"/>
          </p:cNvPicPr>
          <p:nvPr/>
        </p:nvPicPr>
        <p:blipFill>
          <a:blip r:embed="rId1"/>
          <a:stretch>
            <a:fillRect/>
          </a:stretch>
        </p:blipFill>
        <p:spPr>
          <a:xfrm>
            <a:off x="749808" y="1572768"/>
            <a:ext cx="2514600" cy="3383280"/>
          </a:xfrm>
          <a:prstGeom prst="rect">
            <a:avLst/>
          </a:prstGeom>
        </p:spPr>
      </p:pic>
      <p:sp>
        <p:nvSpPr>
          <p:cNvPr id="10" name="Text 6"/>
          <p:cNvSpPr/>
          <p:nvPr/>
        </p:nvSpPr>
        <p:spPr>
          <a:xfrm>
            <a:off x="3547872" y="1993392"/>
            <a:ext cx="1417320" cy="320040"/>
          </a:xfrm>
          <a:prstGeom prst="rect">
            <a:avLst/>
          </a:prstGeom>
          <a:noFill/>
          <a:ln/>
        </p:spPr>
        <p:txBody>
          <a:bodyPr wrap="square" lIns="0" tIns="0" rIns="0" bIns="0" rtlCol="0" anchor="ctr">
            <a:normAutofit/>
          </a:bodyPr>
          <a:lstStyle/>
          <a:p>
            <a:pPr algn="l" indent="0" marL="0">
              <a:buNone/>
            </a:pPr>
            <a:r>
              <a:rPr lang="en-US" sz="1700" b="1" dirty="0">
                <a:solidFill>
                  <a:srgbClr val="AD0C72"/>
                </a:solidFill>
                <a:latin typeface="Aptos Mono" pitchFamily="34" charset="0"/>
                <a:ea typeface="Aptos Mono" pitchFamily="34" charset="-122"/>
                <a:cs typeface="Aptos Mono" pitchFamily="34" charset="-120"/>
              </a:rPr>
              <a:t>ANAS KHAN</a:t>
            </a:r>
            <a:endParaRPr lang="en-US" sz="1700" dirty="0"/>
          </a:p>
        </p:txBody>
      </p:sp>
      <p:sp>
        <p:nvSpPr>
          <p:cNvPr id="11" name="Text 7"/>
          <p:cNvSpPr/>
          <p:nvPr/>
        </p:nvSpPr>
        <p:spPr>
          <a:xfrm>
            <a:off x="3547872" y="2450592"/>
            <a:ext cx="1481328" cy="1691640"/>
          </a:xfrm>
          <a:prstGeom prst="rect">
            <a:avLst/>
          </a:prstGeom>
          <a:noFill/>
          <a:ln/>
        </p:spPr>
        <p:txBody>
          <a:bodyPr wrap="square" lIns="0" tIns="0" rIns="0" bIns="0" rtlCol="0" anchor="ctr">
            <a:normAutofit/>
          </a:bodyPr>
          <a:lstStyle/>
          <a:p>
            <a:pPr algn="l" indent="0" marL="0">
              <a:buNone/>
            </a:pPr>
            <a:r>
              <a:rPr lang="en-US" sz="2800" b="1" dirty="0">
                <a:solidFill>
                  <a:srgbClr val="15131A"/>
                </a:solidFill>
                <a:latin typeface="Aptos Display" pitchFamily="34" charset="0"/>
                <a:ea typeface="Aptos Display" pitchFamily="34" charset="-122"/>
                <a:cs typeface="Aptos Display" pitchFamily="34" charset="-120"/>
              </a:rPr>
              <a:t>Backend</a:t>
            </a:r>
            <a:endParaRPr lang="en-US" sz="2800" dirty="0"/>
          </a:p>
          <a:p>
            <a:pPr algn="l" indent="0" marL="0">
              <a:buNone/>
            </a:pPr>
            <a:r>
              <a:rPr lang="en-US" sz="2800" b="1" dirty="0">
                <a:solidFill>
                  <a:srgbClr val="15131A"/>
                </a:solidFill>
                <a:latin typeface="Aptos Display" pitchFamily="34" charset="0"/>
                <a:ea typeface="Aptos Display" pitchFamily="34" charset="-122"/>
                <a:cs typeface="Aptos Display" pitchFamily="34" charset="-120"/>
              </a:rPr>
              <a:t>systems and</a:t>
            </a:r>
            <a:endParaRPr lang="en-US" sz="2800" dirty="0"/>
          </a:p>
          <a:p>
            <a:pPr algn="l" indent="0" marL="0">
              <a:buNone/>
            </a:pPr>
            <a:r>
              <a:rPr lang="en-US" sz="2800" b="1" dirty="0">
                <a:solidFill>
                  <a:srgbClr val="15131A"/>
                </a:solidFill>
                <a:latin typeface="Aptos Display" pitchFamily="34" charset="0"/>
                <a:ea typeface="Aptos Display" pitchFamily="34" charset="-122"/>
                <a:cs typeface="Aptos Display" pitchFamily="34" charset="-120"/>
              </a:rPr>
              <a:t>applied AI</a:t>
            </a:r>
            <a:endParaRPr lang="en-US" sz="2800" dirty="0"/>
          </a:p>
        </p:txBody>
      </p:sp>
      <p:sp>
        <p:nvSpPr>
          <p:cNvPr id="12" name="Shape 8"/>
          <p:cNvSpPr/>
          <p:nvPr/>
        </p:nvSpPr>
        <p:spPr>
          <a:xfrm>
            <a:off x="5166360" y="1645920"/>
            <a:ext cx="5486400" cy="603504"/>
          </a:xfrm>
          <a:prstGeom prst="rect">
            <a:avLst/>
          </a:prstGeom>
          <a:solidFill>
            <a:srgbClr val="F6F3F7"/>
          </a:solidFill>
          <a:ln w="12700">
            <a:solidFill>
              <a:srgbClr val="F6F3F7"/>
            </a:solidFill>
            <a:prstDash val="solid"/>
          </a:ln>
        </p:spPr>
      </p:sp>
      <p:sp>
        <p:nvSpPr>
          <p:cNvPr id="13" name="Text 9"/>
          <p:cNvSpPr/>
          <p:nvPr/>
        </p:nvSpPr>
        <p:spPr>
          <a:xfrm>
            <a:off x="5394960" y="1773936"/>
            <a:ext cx="5029200" cy="310896"/>
          </a:xfrm>
          <a:prstGeom prst="rect">
            <a:avLst/>
          </a:prstGeom>
          <a:noFill/>
          <a:ln/>
        </p:spPr>
        <p:txBody>
          <a:bodyPr wrap="square" lIns="0" tIns="0" rIns="0" bIns="0" rtlCol="0" anchor="ctr">
            <a:normAutofit/>
          </a:bodyPr>
          <a:lstStyle/>
          <a:p>
            <a:pPr algn="l" indent="0" marL="0">
              <a:buNone/>
            </a:pPr>
            <a:r>
              <a:rPr lang="en-US" sz="2400" dirty="0">
                <a:solidFill>
                  <a:srgbClr val="15131A"/>
                </a:solidFill>
                <a:latin typeface="Aptos" pitchFamily="34" charset="0"/>
                <a:ea typeface="Aptos" pitchFamily="34" charset="-122"/>
                <a:cs typeface="Aptos" pitchFamily="34" charset="-120"/>
              </a:rPr>
              <a:t>Software Engineer at Microsoft</a:t>
            </a:r>
            <a:endParaRPr lang="en-US" sz="2400" dirty="0"/>
          </a:p>
        </p:txBody>
      </p:sp>
      <p:sp>
        <p:nvSpPr>
          <p:cNvPr id="14" name="Shape 10"/>
          <p:cNvSpPr/>
          <p:nvPr/>
        </p:nvSpPr>
        <p:spPr>
          <a:xfrm>
            <a:off x="5166360" y="2414016"/>
            <a:ext cx="5486400" cy="603504"/>
          </a:xfrm>
          <a:prstGeom prst="rect">
            <a:avLst/>
          </a:prstGeom>
          <a:solidFill>
            <a:srgbClr val="F6F3F7"/>
          </a:solidFill>
          <a:ln w="12700">
            <a:solidFill>
              <a:srgbClr val="F6F3F7"/>
            </a:solidFill>
            <a:prstDash val="solid"/>
          </a:ln>
        </p:spPr>
      </p:sp>
      <p:sp>
        <p:nvSpPr>
          <p:cNvPr id="15" name="Text 11"/>
          <p:cNvSpPr/>
          <p:nvPr/>
        </p:nvSpPr>
        <p:spPr>
          <a:xfrm>
            <a:off x="5394960" y="2542032"/>
            <a:ext cx="5029200" cy="310896"/>
          </a:xfrm>
          <a:prstGeom prst="rect">
            <a:avLst/>
          </a:prstGeom>
          <a:noFill/>
          <a:ln/>
        </p:spPr>
        <p:txBody>
          <a:bodyPr wrap="square" lIns="0" tIns="0" rIns="0" bIns="0" rtlCol="0" anchor="ctr">
            <a:normAutofit/>
          </a:bodyPr>
          <a:lstStyle/>
          <a:p>
            <a:pPr algn="l" indent="0" marL="0">
              <a:buNone/>
            </a:pPr>
            <a:r>
              <a:rPr lang="en-US" sz="2400" dirty="0">
                <a:solidFill>
                  <a:srgbClr val="15131A"/>
                </a:solidFill>
                <a:latin typeface="Aptos" pitchFamily="34" charset="0"/>
                <a:ea typeface="Aptos" pitchFamily="34" charset="-122"/>
                <a:cs typeface="Aptos" pitchFamily="34" charset="-120"/>
              </a:rPr>
              <a:t>Google DeepMind GSoC contributor</a:t>
            </a:r>
            <a:endParaRPr lang="en-US" sz="2400" dirty="0"/>
          </a:p>
        </p:txBody>
      </p:sp>
      <p:sp>
        <p:nvSpPr>
          <p:cNvPr id="16" name="Shape 12"/>
          <p:cNvSpPr/>
          <p:nvPr/>
        </p:nvSpPr>
        <p:spPr>
          <a:xfrm>
            <a:off x="5166360" y="3182112"/>
            <a:ext cx="5486400" cy="603504"/>
          </a:xfrm>
          <a:prstGeom prst="rect">
            <a:avLst/>
          </a:prstGeom>
          <a:solidFill>
            <a:srgbClr val="FCE6F4"/>
          </a:solidFill>
          <a:ln w="12700">
            <a:solidFill>
              <a:srgbClr val="FCE6F4"/>
            </a:solidFill>
            <a:prstDash val="solid"/>
          </a:ln>
        </p:spPr>
      </p:sp>
      <p:sp>
        <p:nvSpPr>
          <p:cNvPr id="17" name="Text 13"/>
          <p:cNvSpPr/>
          <p:nvPr/>
        </p:nvSpPr>
        <p:spPr>
          <a:xfrm>
            <a:off x="5394960" y="3310128"/>
            <a:ext cx="5029200" cy="310896"/>
          </a:xfrm>
          <a:prstGeom prst="rect">
            <a:avLst/>
          </a:prstGeom>
          <a:noFill/>
          <a:ln/>
        </p:spPr>
        <p:txBody>
          <a:bodyPr wrap="square" lIns="0" tIns="0" rIns="0" bIns="0" rtlCol="0" anchor="ctr">
            <a:normAutofit/>
          </a:bodyPr>
          <a:lstStyle/>
          <a:p>
            <a:pPr algn="l" indent="0" marL="0">
              <a:buNone/>
            </a:pPr>
            <a:r>
              <a:rPr lang="en-US" sz="2400" b="1" dirty="0">
                <a:solidFill>
                  <a:srgbClr val="15131A"/>
                </a:solidFill>
                <a:latin typeface="Aptos" pitchFamily="34" charset="0"/>
                <a:ea typeface="Aptos" pitchFamily="34" charset="-122"/>
                <a:cs typeface="Aptos" pitchFamily="34" charset="-120"/>
              </a:rPr>
              <a:t>Independent Omnigent contributor</a:t>
            </a:r>
            <a:endParaRPr lang="en-US" sz="2400" dirty="0"/>
          </a:p>
        </p:txBody>
      </p:sp>
      <p:sp>
        <p:nvSpPr>
          <p:cNvPr id="18" name="Text 14"/>
          <p:cNvSpPr/>
          <p:nvPr/>
        </p:nvSpPr>
        <p:spPr>
          <a:xfrm>
            <a:off x="5193792" y="4169664"/>
            <a:ext cx="914400" cy="594360"/>
          </a:xfrm>
          <a:prstGeom prst="rect">
            <a:avLst/>
          </a:prstGeom>
          <a:noFill/>
          <a:ln/>
        </p:spPr>
        <p:txBody>
          <a:bodyPr wrap="square" lIns="0" tIns="0" rIns="0" bIns="0" rtlCol="0" anchor="ctr">
            <a:normAutofit/>
          </a:bodyPr>
          <a:lstStyle/>
          <a:p>
            <a:pPr algn="l" indent="0" marL="0">
              <a:buNone/>
            </a:pPr>
            <a:r>
              <a:rPr lang="en-US" sz="4200" b="1" dirty="0">
                <a:solidFill>
                  <a:srgbClr val="AD0C72"/>
                </a:solidFill>
                <a:latin typeface="Aptos Display" pitchFamily="34" charset="0"/>
                <a:ea typeface="Aptos Display" pitchFamily="34" charset="-122"/>
                <a:cs typeface="Aptos Display" pitchFamily="34" charset="-120"/>
              </a:rPr>
              <a:t>22</a:t>
            </a:r>
            <a:endParaRPr lang="en-US" sz="4200" dirty="0"/>
          </a:p>
        </p:txBody>
      </p:sp>
      <p:sp>
        <p:nvSpPr>
          <p:cNvPr id="19" name="Text 15"/>
          <p:cNvSpPr/>
          <p:nvPr/>
        </p:nvSpPr>
        <p:spPr>
          <a:xfrm>
            <a:off x="6108192" y="4361688"/>
            <a:ext cx="1508760" cy="292608"/>
          </a:xfrm>
          <a:prstGeom prst="rect">
            <a:avLst/>
          </a:prstGeom>
          <a:noFill/>
          <a:ln/>
        </p:spPr>
        <p:txBody>
          <a:bodyPr wrap="square" lIns="0" tIns="0" rIns="0" bIns="0" rtlCol="0" anchor="ctr">
            <a:normAutofit/>
          </a:bodyPr>
          <a:lstStyle/>
          <a:p>
            <a:pPr algn="l" indent="0" marL="0">
              <a:buNone/>
            </a:pPr>
            <a:r>
              <a:rPr lang="en-US" sz="2100" b="1" dirty="0">
                <a:solidFill>
                  <a:srgbClr val="15131A"/>
                </a:solidFill>
                <a:latin typeface="Aptos" pitchFamily="34" charset="0"/>
                <a:ea typeface="Aptos" pitchFamily="34" charset="-122"/>
                <a:cs typeface="Aptos" pitchFamily="34" charset="-120"/>
              </a:rPr>
              <a:t>merged PRs</a:t>
            </a:r>
            <a:endParaRPr lang="en-US" sz="2100" dirty="0"/>
          </a:p>
        </p:txBody>
      </p:sp>
      <p:sp>
        <p:nvSpPr>
          <p:cNvPr id="20" name="Text 16"/>
          <p:cNvSpPr/>
          <p:nvPr/>
        </p:nvSpPr>
        <p:spPr>
          <a:xfrm>
            <a:off x="7818120" y="4169664"/>
            <a:ext cx="566928" cy="594360"/>
          </a:xfrm>
          <a:prstGeom prst="rect">
            <a:avLst/>
          </a:prstGeom>
          <a:noFill/>
          <a:ln/>
        </p:spPr>
        <p:txBody>
          <a:bodyPr wrap="square" lIns="0" tIns="0" rIns="0" bIns="0" rtlCol="0" anchor="ctr">
            <a:normAutofit/>
          </a:bodyPr>
          <a:lstStyle/>
          <a:p>
            <a:pPr algn="l" indent="0" marL="0">
              <a:buNone/>
            </a:pPr>
            <a:r>
              <a:rPr lang="en-US" sz="4200" b="1" dirty="0">
                <a:solidFill>
                  <a:srgbClr val="267D63"/>
                </a:solidFill>
                <a:latin typeface="Aptos Display" pitchFamily="34" charset="0"/>
                <a:ea typeface="Aptos Display" pitchFamily="34" charset="-122"/>
                <a:cs typeface="Aptos Display" pitchFamily="34" charset="-120"/>
              </a:rPr>
              <a:t>6</a:t>
            </a:r>
            <a:endParaRPr lang="en-US" sz="4200" dirty="0"/>
          </a:p>
        </p:txBody>
      </p:sp>
      <p:sp>
        <p:nvSpPr>
          <p:cNvPr id="21" name="Text 17"/>
          <p:cNvSpPr/>
          <p:nvPr/>
        </p:nvSpPr>
        <p:spPr>
          <a:xfrm>
            <a:off x="8394192" y="4297680"/>
            <a:ext cx="2468880" cy="420624"/>
          </a:xfrm>
          <a:prstGeom prst="rect">
            <a:avLst/>
          </a:prstGeom>
          <a:noFill/>
          <a:ln/>
        </p:spPr>
        <p:txBody>
          <a:bodyPr wrap="square" lIns="0" tIns="0" rIns="0" bIns="0" rtlCol="0" anchor="ctr">
            <a:normAutofit/>
          </a:bodyPr>
          <a:lstStyle/>
          <a:p>
            <a:pPr algn="l" indent="0" marL="0">
              <a:buNone/>
            </a:pPr>
            <a:r>
              <a:rPr lang="en-US" sz="2100" b="1" dirty="0">
                <a:solidFill>
                  <a:srgbClr val="15131A"/>
                </a:solidFill>
                <a:latin typeface="Aptos" pitchFamily="34" charset="0"/>
                <a:ea typeface="Aptos" pitchFamily="34" charset="-122"/>
                <a:cs typeface="Aptos" pitchFamily="34" charset="-120"/>
              </a:rPr>
              <a:t>on the Copilot SDK harness</a:t>
            </a:r>
            <a:endParaRPr lang="en-US" sz="2100" dirty="0"/>
          </a:p>
        </p:txBody>
      </p:sp>
      <p:sp>
        <p:nvSpPr>
          <p:cNvPr id="22" name="Text 18"/>
          <p:cNvSpPr/>
          <p:nvPr/>
        </p:nvSpPr>
        <p:spPr>
          <a:xfrm>
            <a:off x="5193792" y="5157216"/>
            <a:ext cx="5394960" cy="292608"/>
          </a:xfrm>
          <a:prstGeom prst="rect">
            <a:avLst/>
          </a:prstGeom>
          <a:noFill/>
          <a:ln/>
        </p:spPr>
        <p:txBody>
          <a:bodyPr wrap="square" lIns="0" tIns="0" rIns="0" bIns="0" rtlCol="0" anchor="ctr">
            <a:normAutofit/>
          </a:bodyPr>
          <a:lstStyle/>
          <a:p>
            <a:pPr algn="l" indent="0" marL="0">
              <a:buNone/>
            </a:pPr>
            <a:r>
              <a:rPr lang="en-US" sz="1700" dirty="0">
                <a:solidFill>
                  <a:srgbClr val="5C5765"/>
                </a:solidFill>
                <a:latin typeface="Aptos" pitchFamily="34" charset="0"/>
                <a:ea typeface="Aptos" pitchFamily="34" charset="-122"/>
                <a:cs typeface="Aptos" pitchFamily="34" charset="-120"/>
              </a:rPr>
              <a:t>Views are personal. No corporate endorsement implied.</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56032"/>
            <a:ext cx="411480" cy="201168"/>
          </a:xfrm>
          <a:prstGeom prst="rect">
            <a:avLst/>
          </a:prstGeom>
          <a:noFill/>
          <a:ln/>
        </p:spPr>
        <p:txBody>
          <a:bodyPr wrap="square" lIns="0" tIns="0" rIns="0" bIns="0" rtlCol="0" anchor="ctr">
            <a:normAutofit/>
          </a:bodyPr>
          <a:lstStyle/>
          <a:p>
            <a:pPr algn="l" indent="0" marL="0">
              <a:buNone/>
            </a:pPr>
            <a:r>
              <a:rPr lang="en-US" sz="1100" b="1" dirty="0">
                <a:solidFill>
                  <a:srgbClr val="AD0C72"/>
                </a:solidFill>
                <a:latin typeface="Aptos Mono" pitchFamily="34" charset="0"/>
                <a:ea typeface="Aptos Mono" pitchFamily="34" charset="-122"/>
                <a:cs typeface="Aptos Mono" pitchFamily="34" charset="-120"/>
              </a:rPr>
              <a:t>03</a:t>
            </a:r>
            <a:endParaRPr lang="en-US" sz="1100" dirty="0"/>
          </a:p>
        </p:txBody>
      </p:sp>
      <p:sp>
        <p:nvSpPr>
          <p:cNvPr id="3" name="Text 1"/>
          <p:cNvSpPr/>
          <p:nvPr/>
        </p:nvSpPr>
        <p:spPr>
          <a:xfrm>
            <a:off x="8961120" y="256032"/>
            <a:ext cx="2606040" cy="201168"/>
          </a:xfrm>
          <a:prstGeom prst="rect">
            <a:avLst/>
          </a:prstGeom>
          <a:noFill/>
          <a:ln/>
        </p:spPr>
        <p:txBody>
          <a:bodyPr wrap="square" lIns="0" tIns="0" rIns="0" bIns="0" rtlCol="0" anchor="ctr">
            <a:normAutofit/>
          </a:bodyPr>
          <a:lstStyle/>
          <a:p>
            <a:pPr algn="r" indent="0" marL="0">
              <a:buNone/>
            </a:pPr>
            <a:r>
              <a:rPr lang="en-US" sz="1000" b="1" dirty="0">
                <a:solidFill>
                  <a:srgbClr val="5C5765"/>
                </a:solidFill>
                <a:latin typeface="Aptos" pitchFamily="34" charset="0"/>
                <a:ea typeface="Aptos" pitchFamily="34" charset="-122"/>
                <a:cs typeface="Aptos" pitchFamily="34" charset="-120"/>
              </a:rPr>
              <a:t>The economic context</a:t>
            </a:r>
            <a:endParaRPr lang="en-US" sz="1000" dirty="0"/>
          </a:p>
        </p:txBody>
      </p:sp>
      <p:sp>
        <p:nvSpPr>
          <p:cNvPr id="4" name="Shape 2"/>
          <p:cNvSpPr/>
          <p:nvPr/>
        </p:nvSpPr>
        <p:spPr>
          <a:xfrm>
            <a:off x="566928" y="566928"/>
            <a:ext cx="11045952" cy="0"/>
          </a:xfrm>
          <a:prstGeom prst="line">
            <a:avLst/>
          </a:prstGeom>
          <a:noFill/>
          <a:ln w="12700">
            <a:solidFill>
              <a:srgbClr val="ECE8EE"/>
            </a:solidFill>
            <a:prstDash val="solid"/>
          </a:ln>
        </p:spPr>
      </p:sp>
      <p:sp>
        <p:nvSpPr>
          <p:cNvPr id="5" name="Text 3"/>
          <p:cNvSpPr/>
          <p:nvPr/>
        </p:nvSpPr>
        <p:spPr>
          <a:xfrm>
            <a:off x="658368" y="786384"/>
            <a:ext cx="10881360" cy="566928"/>
          </a:xfrm>
          <a:prstGeom prst="rect">
            <a:avLst/>
          </a:prstGeom>
          <a:noFill/>
          <a:ln/>
        </p:spPr>
        <p:txBody>
          <a:bodyPr wrap="square" lIns="0" tIns="0" rIns="0" bIns="0" rtlCol="0" anchor="ctr">
            <a:normAutofit/>
          </a:bodyPr>
          <a:lstStyle/>
          <a:p>
            <a:pPr algn="l" indent="0" marL="0">
              <a:buNone/>
            </a:pPr>
            <a:r>
              <a:rPr lang="en-US" sz="3100" b="1" dirty="0">
                <a:solidFill>
                  <a:srgbClr val="15131A"/>
                </a:solidFill>
                <a:latin typeface="Aptos Display" pitchFamily="34" charset="0"/>
                <a:ea typeface="Aptos Display" pitchFamily="34" charset="-122"/>
                <a:cs typeface="Aptos Display" pitchFamily="34" charset="-120"/>
              </a:rPr>
              <a:t>Why developers juggle tools</a:t>
            </a:r>
            <a:endParaRPr lang="en-US" sz="3100" dirty="0"/>
          </a:p>
        </p:txBody>
      </p:sp>
      <p:sp>
        <p:nvSpPr>
          <p:cNvPr id="6" name="Text 4"/>
          <p:cNvSpPr/>
          <p:nvPr/>
        </p:nvSpPr>
        <p:spPr>
          <a:xfrm>
            <a:off x="658368" y="6400800"/>
            <a:ext cx="10469880" cy="219456"/>
          </a:xfrm>
          <a:prstGeom prst="rect">
            <a:avLst/>
          </a:prstGeom>
          <a:noFill/>
          <a:ln/>
        </p:spPr>
        <p:txBody>
          <a:bodyPr wrap="square" lIns="0" tIns="0" rIns="0" bIns="0" rtlCol="0" anchor="ctr">
            <a:normAutofit/>
          </a:bodyPr>
          <a:lstStyle/>
          <a:p>
            <a:pPr algn="l" indent="0" marL="0">
              <a:buNone/>
            </a:pPr>
            <a:r>
              <a:rPr lang="en-US" sz="1450" b="1" dirty="0">
                <a:solidFill>
                  <a:srgbClr val="AD0C72"/>
                </a:solidFill>
                <a:latin typeface="Aptos" pitchFamily="34" charset="0"/>
                <a:ea typeface="Aptos" pitchFamily="34" charset="-122"/>
                <a:cs typeface="Aptos" pitchFamily="34" charset="-120"/>
              </a:rPr>
              <a:t>@anxkhn</a:t>
            </a:r>
            <a:pPr algn="l" indent="0" marL="0">
              <a:buNone/>
            </a:pPr>
            <a:r>
              <a:rPr lang="en-US" sz="1450" b="1" dirty="0">
                <a:solidFill>
                  <a:srgbClr val="5C5765"/>
                </a:solidFill>
                <a:latin typeface="Aptos" pitchFamily="34" charset="0"/>
                <a:ea typeface="Aptos" pitchFamily="34" charset="-122"/>
                <a:cs typeface="Aptos" pitchFamily="34" charset="-120"/>
              </a:rPr>
              <a:t>  ·  #DevDays  ·  #DevDaysMumbai  ·  #mumtechup</a:t>
            </a:r>
            <a:endParaRPr lang="en-US" sz="1450" dirty="0"/>
          </a:p>
        </p:txBody>
      </p:sp>
      <p:sp>
        <p:nvSpPr>
          <p:cNvPr id="7" name="Text 5"/>
          <p:cNvSpPr/>
          <p:nvPr/>
        </p:nvSpPr>
        <p:spPr>
          <a:xfrm>
            <a:off x="11064240" y="6419088"/>
            <a:ext cx="438912" cy="182880"/>
          </a:xfrm>
          <a:prstGeom prst="rect">
            <a:avLst/>
          </a:prstGeom>
          <a:noFill/>
          <a:ln/>
        </p:spPr>
        <p:txBody>
          <a:bodyPr wrap="square" lIns="0" tIns="0" rIns="0" bIns="0" rtlCol="0" anchor="ctr">
            <a:normAutofit/>
          </a:bodyPr>
          <a:lstStyle/>
          <a:p>
            <a:pPr algn="r" indent="0" marL="0">
              <a:buNone/>
            </a:pPr>
            <a:r>
              <a:rPr lang="en-US" sz="1200" b="1" dirty="0">
                <a:solidFill>
                  <a:srgbClr val="5C5765"/>
                </a:solidFill>
                <a:latin typeface="Aptos Mono" pitchFamily="34" charset="0"/>
                <a:ea typeface="Aptos Mono" pitchFamily="34" charset="-122"/>
                <a:cs typeface="Aptos Mono" pitchFamily="34" charset="-120"/>
              </a:rPr>
              <a:t>3</a:t>
            </a:r>
            <a:endParaRPr lang="en-US" sz="1200" dirty="0"/>
          </a:p>
        </p:txBody>
      </p:sp>
      <p:sp>
        <p:nvSpPr>
          <p:cNvPr id="9" name="Shape 6"/>
          <p:cNvSpPr/>
          <p:nvPr/>
        </p:nvSpPr>
        <p:spPr>
          <a:xfrm>
            <a:off x="713232" y="1645920"/>
            <a:ext cx="4389120" cy="3474720"/>
          </a:xfrm>
          <a:prstGeom prst="rect">
            <a:avLst/>
          </a:prstGeom>
          <a:solidFill>
            <a:srgbClr val="E4F7F1"/>
          </a:solidFill>
          <a:ln w="12700">
            <a:solidFill>
              <a:srgbClr val="E4F7F1"/>
            </a:solidFill>
            <a:prstDash val="solid"/>
          </a:ln>
        </p:spPr>
      </p:sp>
      <p:sp>
        <p:nvSpPr>
          <p:cNvPr id="10" name="Text 7"/>
          <p:cNvSpPr/>
          <p:nvPr/>
        </p:nvSpPr>
        <p:spPr>
          <a:xfrm>
            <a:off x="960120" y="1874520"/>
            <a:ext cx="3931920" cy="274320"/>
          </a:xfrm>
          <a:prstGeom prst="rect">
            <a:avLst/>
          </a:prstGeom>
          <a:noFill/>
          <a:ln/>
        </p:spPr>
        <p:txBody>
          <a:bodyPr wrap="square" lIns="0" tIns="0" rIns="0" bIns="0" rtlCol="0" anchor="ctr">
            <a:normAutofit/>
          </a:bodyPr>
          <a:lstStyle/>
          <a:p>
            <a:pPr algn="l" indent="0" marL="0">
              <a:buNone/>
            </a:pPr>
            <a:r>
              <a:rPr lang="en-US" sz="1400" b="1" dirty="0">
                <a:solidFill>
                  <a:srgbClr val="267D63"/>
                </a:solidFill>
                <a:latin typeface="Aptos Mono" pitchFamily="34" charset="0"/>
                <a:ea typeface="Aptos Mono" pitchFamily="34" charset="-122"/>
                <a:cs typeface="Aptos Mono" pitchFamily="34" charset="-120"/>
              </a:rPr>
              <a:t>SUBSIDIZED PLANS</a:t>
            </a:r>
            <a:endParaRPr lang="en-US" sz="1400" dirty="0"/>
          </a:p>
        </p:txBody>
      </p:sp>
      <p:sp>
        <p:nvSpPr>
          <p:cNvPr id="11" name="Text 8"/>
          <p:cNvSpPr/>
          <p:nvPr/>
        </p:nvSpPr>
        <p:spPr>
          <a:xfrm>
            <a:off x="960120" y="2240280"/>
            <a:ext cx="3931920" cy="548640"/>
          </a:xfrm>
          <a:prstGeom prst="rect">
            <a:avLst/>
          </a:prstGeom>
          <a:noFill/>
          <a:ln/>
        </p:spPr>
        <p:txBody>
          <a:bodyPr wrap="square" lIns="0" tIns="0" rIns="0" bIns="0" rtlCol="0" anchor="ctr">
            <a:normAutofit/>
          </a:bodyPr>
          <a:lstStyle/>
          <a:p>
            <a:pPr algn="l" indent="0" marL="0">
              <a:buNone/>
            </a:pPr>
            <a:r>
              <a:rPr lang="en-US" sz="3400" b="1" dirty="0">
                <a:solidFill>
                  <a:srgbClr val="267D63"/>
                </a:solidFill>
                <a:latin typeface="Aptos Display" pitchFamily="34" charset="0"/>
                <a:ea typeface="Aptos Display" pitchFamily="34" charset="-122"/>
                <a:cs typeface="Aptos Display" pitchFamily="34" charset="-120"/>
              </a:rPr>
              <a:t>Flat rate pricing</a:t>
            </a:r>
            <a:endParaRPr lang="en-US" sz="3400" dirty="0"/>
          </a:p>
        </p:txBody>
      </p:sp>
      <p:sp>
        <p:nvSpPr>
          <p:cNvPr id="12" name="Text 9"/>
          <p:cNvSpPr/>
          <p:nvPr/>
        </p:nvSpPr>
        <p:spPr>
          <a:xfrm>
            <a:off x="960120" y="2971800"/>
            <a:ext cx="3931920" cy="1920240"/>
          </a:xfrm>
          <a:prstGeom prst="rect">
            <a:avLst/>
          </a:prstGeom>
          <a:noFill/>
          <a:ln/>
        </p:spPr>
        <p:txBody>
          <a:bodyPr wrap="square" lIns="0" tIns="0" rIns="0" bIns="0" rtlCol="0" anchor="ctr">
            <a:normAutofit/>
          </a:bodyPr>
          <a:lstStyle/>
          <a:p>
            <a:pPr algn="l" indent="0" marL="0">
              <a:buNone/>
            </a:pPr>
            <a:r>
              <a:rPr lang="en-US" sz="1800" dirty="0">
                <a:solidFill>
                  <a:srgbClr val="15131A"/>
                </a:solidFill>
                <a:latin typeface="Aptos" pitchFamily="34" charset="0"/>
                <a:ea typeface="Aptos" pitchFamily="34" charset="-122"/>
                <a:cs typeface="Aptos" pitchFamily="34" charset="-120"/>
              </a:rPr>
              <a:t>Frontier coding subscriptions bundle</a:t>
            </a:r>
            <a:endParaRPr lang="en-US" sz="1800" dirty="0"/>
          </a:p>
          <a:p>
            <a:pPr algn="l" indent="0" marL="0">
              <a:buNone/>
            </a:pPr>
            <a:r>
              <a:rPr lang="en-US" sz="1800" dirty="0">
                <a:solidFill>
                  <a:srgbClr val="15131A"/>
                </a:solidFill>
                <a:latin typeface="Aptos" pitchFamily="34" charset="0"/>
                <a:ea typeface="Aptos" pitchFamily="34" charset="-122"/>
                <a:cs typeface="Aptos" pitchFamily="34" charset="-120"/>
              </a:rPr>
              <a:t>massive token allowances and higher</a:t>
            </a:r>
            <a:endParaRPr lang="en-US" sz="1800" dirty="0"/>
          </a:p>
          <a:p>
            <a:pPr algn="l" indent="0" marL="0">
              <a:buNone/>
            </a:pPr>
            <a:r>
              <a:rPr lang="en-US" sz="1800" dirty="0">
                <a:solidFill>
                  <a:srgbClr val="15131A"/>
                </a:solidFill>
                <a:latin typeface="Aptos" pitchFamily="34" charset="0"/>
                <a:ea typeface="Aptos" pitchFamily="34" charset="-122"/>
                <a:cs typeface="Aptos" pitchFamily="34" charset="-120"/>
              </a:rPr>
              <a:t>hourly rate limits.</a:t>
            </a:r>
            <a:endParaRPr lang="en-US" sz="1800" dirty="0"/>
          </a:p>
          <a:p>
            <a:pPr algn="l" indent="0" marL="0">
              <a:buNone/>
            </a:pPr>
            <a:endParaRPr lang="en-US" sz="1800" dirty="0"/>
          </a:p>
          <a:p>
            <a:pPr algn="l" indent="0" marL="0">
              <a:buNone/>
            </a:pPr>
            <a:r>
              <a:rPr lang="en-US" sz="1800" dirty="0">
                <a:solidFill>
                  <a:srgbClr val="15131A"/>
                </a:solidFill>
                <a:latin typeface="Aptos" pitchFamily="34" charset="0"/>
                <a:ea typeface="Aptos" pitchFamily="34" charset="-122"/>
                <a:cs typeface="Aptos" pitchFamily="34" charset="-120"/>
              </a:rPr>
              <a:t>Calling raw API endpoints per token</a:t>
            </a:r>
            <a:endParaRPr lang="en-US" sz="1800" dirty="0"/>
          </a:p>
          <a:p>
            <a:pPr algn="l" indent="0" marL="0">
              <a:buNone/>
            </a:pPr>
            <a:r>
              <a:rPr lang="en-US" sz="1800" dirty="0">
                <a:solidFill>
                  <a:srgbClr val="15131A"/>
                </a:solidFill>
                <a:latin typeface="Aptos" pitchFamily="34" charset="0"/>
                <a:ea typeface="Aptos" pitchFamily="34" charset="-122"/>
                <a:cs typeface="Aptos" pitchFamily="34" charset="-120"/>
              </a:rPr>
              <a:t>gets expensive during large tasks.</a:t>
            </a:r>
            <a:endParaRPr lang="en-US" sz="1800" dirty="0"/>
          </a:p>
        </p:txBody>
      </p:sp>
      <p:sp>
        <p:nvSpPr>
          <p:cNvPr id="13" name="Shape 10"/>
          <p:cNvSpPr/>
          <p:nvPr/>
        </p:nvSpPr>
        <p:spPr>
          <a:xfrm>
            <a:off x="5669280" y="1645920"/>
            <a:ext cx="5760720" cy="3474720"/>
          </a:xfrm>
          <a:prstGeom prst="rect">
            <a:avLst/>
          </a:prstGeom>
          <a:solidFill>
            <a:srgbClr val="FAF7F9"/>
          </a:solidFill>
          <a:ln w="12700">
            <a:solidFill>
              <a:srgbClr val="FAF7F9"/>
            </a:solidFill>
            <a:prstDash val="solid"/>
          </a:ln>
        </p:spPr>
      </p:sp>
      <p:sp>
        <p:nvSpPr>
          <p:cNvPr id="14" name="Text 11"/>
          <p:cNvSpPr/>
          <p:nvPr/>
        </p:nvSpPr>
        <p:spPr>
          <a:xfrm>
            <a:off x="5943600" y="1874520"/>
            <a:ext cx="5029200" cy="274320"/>
          </a:xfrm>
          <a:prstGeom prst="rect">
            <a:avLst/>
          </a:prstGeom>
          <a:noFill/>
          <a:ln/>
        </p:spPr>
        <p:txBody>
          <a:bodyPr wrap="square" lIns="0" tIns="0" rIns="0" bIns="0" rtlCol="0" anchor="ctr">
            <a:normAutofit/>
          </a:bodyPr>
          <a:lstStyle/>
          <a:p>
            <a:pPr algn="l" indent="0" marL="0">
              <a:buNone/>
            </a:pPr>
            <a:r>
              <a:rPr lang="en-US" sz="1400" b="1" dirty="0">
                <a:solidFill>
                  <a:srgbClr val="5C5765"/>
                </a:solidFill>
                <a:latin typeface="Aptos Mono" pitchFamily="34" charset="0"/>
                <a:ea typeface="Aptos Mono" pitchFamily="34" charset="-122"/>
                <a:cs typeface="Aptos Mono" pitchFamily="34" charset="-120"/>
              </a:rPr>
              <a:t>THE MANUAL FRICTION</a:t>
            </a:r>
            <a:endParaRPr lang="en-US" sz="1400" dirty="0"/>
          </a:p>
        </p:txBody>
      </p:sp>
      <p:sp>
        <p:nvSpPr>
          <p:cNvPr id="15" name="Text 12"/>
          <p:cNvSpPr/>
          <p:nvPr/>
        </p:nvSpPr>
        <p:spPr>
          <a:xfrm>
            <a:off x="5943600" y="2286000"/>
            <a:ext cx="411480" cy="256032"/>
          </a:xfrm>
          <a:prstGeom prst="rect">
            <a:avLst/>
          </a:prstGeom>
          <a:noFill/>
          <a:ln/>
        </p:spPr>
        <p:txBody>
          <a:bodyPr wrap="square" lIns="0" tIns="0" rIns="0" bIns="0" rtlCol="0" anchor="ctr">
            <a:normAutofit/>
          </a:bodyPr>
          <a:lstStyle/>
          <a:p>
            <a:pPr algn="l" indent="0" marL="0">
              <a:buNone/>
            </a:pPr>
            <a:r>
              <a:rPr lang="en-US" sz="1200" dirty="0">
                <a:solidFill>
                  <a:srgbClr val="AD0C72"/>
                </a:solidFill>
                <a:latin typeface="Aptos Mono" pitchFamily="34" charset="0"/>
                <a:ea typeface="Aptos Mono" pitchFamily="34" charset="-122"/>
                <a:cs typeface="Aptos Mono" pitchFamily="34" charset="-120"/>
              </a:rPr>
              <a:t>01</a:t>
            </a:r>
            <a:endParaRPr lang="en-US" sz="1200" dirty="0"/>
          </a:p>
        </p:txBody>
      </p:sp>
      <p:sp>
        <p:nvSpPr>
          <p:cNvPr id="16" name="Text 13"/>
          <p:cNvSpPr/>
          <p:nvPr/>
        </p:nvSpPr>
        <p:spPr>
          <a:xfrm>
            <a:off x="6446520" y="2240280"/>
            <a:ext cx="4754880" cy="438912"/>
          </a:xfrm>
          <a:prstGeom prst="rect">
            <a:avLst/>
          </a:prstGeom>
          <a:noFill/>
          <a:ln/>
        </p:spPr>
        <p:txBody>
          <a:bodyPr wrap="square" lIns="0" tIns="0" rIns="0" bIns="0" rtlCol="0" anchor="ctr">
            <a:normAutofit/>
          </a:bodyPr>
          <a:lstStyle/>
          <a:p>
            <a:pPr algn="l" indent="0" marL="0">
              <a:buNone/>
            </a:pPr>
            <a:r>
              <a:rPr lang="en-US" sz="2000" dirty="0">
                <a:solidFill>
                  <a:srgbClr val="15131A"/>
                </a:solidFill>
                <a:latin typeface="Aptos" pitchFamily="34" charset="0"/>
                <a:ea typeface="Aptos" pitchFamily="34" charset="-122"/>
                <a:cs typeface="Aptos" pitchFamily="34" charset="-120"/>
              </a:rPr>
              <a:t>Quotas exhaust, prompting developers to rotate tools</a:t>
            </a:r>
            <a:endParaRPr lang="en-US" sz="2000" dirty="0"/>
          </a:p>
        </p:txBody>
      </p:sp>
      <p:sp>
        <p:nvSpPr>
          <p:cNvPr id="17" name="Text 14"/>
          <p:cNvSpPr/>
          <p:nvPr/>
        </p:nvSpPr>
        <p:spPr>
          <a:xfrm>
            <a:off x="5943600" y="2907792"/>
            <a:ext cx="411480" cy="256032"/>
          </a:xfrm>
          <a:prstGeom prst="rect">
            <a:avLst/>
          </a:prstGeom>
          <a:noFill/>
          <a:ln/>
        </p:spPr>
        <p:txBody>
          <a:bodyPr wrap="square" lIns="0" tIns="0" rIns="0" bIns="0" rtlCol="0" anchor="ctr">
            <a:normAutofit/>
          </a:bodyPr>
          <a:lstStyle/>
          <a:p>
            <a:pPr algn="l" indent="0" marL="0">
              <a:buNone/>
            </a:pPr>
            <a:r>
              <a:rPr lang="en-US" sz="1200" dirty="0">
                <a:solidFill>
                  <a:srgbClr val="AD0C72"/>
                </a:solidFill>
                <a:latin typeface="Aptos Mono" pitchFamily="34" charset="0"/>
                <a:ea typeface="Aptos Mono" pitchFamily="34" charset="-122"/>
                <a:cs typeface="Aptos Mono" pitchFamily="34" charset="-120"/>
              </a:rPr>
              <a:t>02</a:t>
            </a:r>
            <a:endParaRPr lang="en-US" sz="1200" dirty="0"/>
          </a:p>
        </p:txBody>
      </p:sp>
      <p:sp>
        <p:nvSpPr>
          <p:cNvPr id="18" name="Text 15"/>
          <p:cNvSpPr/>
          <p:nvPr/>
        </p:nvSpPr>
        <p:spPr>
          <a:xfrm>
            <a:off x="6446520" y="2862072"/>
            <a:ext cx="4754880" cy="438912"/>
          </a:xfrm>
          <a:prstGeom prst="rect">
            <a:avLst/>
          </a:prstGeom>
          <a:noFill/>
          <a:ln/>
        </p:spPr>
        <p:txBody>
          <a:bodyPr wrap="square" lIns="0" tIns="0" rIns="0" bIns="0" rtlCol="0" anchor="ctr">
            <a:normAutofit/>
          </a:bodyPr>
          <a:lstStyle/>
          <a:p>
            <a:pPr algn="l" indent="0" marL="0">
              <a:buNone/>
            </a:pPr>
            <a:r>
              <a:rPr lang="en-US" sz="2000" dirty="0">
                <a:solidFill>
                  <a:srgbClr val="15131A"/>
                </a:solidFill>
                <a:latin typeface="Aptos" pitchFamily="34" charset="0"/>
                <a:ea typeface="Aptos" pitchFamily="34" charset="-122"/>
                <a:cs typeface="Aptos" pitchFamily="34" charset="-120"/>
              </a:rPr>
              <a:t>Manual tool switching loses the preceding investigation</a:t>
            </a:r>
            <a:endParaRPr lang="en-US" sz="2000" dirty="0"/>
          </a:p>
        </p:txBody>
      </p:sp>
      <p:sp>
        <p:nvSpPr>
          <p:cNvPr id="19" name="Text 16"/>
          <p:cNvSpPr/>
          <p:nvPr/>
        </p:nvSpPr>
        <p:spPr>
          <a:xfrm>
            <a:off x="5943600" y="3529584"/>
            <a:ext cx="411480" cy="256032"/>
          </a:xfrm>
          <a:prstGeom prst="rect">
            <a:avLst/>
          </a:prstGeom>
          <a:noFill/>
          <a:ln/>
        </p:spPr>
        <p:txBody>
          <a:bodyPr wrap="square" lIns="0" tIns="0" rIns="0" bIns="0" rtlCol="0" anchor="ctr">
            <a:normAutofit/>
          </a:bodyPr>
          <a:lstStyle/>
          <a:p>
            <a:pPr algn="l" indent="0" marL="0">
              <a:buNone/>
            </a:pPr>
            <a:r>
              <a:rPr lang="en-US" sz="1200" dirty="0">
                <a:solidFill>
                  <a:srgbClr val="AD0C72"/>
                </a:solidFill>
                <a:latin typeface="Aptos Mono" pitchFamily="34" charset="0"/>
                <a:ea typeface="Aptos Mono" pitchFamily="34" charset="-122"/>
                <a:cs typeface="Aptos Mono" pitchFamily="34" charset="-120"/>
              </a:rPr>
              <a:t>03</a:t>
            </a:r>
            <a:endParaRPr lang="en-US" sz="1200" dirty="0"/>
          </a:p>
        </p:txBody>
      </p:sp>
      <p:sp>
        <p:nvSpPr>
          <p:cNvPr id="20" name="Text 17"/>
          <p:cNvSpPr/>
          <p:nvPr/>
        </p:nvSpPr>
        <p:spPr>
          <a:xfrm>
            <a:off x="6446520" y="3483864"/>
            <a:ext cx="4754880" cy="438912"/>
          </a:xfrm>
          <a:prstGeom prst="rect">
            <a:avLst/>
          </a:prstGeom>
          <a:noFill/>
          <a:ln/>
        </p:spPr>
        <p:txBody>
          <a:bodyPr wrap="square" lIns="0" tIns="0" rIns="0" bIns="0" rtlCol="0" anchor="ctr">
            <a:normAutofit/>
          </a:bodyPr>
          <a:lstStyle/>
          <a:p>
            <a:pPr algn="l" indent="0" marL="0">
              <a:buNone/>
            </a:pPr>
            <a:r>
              <a:rPr lang="en-US" sz="2000" dirty="0">
                <a:solidFill>
                  <a:srgbClr val="15131A"/>
                </a:solidFill>
                <a:latin typeface="Aptos" pitchFamily="34" charset="0"/>
                <a:ea typeface="Aptos" pitchFamily="34" charset="-122"/>
                <a:cs typeface="Aptos" pitchFamily="34" charset="-120"/>
              </a:rPr>
              <a:t>Rebuilding files and test traces takes 15-20 minutes</a:t>
            </a:r>
            <a:endParaRPr lang="en-US" sz="2000" dirty="0"/>
          </a:p>
        </p:txBody>
      </p:sp>
      <p:sp>
        <p:nvSpPr>
          <p:cNvPr id="21" name="Text 18"/>
          <p:cNvSpPr/>
          <p:nvPr/>
        </p:nvSpPr>
        <p:spPr>
          <a:xfrm>
            <a:off x="5943600" y="4151376"/>
            <a:ext cx="411480" cy="256032"/>
          </a:xfrm>
          <a:prstGeom prst="rect">
            <a:avLst/>
          </a:prstGeom>
          <a:noFill/>
          <a:ln/>
        </p:spPr>
        <p:txBody>
          <a:bodyPr wrap="square" lIns="0" tIns="0" rIns="0" bIns="0" rtlCol="0" anchor="ctr">
            <a:normAutofit/>
          </a:bodyPr>
          <a:lstStyle/>
          <a:p>
            <a:pPr algn="l" indent="0" marL="0">
              <a:buNone/>
            </a:pPr>
            <a:r>
              <a:rPr lang="en-US" sz="1200" dirty="0">
                <a:solidFill>
                  <a:srgbClr val="AD0C72"/>
                </a:solidFill>
                <a:latin typeface="Aptos Mono" pitchFamily="34" charset="0"/>
                <a:ea typeface="Aptos Mono" pitchFamily="34" charset="-122"/>
                <a:cs typeface="Aptos Mono" pitchFamily="34" charset="-120"/>
              </a:rPr>
              <a:t>04</a:t>
            </a:r>
            <a:endParaRPr lang="en-US" sz="1200" dirty="0"/>
          </a:p>
        </p:txBody>
      </p:sp>
      <p:sp>
        <p:nvSpPr>
          <p:cNvPr id="22" name="Text 19"/>
          <p:cNvSpPr/>
          <p:nvPr/>
        </p:nvSpPr>
        <p:spPr>
          <a:xfrm>
            <a:off x="6446520" y="4105656"/>
            <a:ext cx="4754880" cy="438912"/>
          </a:xfrm>
          <a:prstGeom prst="rect">
            <a:avLst/>
          </a:prstGeom>
          <a:noFill/>
          <a:ln/>
        </p:spPr>
        <p:txBody>
          <a:bodyPr wrap="square" lIns="0" tIns="0" rIns="0" bIns="0" rtlCol="0" anchor="ctr">
            <a:normAutofit/>
          </a:bodyPr>
          <a:lstStyle/>
          <a:p>
            <a:pPr algn="l" indent="0" marL="0">
              <a:buNone/>
            </a:pPr>
            <a:r>
              <a:rPr lang="en-US" sz="2000" dirty="0">
                <a:solidFill>
                  <a:srgbClr val="15131A"/>
                </a:solidFill>
                <a:latin typeface="Aptos" pitchFamily="34" charset="0"/>
                <a:ea typeface="Aptos" pitchFamily="34" charset="-122"/>
                <a:cs typeface="Aptos" pitchFamily="34" charset="-120"/>
              </a:rPr>
              <a:t>Copying the prompt passes a headline without evidence</a:t>
            </a:r>
            <a:endParaRPr lang="en-US" sz="2000" dirty="0"/>
          </a:p>
        </p:txBody>
      </p:sp>
      <p:sp>
        <p:nvSpPr>
          <p:cNvPr id="23" name="Text 20"/>
          <p:cNvSpPr/>
          <p:nvPr/>
        </p:nvSpPr>
        <p:spPr>
          <a:xfrm>
            <a:off x="749808" y="5623560"/>
            <a:ext cx="10515600" cy="411480"/>
          </a:xfrm>
          <a:prstGeom prst="rect">
            <a:avLst/>
          </a:prstGeom>
          <a:noFill/>
          <a:ln/>
        </p:spPr>
        <p:txBody>
          <a:bodyPr wrap="square" lIns="0" tIns="0" rIns="0" bIns="0" rtlCol="0" anchor="ctr">
            <a:normAutofit/>
          </a:bodyPr>
          <a:lstStyle/>
          <a:p>
            <a:pPr algn="ctr" indent="0" marL="0">
              <a:buNone/>
            </a:pPr>
            <a:r>
              <a:rPr lang="en-US" sz="2200" b="1" dirty="0">
                <a:solidFill>
                  <a:srgbClr val="15131A"/>
                </a:solidFill>
                <a:latin typeface="Aptos" pitchFamily="34" charset="0"/>
                <a:ea typeface="Aptos" pitchFamily="34" charset="-122"/>
                <a:cs typeface="Aptos" pitchFamily="34" charset="-120"/>
              </a:rPr>
              <a:t>Developers rotate tools for valid economic reasons, but manual handoffs lose the work trace.</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56032"/>
            <a:ext cx="411480" cy="201168"/>
          </a:xfrm>
          <a:prstGeom prst="rect">
            <a:avLst/>
          </a:prstGeom>
          <a:noFill/>
          <a:ln/>
        </p:spPr>
        <p:txBody>
          <a:bodyPr wrap="square" lIns="0" tIns="0" rIns="0" bIns="0" rtlCol="0" anchor="ctr">
            <a:normAutofit/>
          </a:bodyPr>
          <a:lstStyle/>
          <a:p>
            <a:pPr algn="l" indent="0" marL="0">
              <a:buNone/>
            </a:pPr>
            <a:r>
              <a:rPr lang="en-US" sz="1100" b="1" dirty="0">
                <a:solidFill>
                  <a:srgbClr val="AD0C72"/>
                </a:solidFill>
                <a:latin typeface="Aptos Mono" pitchFamily="34" charset="0"/>
                <a:ea typeface="Aptos Mono" pitchFamily="34" charset="-122"/>
                <a:cs typeface="Aptos Mono" pitchFamily="34" charset="-120"/>
              </a:rPr>
              <a:t>04</a:t>
            </a:r>
            <a:endParaRPr lang="en-US" sz="1100" dirty="0"/>
          </a:p>
        </p:txBody>
      </p:sp>
      <p:sp>
        <p:nvSpPr>
          <p:cNvPr id="3" name="Text 1"/>
          <p:cNvSpPr/>
          <p:nvPr/>
        </p:nvSpPr>
        <p:spPr>
          <a:xfrm>
            <a:off x="8961120" y="256032"/>
            <a:ext cx="2606040" cy="201168"/>
          </a:xfrm>
          <a:prstGeom prst="rect">
            <a:avLst/>
          </a:prstGeom>
          <a:noFill/>
          <a:ln/>
        </p:spPr>
        <p:txBody>
          <a:bodyPr wrap="square" lIns="0" tIns="0" rIns="0" bIns="0" rtlCol="0" anchor="ctr">
            <a:normAutofit/>
          </a:bodyPr>
          <a:lstStyle/>
          <a:p>
            <a:pPr algn="r" indent="0" marL="0">
              <a:buNone/>
            </a:pPr>
            <a:r>
              <a:rPr lang="en-US" sz="1000" b="1" dirty="0">
                <a:solidFill>
                  <a:srgbClr val="5C5765"/>
                </a:solidFill>
                <a:latin typeface="Aptos" pitchFamily="34" charset="0"/>
                <a:ea typeface="Aptos" pitchFamily="34" charset="-122"/>
                <a:cs typeface="Aptos" pitchFamily="34" charset="-120"/>
              </a:rPr>
              <a:t>Architecture map</a:t>
            </a:r>
            <a:endParaRPr lang="en-US" sz="1000" dirty="0"/>
          </a:p>
        </p:txBody>
      </p:sp>
      <p:sp>
        <p:nvSpPr>
          <p:cNvPr id="4" name="Shape 2"/>
          <p:cNvSpPr/>
          <p:nvPr/>
        </p:nvSpPr>
        <p:spPr>
          <a:xfrm>
            <a:off x="566928" y="566928"/>
            <a:ext cx="11045952" cy="0"/>
          </a:xfrm>
          <a:prstGeom prst="line">
            <a:avLst/>
          </a:prstGeom>
          <a:noFill/>
          <a:ln w="12700">
            <a:solidFill>
              <a:srgbClr val="ECE8EE"/>
            </a:solidFill>
            <a:prstDash val="solid"/>
          </a:ln>
        </p:spPr>
      </p:sp>
      <p:sp>
        <p:nvSpPr>
          <p:cNvPr id="5" name="Text 3"/>
          <p:cNvSpPr/>
          <p:nvPr/>
        </p:nvSpPr>
        <p:spPr>
          <a:xfrm>
            <a:off x="658368" y="786384"/>
            <a:ext cx="10881360" cy="566928"/>
          </a:xfrm>
          <a:prstGeom prst="rect">
            <a:avLst/>
          </a:prstGeom>
          <a:noFill/>
          <a:ln/>
        </p:spPr>
        <p:txBody>
          <a:bodyPr wrap="square" lIns="0" tIns="0" rIns="0" bIns="0" rtlCol="0" anchor="ctr">
            <a:normAutofit/>
          </a:bodyPr>
          <a:lstStyle/>
          <a:p>
            <a:pPr algn="l" indent="0" marL="0">
              <a:buNone/>
            </a:pPr>
            <a:r>
              <a:rPr lang="en-US" sz="3100" b="1" dirty="0">
                <a:solidFill>
                  <a:srgbClr val="15131A"/>
                </a:solidFill>
                <a:latin typeface="Aptos Display" pitchFamily="34" charset="0"/>
                <a:ea typeface="Aptos Display" pitchFamily="34" charset="-122"/>
                <a:cs typeface="Aptos Display" pitchFamily="34" charset="-120"/>
              </a:rPr>
              <a:t>Demystifying the stack</a:t>
            </a:r>
            <a:endParaRPr lang="en-US" sz="3100" dirty="0"/>
          </a:p>
        </p:txBody>
      </p:sp>
      <p:sp>
        <p:nvSpPr>
          <p:cNvPr id="6" name="Text 4"/>
          <p:cNvSpPr/>
          <p:nvPr/>
        </p:nvSpPr>
        <p:spPr>
          <a:xfrm>
            <a:off x="658368" y="6400800"/>
            <a:ext cx="10469880" cy="219456"/>
          </a:xfrm>
          <a:prstGeom prst="rect">
            <a:avLst/>
          </a:prstGeom>
          <a:noFill/>
          <a:ln/>
        </p:spPr>
        <p:txBody>
          <a:bodyPr wrap="square" lIns="0" tIns="0" rIns="0" bIns="0" rtlCol="0" anchor="ctr">
            <a:normAutofit/>
          </a:bodyPr>
          <a:lstStyle/>
          <a:p>
            <a:pPr algn="l" indent="0" marL="0">
              <a:buNone/>
            </a:pPr>
            <a:r>
              <a:rPr lang="en-US" sz="1450" b="1" dirty="0">
                <a:solidFill>
                  <a:srgbClr val="AD0C72"/>
                </a:solidFill>
                <a:latin typeface="Aptos" pitchFamily="34" charset="0"/>
                <a:ea typeface="Aptos" pitchFamily="34" charset="-122"/>
                <a:cs typeface="Aptos" pitchFamily="34" charset="-120"/>
              </a:rPr>
              <a:t>@anxkhn</a:t>
            </a:r>
            <a:pPr algn="l" indent="0" marL="0">
              <a:buNone/>
            </a:pPr>
            <a:r>
              <a:rPr lang="en-US" sz="1450" b="1" dirty="0">
                <a:solidFill>
                  <a:srgbClr val="5C5765"/>
                </a:solidFill>
                <a:latin typeface="Aptos" pitchFamily="34" charset="0"/>
                <a:ea typeface="Aptos" pitchFamily="34" charset="-122"/>
                <a:cs typeface="Aptos" pitchFamily="34" charset="-120"/>
              </a:rPr>
              <a:t>  ·  #DevDays  ·  #DevDaysMumbai  ·  #mumtechup</a:t>
            </a:r>
            <a:endParaRPr lang="en-US" sz="1450" dirty="0"/>
          </a:p>
        </p:txBody>
      </p:sp>
      <p:sp>
        <p:nvSpPr>
          <p:cNvPr id="7" name="Text 5"/>
          <p:cNvSpPr/>
          <p:nvPr/>
        </p:nvSpPr>
        <p:spPr>
          <a:xfrm>
            <a:off x="11064240" y="6419088"/>
            <a:ext cx="438912" cy="182880"/>
          </a:xfrm>
          <a:prstGeom prst="rect">
            <a:avLst/>
          </a:prstGeom>
          <a:noFill/>
          <a:ln/>
        </p:spPr>
        <p:txBody>
          <a:bodyPr wrap="square" lIns="0" tIns="0" rIns="0" bIns="0" rtlCol="0" anchor="ctr">
            <a:normAutofit/>
          </a:bodyPr>
          <a:lstStyle/>
          <a:p>
            <a:pPr algn="r" indent="0" marL="0">
              <a:buNone/>
            </a:pPr>
            <a:r>
              <a:rPr lang="en-US" sz="1200" b="1" dirty="0">
                <a:solidFill>
                  <a:srgbClr val="5C5765"/>
                </a:solidFill>
                <a:latin typeface="Aptos Mono" pitchFamily="34" charset="0"/>
                <a:ea typeface="Aptos Mono" pitchFamily="34" charset="-122"/>
                <a:cs typeface="Aptos Mono" pitchFamily="34" charset="-120"/>
              </a:rPr>
              <a:t>4</a:t>
            </a:r>
            <a:endParaRPr lang="en-US" sz="1200" dirty="0"/>
          </a:p>
        </p:txBody>
      </p:sp>
      <p:sp>
        <p:nvSpPr>
          <p:cNvPr id="9" name="Shape 6"/>
          <p:cNvSpPr/>
          <p:nvPr/>
        </p:nvSpPr>
        <p:spPr>
          <a:xfrm>
            <a:off x="749808" y="1508760"/>
            <a:ext cx="10652760" cy="694944"/>
          </a:xfrm>
          <a:prstGeom prst="rect">
            <a:avLst/>
          </a:prstGeom>
          <a:solidFill>
            <a:srgbClr val="FAF7F9"/>
          </a:solidFill>
          <a:ln w="12700">
            <a:solidFill>
              <a:srgbClr val="FAF7F9"/>
            </a:solidFill>
            <a:prstDash val="solid"/>
          </a:ln>
        </p:spPr>
      </p:sp>
      <p:sp>
        <p:nvSpPr>
          <p:cNvPr id="10" name="Text 7"/>
          <p:cNvSpPr/>
          <p:nvPr/>
        </p:nvSpPr>
        <p:spPr>
          <a:xfrm>
            <a:off x="1024128" y="1636776"/>
            <a:ext cx="2743200" cy="347472"/>
          </a:xfrm>
          <a:prstGeom prst="rect">
            <a:avLst/>
          </a:prstGeom>
          <a:noFill/>
          <a:ln/>
        </p:spPr>
        <p:txBody>
          <a:bodyPr wrap="square" lIns="0" tIns="0" rIns="0" bIns="0" rtlCol="0" anchor="ctr">
            <a:normAutofit/>
          </a:bodyPr>
          <a:lstStyle/>
          <a:p>
            <a:pPr algn="l" indent="0" marL="0">
              <a:buNone/>
            </a:pPr>
            <a:r>
              <a:rPr lang="en-US" sz="2100" b="1" dirty="0">
                <a:solidFill>
                  <a:srgbClr val="15131A"/>
                </a:solidFill>
                <a:latin typeface="Aptos Mono" pitchFamily="34" charset="0"/>
                <a:ea typeface="Aptos Mono" pitchFamily="34" charset="-122"/>
                <a:cs typeface="Aptos Mono" pitchFamily="34" charset="-120"/>
              </a:rPr>
              <a:t>MODEL / LLM</a:t>
            </a:r>
            <a:endParaRPr lang="en-US" sz="2100" dirty="0"/>
          </a:p>
        </p:txBody>
      </p:sp>
      <p:sp>
        <p:nvSpPr>
          <p:cNvPr id="11" name="Text 8"/>
          <p:cNvSpPr/>
          <p:nvPr/>
        </p:nvSpPr>
        <p:spPr>
          <a:xfrm>
            <a:off x="3822192" y="1600200"/>
            <a:ext cx="6949440" cy="420624"/>
          </a:xfrm>
          <a:prstGeom prst="rect">
            <a:avLst/>
          </a:prstGeom>
          <a:noFill/>
          <a:ln/>
        </p:spPr>
        <p:txBody>
          <a:bodyPr wrap="square" lIns="0" tIns="0" rIns="0" bIns="0" rtlCol="0" anchor="ctr">
            <a:normAutofit/>
          </a:bodyPr>
          <a:lstStyle/>
          <a:p>
            <a:pPr algn="l" indent="0" marL="0">
              <a:buNone/>
            </a:pPr>
            <a:r>
              <a:rPr lang="en-US" sz="2300" dirty="0">
                <a:solidFill>
                  <a:srgbClr val="15131A"/>
                </a:solidFill>
                <a:latin typeface="Aptos" pitchFamily="34" charset="0"/>
                <a:ea typeface="Aptos" pitchFamily="34" charset="-122"/>
                <a:cs typeface="Aptos" pitchFamily="34" charset="-120"/>
              </a:rPr>
              <a:t>proposes text and tool calls</a:t>
            </a:r>
            <a:endParaRPr lang="en-US" sz="2300" dirty="0"/>
          </a:p>
        </p:txBody>
      </p:sp>
      <p:sp>
        <p:nvSpPr>
          <p:cNvPr id="12" name="Shape 9"/>
          <p:cNvSpPr/>
          <p:nvPr/>
        </p:nvSpPr>
        <p:spPr>
          <a:xfrm>
            <a:off x="749808" y="2395728"/>
            <a:ext cx="10652760" cy="694944"/>
          </a:xfrm>
          <a:prstGeom prst="rect">
            <a:avLst/>
          </a:prstGeom>
          <a:solidFill>
            <a:srgbClr val="F6F3F7"/>
          </a:solidFill>
          <a:ln w="12700">
            <a:solidFill>
              <a:srgbClr val="F6F3F7"/>
            </a:solidFill>
            <a:prstDash val="solid"/>
          </a:ln>
        </p:spPr>
      </p:sp>
      <p:sp>
        <p:nvSpPr>
          <p:cNvPr id="13" name="Text 10"/>
          <p:cNvSpPr/>
          <p:nvPr/>
        </p:nvSpPr>
        <p:spPr>
          <a:xfrm>
            <a:off x="1024128" y="2523744"/>
            <a:ext cx="2743200" cy="347472"/>
          </a:xfrm>
          <a:prstGeom prst="rect">
            <a:avLst/>
          </a:prstGeom>
          <a:noFill/>
          <a:ln/>
        </p:spPr>
        <p:txBody>
          <a:bodyPr wrap="square" lIns="0" tIns="0" rIns="0" bIns="0" rtlCol="0" anchor="ctr">
            <a:normAutofit/>
          </a:bodyPr>
          <a:lstStyle/>
          <a:p>
            <a:pPr algn="l" indent="0" marL="0">
              <a:buNone/>
            </a:pPr>
            <a:r>
              <a:rPr lang="en-US" sz="2100" b="1" dirty="0">
                <a:solidFill>
                  <a:srgbClr val="15131A"/>
                </a:solidFill>
                <a:latin typeface="Aptos Mono" pitchFamily="34" charset="0"/>
                <a:ea typeface="Aptos Mono" pitchFamily="34" charset="-122"/>
                <a:cs typeface="Aptos Mono" pitchFamily="34" charset="-120"/>
              </a:rPr>
              <a:t>HARNESS</a:t>
            </a:r>
            <a:endParaRPr lang="en-US" sz="2100" dirty="0"/>
          </a:p>
        </p:txBody>
      </p:sp>
      <p:sp>
        <p:nvSpPr>
          <p:cNvPr id="14" name="Text 11"/>
          <p:cNvSpPr/>
          <p:nvPr/>
        </p:nvSpPr>
        <p:spPr>
          <a:xfrm>
            <a:off x="3822192" y="2487168"/>
            <a:ext cx="6949440" cy="420624"/>
          </a:xfrm>
          <a:prstGeom prst="rect">
            <a:avLst/>
          </a:prstGeom>
          <a:noFill/>
          <a:ln/>
        </p:spPr>
        <p:txBody>
          <a:bodyPr wrap="square" lIns="0" tIns="0" rIns="0" bIns="0" rtlCol="0" anchor="ctr">
            <a:normAutofit/>
          </a:bodyPr>
          <a:lstStyle/>
          <a:p>
            <a:pPr algn="l" indent="0" marL="0">
              <a:buNone/>
            </a:pPr>
            <a:r>
              <a:rPr lang="en-US" sz="2300" dirty="0">
                <a:solidFill>
                  <a:srgbClr val="15131A"/>
                </a:solidFill>
                <a:latin typeface="Aptos" pitchFamily="34" charset="0"/>
                <a:ea typeface="Aptos" pitchFamily="34" charset="-122"/>
                <a:cs typeface="Aptos" pitchFamily="34" charset="-120"/>
              </a:rPr>
              <a:t>connects the model to files, tools, tests, and Git (e.g. OpenCode)</a:t>
            </a:r>
            <a:endParaRPr lang="en-US" sz="2300" dirty="0"/>
          </a:p>
        </p:txBody>
      </p:sp>
      <p:sp>
        <p:nvSpPr>
          <p:cNvPr id="15" name="Shape 12"/>
          <p:cNvSpPr/>
          <p:nvPr/>
        </p:nvSpPr>
        <p:spPr>
          <a:xfrm>
            <a:off x="749808" y="3282696"/>
            <a:ext cx="10652760" cy="694944"/>
          </a:xfrm>
          <a:prstGeom prst="rect">
            <a:avLst/>
          </a:prstGeom>
          <a:solidFill>
            <a:srgbClr val="FAF7F9"/>
          </a:solidFill>
          <a:ln w="12700">
            <a:solidFill>
              <a:srgbClr val="FAF7F9"/>
            </a:solidFill>
            <a:prstDash val="solid"/>
          </a:ln>
        </p:spPr>
      </p:sp>
      <p:sp>
        <p:nvSpPr>
          <p:cNvPr id="16" name="Text 13"/>
          <p:cNvSpPr/>
          <p:nvPr/>
        </p:nvSpPr>
        <p:spPr>
          <a:xfrm>
            <a:off x="1024128" y="3410712"/>
            <a:ext cx="2743200" cy="347472"/>
          </a:xfrm>
          <a:prstGeom prst="rect">
            <a:avLst/>
          </a:prstGeom>
          <a:noFill/>
          <a:ln/>
        </p:spPr>
        <p:txBody>
          <a:bodyPr wrap="square" lIns="0" tIns="0" rIns="0" bIns="0" rtlCol="0" anchor="ctr">
            <a:normAutofit/>
          </a:bodyPr>
          <a:lstStyle/>
          <a:p>
            <a:pPr algn="l" indent="0" marL="0">
              <a:buNone/>
            </a:pPr>
            <a:r>
              <a:rPr lang="en-US" sz="2100" b="1" dirty="0">
                <a:solidFill>
                  <a:srgbClr val="15131A"/>
                </a:solidFill>
                <a:latin typeface="Aptos Mono" pitchFamily="34" charset="0"/>
                <a:ea typeface="Aptos Mono" pitchFamily="34" charset="-122"/>
                <a:cs typeface="Aptos Mono" pitchFamily="34" charset="-120"/>
              </a:rPr>
              <a:t>AGENT</a:t>
            </a:r>
            <a:endParaRPr lang="en-US" sz="2100" dirty="0"/>
          </a:p>
        </p:txBody>
      </p:sp>
      <p:sp>
        <p:nvSpPr>
          <p:cNvPr id="17" name="Text 14"/>
          <p:cNvSpPr/>
          <p:nvPr/>
        </p:nvSpPr>
        <p:spPr>
          <a:xfrm>
            <a:off x="3822192" y="3374136"/>
            <a:ext cx="6949440" cy="420624"/>
          </a:xfrm>
          <a:prstGeom prst="rect">
            <a:avLst/>
          </a:prstGeom>
          <a:noFill/>
          <a:ln/>
        </p:spPr>
        <p:txBody>
          <a:bodyPr wrap="square" lIns="0" tIns="0" rIns="0" bIns="0" rtlCol="0" anchor="ctr">
            <a:normAutofit/>
          </a:bodyPr>
          <a:lstStyle/>
          <a:p>
            <a:pPr algn="l" indent="0" marL="0">
              <a:buNone/>
            </a:pPr>
            <a:r>
              <a:rPr lang="en-US" sz="2300" dirty="0">
                <a:solidFill>
                  <a:srgbClr val="15131A"/>
                </a:solidFill>
                <a:latin typeface="Aptos" pitchFamily="34" charset="0"/>
                <a:ea typeface="Aptos" pitchFamily="34" charset="-122"/>
                <a:cs typeface="Aptos" pitchFamily="34" charset="-120"/>
              </a:rPr>
              <a:t>model + harness + goal, loop, and state</a:t>
            </a:r>
            <a:endParaRPr lang="en-US" sz="2300" dirty="0"/>
          </a:p>
        </p:txBody>
      </p:sp>
      <p:sp>
        <p:nvSpPr>
          <p:cNvPr id="18" name="Shape 15"/>
          <p:cNvSpPr/>
          <p:nvPr/>
        </p:nvSpPr>
        <p:spPr>
          <a:xfrm>
            <a:off x="749808" y="4169664"/>
            <a:ext cx="10652760" cy="694944"/>
          </a:xfrm>
          <a:prstGeom prst="rect">
            <a:avLst/>
          </a:prstGeom>
          <a:solidFill>
            <a:srgbClr val="FCE6F4"/>
          </a:solidFill>
          <a:ln w="12700">
            <a:solidFill>
              <a:srgbClr val="FCE6F4"/>
            </a:solidFill>
            <a:prstDash val="solid"/>
          </a:ln>
        </p:spPr>
      </p:sp>
      <p:sp>
        <p:nvSpPr>
          <p:cNvPr id="19" name="Text 16"/>
          <p:cNvSpPr/>
          <p:nvPr/>
        </p:nvSpPr>
        <p:spPr>
          <a:xfrm>
            <a:off x="1024128" y="4297680"/>
            <a:ext cx="2743200" cy="347472"/>
          </a:xfrm>
          <a:prstGeom prst="rect">
            <a:avLst/>
          </a:prstGeom>
          <a:noFill/>
          <a:ln/>
        </p:spPr>
        <p:txBody>
          <a:bodyPr wrap="square" lIns="0" tIns="0" rIns="0" bIns="0" rtlCol="0" anchor="ctr">
            <a:normAutofit/>
          </a:bodyPr>
          <a:lstStyle/>
          <a:p>
            <a:pPr algn="l" indent="0" marL="0">
              <a:buNone/>
            </a:pPr>
            <a:r>
              <a:rPr lang="en-US" sz="2100" b="1" dirty="0">
                <a:solidFill>
                  <a:srgbClr val="AD0C72"/>
                </a:solidFill>
                <a:latin typeface="Aptos Mono" pitchFamily="34" charset="0"/>
                <a:ea typeface="Aptos Mono" pitchFamily="34" charset="-122"/>
                <a:cs typeface="Aptos Mono" pitchFamily="34" charset="-120"/>
              </a:rPr>
              <a:t>META-HARNESS</a:t>
            </a:r>
            <a:endParaRPr lang="en-US" sz="2100" dirty="0"/>
          </a:p>
        </p:txBody>
      </p:sp>
      <p:sp>
        <p:nvSpPr>
          <p:cNvPr id="20" name="Text 17"/>
          <p:cNvSpPr/>
          <p:nvPr/>
        </p:nvSpPr>
        <p:spPr>
          <a:xfrm>
            <a:off x="3822192" y="4261104"/>
            <a:ext cx="6949440" cy="420624"/>
          </a:xfrm>
          <a:prstGeom prst="rect">
            <a:avLst/>
          </a:prstGeom>
          <a:noFill/>
          <a:ln/>
        </p:spPr>
        <p:txBody>
          <a:bodyPr wrap="square" lIns="0" tIns="0" rIns="0" bIns="0" rtlCol="0" anchor="ctr">
            <a:normAutofit/>
          </a:bodyPr>
          <a:lstStyle/>
          <a:p>
            <a:pPr algn="l" indent="0" marL="0">
              <a:buNone/>
            </a:pPr>
            <a:r>
              <a:rPr lang="en-US" sz="2300" dirty="0">
                <a:solidFill>
                  <a:srgbClr val="15131A"/>
                </a:solidFill>
                <a:latin typeface="Aptos" pitchFamily="34" charset="0"/>
                <a:ea typeface="Aptos" pitchFamily="34" charset="-122"/>
                <a:cs typeface="Aptos" pitchFamily="34" charset="-120"/>
              </a:rPr>
              <a:t>coordinates multiple harnesses, sessions, and hosts (e.g. Omnigent)</a:t>
            </a:r>
            <a:endParaRPr lang="en-US" sz="2300" dirty="0"/>
          </a:p>
        </p:txBody>
      </p:sp>
      <p:sp>
        <p:nvSpPr>
          <p:cNvPr id="21" name="Text 18"/>
          <p:cNvSpPr/>
          <p:nvPr/>
        </p:nvSpPr>
        <p:spPr>
          <a:xfrm>
            <a:off x="768096" y="5138928"/>
            <a:ext cx="10607040" cy="384048"/>
          </a:xfrm>
          <a:prstGeom prst="rect">
            <a:avLst/>
          </a:prstGeom>
          <a:noFill/>
          <a:ln/>
        </p:spPr>
        <p:txBody>
          <a:bodyPr wrap="square" lIns="0" tIns="0" rIns="0" bIns="0" rtlCol="0" anchor="ctr">
            <a:normAutofit/>
          </a:bodyPr>
          <a:lstStyle/>
          <a:p>
            <a:pPr algn="ctr" indent="0" marL="0">
              <a:buNone/>
            </a:pPr>
            <a:r>
              <a:rPr lang="en-US" sz="2400" b="1" dirty="0">
                <a:solidFill>
                  <a:srgbClr val="15131A"/>
                </a:solidFill>
                <a:latin typeface="Aptos" pitchFamily="34" charset="0"/>
                <a:ea typeface="Aptos" pitchFamily="34" charset="-122"/>
                <a:cs typeface="Aptos" pitchFamily="34" charset="-120"/>
              </a:rPr>
              <a:t>Model proposes. Harness acts. Agent pursues. Meta-harness coordinates.</a:t>
            </a:r>
            <a:endParaRPr lang="en-US" sz="2400" dirty="0"/>
          </a:p>
        </p:txBody>
      </p:sp>
      <p:sp>
        <p:nvSpPr>
          <p:cNvPr id="22" name="Text 19"/>
          <p:cNvSpPr/>
          <p:nvPr/>
        </p:nvSpPr>
        <p:spPr>
          <a:xfrm>
            <a:off x="1371600" y="5650992"/>
            <a:ext cx="9326880" cy="256032"/>
          </a:xfrm>
          <a:prstGeom prst="rect">
            <a:avLst/>
          </a:prstGeom>
          <a:noFill/>
          <a:ln/>
        </p:spPr>
        <p:txBody>
          <a:bodyPr wrap="square" lIns="0" tIns="0" rIns="0" bIns="0" rtlCol="0" anchor="ctr">
            <a:normAutofit/>
          </a:bodyPr>
          <a:lstStyle/>
          <a:p>
            <a:pPr algn="ctr" indent="0" marL="0">
              <a:buNone/>
            </a:pPr>
            <a:r>
              <a:rPr lang="en-US" sz="1400" dirty="0">
                <a:solidFill>
                  <a:srgbClr val="5C5765"/>
                </a:solidFill>
                <a:latin typeface="Aptos" pitchFamily="34" charset="0"/>
                <a:ea typeface="Aptos" pitchFamily="34" charset="-122"/>
                <a:cs typeface="Aptos" pitchFamily="34" charset="-120"/>
              </a:rPr>
              <a:t>OpenCode is a single harness with multi-model dispatch · A meta-harness operates across separate harnesses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56032"/>
            <a:ext cx="411480" cy="201168"/>
          </a:xfrm>
          <a:prstGeom prst="rect">
            <a:avLst/>
          </a:prstGeom>
          <a:noFill/>
          <a:ln/>
        </p:spPr>
        <p:txBody>
          <a:bodyPr wrap="square" lIns="0" tIns="0" rIns="0" bIns="0" rtlCol="0" anchor="ctr">
            <a:normAutofit/>
          </a:bodyPr>
          <a:lstStyle/>
          <a:p>
            <a:pPr algn="l" indent="0" marL="0">
              <a:buNone/>
            </a:pPr>
            <a:r>
              <a:rPr lang="en-US" sz="1100" b="1" dirty="0">
                <a:solidFill>
                  <a:srgbClr val="AD0C72"/>
                </a:solidFill>
                <a:latin typeface="Aptos Mono" pitchFamily="34" charset="0"/>
                <a:ea typeface="Aptos Mono" pitchFamily="34" charset="-122"/>
                <a:cs typeface="Aptos Mono" pitchFamily="34" charset="-120"/>
              </a:rPr>
              <a:t>05</a:t>
            </a:r>
            <a:endParaRPr lang="en-US" sz="1100" dirty="0"/>
          </a:p>
        </p:txBody>
      </p:sp>
      <p:sp>
        <p:nvSpPr>
          <p:cNvPr id="3" name="Text 1"/>
          <p:cNvSpPr/>
          <p:nvPr/>
        </p:nvSpPr>
        <p:spPr>
          <a:xfrm>
            <a:off x="8961120" y="256032"/>
            <a:ext cx="2606040" cy="201168"/>
          </a:xfrm>
          <a:prstGeom prst="rect">
            <a:avLst/>
          </a:prstGeom>
          <a:noFill/>
          <a:ln/>
        </p:spPr>
        <p:txBody>
          <a:bodyPr wrap="square" lIns="0" tIns="0" rIns="0" bIns="0" rtlCol="0" anchor="ctr">
            <a:normAutofit/>
          </a:bodyPr>
          <a:lstStyle/>
          <a:p>
            <a:pPr algn="r" indent="0" marL="0">
              <a:buNone/>
            </a:pPr>
            <a:r>
              <a:rPr lang="en-US" sz="1000" b="1" dirty="0">
                <a:solidFill>
                  <a:srgbClr val="5C5765"/>
                </a:solidFill>
                <a:latin typeface="Aptos" pitchFamily="34" charset="0"/>
                <a:ea typeface="Aptos" pitchFamily="34" charset="-122"/>
                <a:cs typeface="Aptos" pitchFamily="34" charset="-120"/>
              </a:rPr>
              <a:t>Core system</a:t>
            </a:r>
            <a:endParaRPr lang="en-US" sz="1000" dirty="0"/>
          </a:p>
        </p:txBody>
      </p:sp>
      <p:sp>
        <p:nvSpPr>
          <p:cNvPr id="4" name="Shape 2"/>
          <p:cNvSpPr/>
          <p:nvPr/>
        </p:nvSpPr>
        <p:spPr>
          <a:xfrm>
            <a:off x="566928" y="566928"/>
            <a:ext cx="11045952" cy="0"/>
          </a:xfrm>
          <a:prstGeom prst="line">
            <a:avLst/>
          </a:prstGeom>
          <a:noFill/>
          <a:ln w="12700">
            <a:solidFill>
              <a:srgbClr val="ECE8EE"/>
            </a:solidFill>
            <a:prstDash val="solid"/>
          </a:ln>
        </p:spPr>
      </p:sp>
      <p:sp>
        <p:nvSpPr>
          <p:cNvPr id="5" name="Text 3"/>
          <p:cNvSpPr/>
          <p:nvPr/>
        </p:nvSpPr>
        <p:spPr>
          <a:xfrm>
            <a:off x="658368" y="786384"/>
            <a:ext cx="10881360" cy="566928"/>
          </a:xfrm>
          <a:prstGeom prst="rect">
            <a:avLst/>
          </a:prstGeom>
          <a:noFill/>
          <a:ln/>
        </p:spPr>
        <p:txBody>
          <a:bodyPr wrap="square" lIns="0" tIns="0" rIns="0" bIns="0" rtlCol="0" anchor="ctr">
            <a:normAutofit/>
          </a:bodyPr>
          <a:lstStyle/>
          <a:p>
            <a:pPr algn="l" indent="0" marL="0">
              <a:buNone/>
            </a:pPr>
            <a:r>
              <a:rPr lang="en-US" sz="3100" b="1" dirty="0">
                <a:solidFill>
                  <a:srgbClr val="15131A"/>
                </a:solidFill>
                <a:latin typeface="Aptos Display" pitchFamily="34" charset="0"/>
                <a:ea typeface="Aptos Display" pitchFamily="34" charset="-122"/>
                <a:cs typeface="Aptos Display" pitchFamily="34" charset="-120"/>
              </a:rPr>
              <a:t>Meet Omnigent</a:t>
            </a:r>
            <a:endParaRPr lang="en-US" sz="3100" dirty="0"/>
          </a:p>
        </p:txBody>
      </p:sp>
      <p:sp>
        <p:nvSpPr>
          <p:cNvPr id="6" name="Text 4"/>
          <p:cNvSpPr/>
          <p:nvPr/>
        </p:nvSpPr>
        <p:spPr>
          <a:xfrm>
            <a:off x="658368" y="6144768"/>
            <a:ext cx="10789920" cy="182880"/>
          </a:xfrm>
          <a:prstGeom prst="rect">
            <a:avLst/>
          </a:prstGeom>
          <a:noFill/>
          <a:ln/>
        </p:spPr>
        <p:txBody>
          <a:bodyPr wrap="square" lIns="0" tIns="0" rIns="0" bIns="0" rtlCol="0" anchor="ctr">
            <a:normAutofit/>
          </a:bodyPr>
          <a:lstStyle/>
          <a:p>
            <a:pPr algn="l" indent="0" marL="0">
              <a:buNone/>
            </a:pPr>
            <a:r>
              <a:rPr lang="en-US" sz="1100" dirty="0">
                <a:solidFill>
                  <a:srgbClr val="5C5765"/>
                </a:solidFill>
                <a:latin typeface="Aptos" pitchFamily="34" charset="0"/>
                <a:ea typeface="Aptos" pitchFamily="34" charset="-122"/>
                <a:cs typeface="Aptos" pitchFamily="34" charset="-120"/>
              </a:rPr>
              <a:t>Source: Omnigent deployment overview · repository</a:t>
            </a:r>
            <a:endParaRPr lang="en-US" sz="1100" dirty="0"/>
          </a:p>
        </p:txBody>
      </p:sp>
      <p:sp>
        <p:nvSpPr>
          <p:cNvPr id="7" name="Text 5"/>
          <p:cNvSpPr/>
          <p:nvPr/>
        </p:nvSpPr>
        <p:spPr>
          <a:xfrm>
            <a:off x="658368" y="6400800"/>
            <a:ext cx="10469880" cy="219456"/>
          </a:xfrm>
          <a:prstGeom prst="rect">
            <a:avLst/>
          </a:prstGeom>
          <a:noFill/>
          <a:ln/>
        </p:spPr>
        <p:txBody>
          <a:bodyPr wrap="square" lIns="0" tIns="0" rIns="0" bIns="0" rtlCol="0" anchor="ctr">
            <a:normAutofit/>
          </a:bodyPr>
          <a:lstStyle/>
          <a:p>
            <a:pPr algn="l" indent="0" marL="0">
              <a:buNone/>
            </a:pPr>
            <a:r>
              <a:rPr lang="en-US" sz="1450" b="1" dirty="0">
                <a:solidFill>
                  <a:srgbClr val="AD0C72"/>
                </a:solidFill>
                <a:latin typeface="Aptos" pitchFamily="34" charset="0"/>
                <a:ea typeface="Aptos" pitchFamily="34" charset="-122"/>
                <a:cs typeface="Aptos" pitchFamily="34" charset="-120"/>
              </a:rPr>
              <a:t>@anxkhn</a:t>
            </a:r>
            <a:pPr algn="l" indent="0" marL="0">
              <a:buNone/>
            </a:pPr>
            <a:r>
              <a:rPr lang="en-US" sz="1450" b="1" dirty="0">
                <a:solidFill>
                  <a:srgbClr val="5C5765"/>
                </a:solidFill>
                <a:latin typeface="Aptos" pitchFamily="34" charset="0"/>
                <a:ea typeface="Aptos" pitchFamily="34" charset="-122"/>
                <a:cs typeface="Aptos" pitchFamily="34" charset="-120"/>
              </a:rPr>
              <a:t>  ·  #DevDays  ·  #DevDaysMumbai  ·  #mumtechup</a:t>
            </a:r>
            <a:endParaRPr lang="en-US" sz="1450" dirty="0"/>
          </a:p>
        </p:txBody>
      </p:sp>
      <p:sp>
        <p:nvSpPr>
          <p:cNvPr id="8" name="Text 6"/>
          <p:cNvSpPr/>
          <p:nvPr/>
        </p:nvSpPr>
        <p:spPr>
          <a:xfrm>
            <a:off x="11064240" y="6419088"/>
            <a:ext cx="438912" cy="182880"/>
          </a:xfrm>
          <a:prstGeom prst="rect">
            <a:avLst/>
          </a:prstGeom>
          <a:noFill/>
          <a:ln/>
        </p:spPr>
        <p:txBody>
          <a:bodyPr wrap="square" lIns="0" tIns="0" rIns="0" bIns="0" rtlCol="0" anchor="ctr">
            <a:normAutofit/>
          </a:bodyPr>
          <a:lstStyle/>
          <a:p>
            <a:pPr algn="r" indent="0" marL="0">
              <a:buNone/>
            </a:pPr>
            <a:r>
              <a:rPr lang="en-US" sz="1200" b="1" dirty="0">
                <a:solidFill>
                  <a:srgbClr val="5C5765"/>
                </a:solidFill>
                <a:latin typeface="Aptos Mono" pitchFamily="34" charset="0"/>
                <a:ea typeface="Aptos Mono" pitchFamily="34" charset="-122"/>
                <a:cs typeface="Aptos Mono" pitchFamily="34" charset="-120"/>
              </a:rPr>
              <a:t>5</a:t>
            </a:r>
            <a:endParaRPr lang="en-US" sz="1200" dirty="0"/>
          </a:p>
        </p:txBody>
      </p:sp>
      <p:sp>
        <p:nvSpPr>
          <p:cNvPr id="10" name="Shape 7"/>
          <p:cNvSpPr/>
          <p:nvPr/>
        </p:nvSpPr>
        <p:spPr>
          <a:xfrm>
            <a:off x="566928" y="1444752"/>
            <a:ext cx="4983480" cy="3383280"/>
          </a:xfrm>
          <a:prstGeom prst="rect">
            <a:avLst/>
          </a:prstGeom>
          <a:solidFill>
            <a:srgbClr val="FCE6F4"/>
          </a:solidFill>
          <a:ln w="12700">
            <a:solidFill>
              <a:srgbClr val="FCE6F4"/>
            </a:solidFill>
            <a:prstDash val="solid"/>
          </a:ln>
        </p:spPr>
      </p:sp>
      <p:pic>
        <p:nvPicPr>
          <p:cNvPr id="11" name="Image 0" descr="Omnigent mascot">    </p:cNvPr>
          <p:cNvPicPr>
            <a:picLocks noChangeAspect="1"/>
          </p:cNvPicPr>
          <p:nvPr/>
        </p:nvPicPr>
        <p:blipFill>
          <a:blip r:embed="rId1"/>
          <a:stretch>
            <a:fillRect/>
          </a:stretch>
        </p:blipFill>
        <p:spPr>
          <a:xfrm>
            <a:off x="804672" y="1664208"/>
            <a:ext cx="713232" cy="713232"/>
          </a:xfrm>
          <a:prstGeom prst="rect">
            <a:avLst/>
          </a:prstGeom>
        </p:spPr>
      </p:pic>
      <p:sp>
        <p:nvSpPr>
          <p:cNvPr id="12" name="Text 8"/>
          <p:cNvSpPr/>
          <p:nvPr/>
        </p:nvSpPr>
        <p:spPr>
          <a:xfrm>
            <a:off x="804672" y="2542032"/>
            <a:ext cx="4434840" cy="1097280"/>
          </a:xfrm>
          <a:prstGeom prst="rect">
            <a:avLst/>
          </a:prstGeom>
          <a:noFill/>
          <a:ln/>
        </p:spPr>
        <p:txBody>
          <a:bodyPr wrap="square" lIns="0" tIns="0" rIns="0" bIns="0" rtlCol="0" anchor="ctr">
            <a:normAutofit/>
          </a:bodyPr>
          <a:lstStyle/>
          <a:p>
            <a:pPr algn="l" indent="0" marL="0">
              <a:buNone/>
            </a:pPr>
            <a:r>
              <a:rPr lang="en-US" sz="3400" b="1" dirty="0">
                <a:solidFill>
                  <a:srgbClr val="15131A"/>
                </a:solidFill>
                <a:latin typeface="Aptos Display" pitchFamily="34" charset="0"/>
                <a:ea typeface="Aptos Display" pitchFamily="34" charset="-122"/>
                <a:cs typeface="Aptos Display" pitchFamily="34" charset="-120"/>
              </a:rPr>
              <a:t>Keep agent work addressable,</a:t>
            </a:r>
            <a:endParaRPr lang="en-US" sz="3400" dirty="0"/>
          </a:p>
          <a:p>
            <a:pPr algn="l" indent="0" marL="0">
              <a:buNone/>
            </a:pPr>
            <a:r>
              <a:rPr lang="en-US" sz="3400" b="1" dirty="0">
                <a:solidFill>
                  <a:srgbClr val="15131A"/>
                </a:solidFill>
                <a:latin typeface="Aptos Display" pitchFamily="34" charset="0"/>
                <a:ea typeface="Aptos Display" pitchFamily="34" charset="-122"/>
                <a:cs typeface="Aptos Display" pitchFamily="34" charset="-120"/>
              </a:rPr>
              <a:t>even when the client changes.</a:t>
            </a:r>
            <a:endParaRPr lang="en-US" sz="3400" dirty="0"/>
          </a:p>
        </p:txBody>
      </p:sp>
      <p:sp>
        <p:nvSpPr>
          <p:cNvPr id="13" name="Text 9"/>
          <p:cNvSpPr/>
          <p:nvPr/>
        </p:nvSpPr>
        <p:spPr>
          <a:xfrm>
            <a:off x="804672" y="3822192"/>
            <a:ext cx="4434840" cy="658368"/>
          </a:xfrm>
          <a:prstGeom prst="rect">
            <a:avLst/>
          </a:prstGeom>
          <a:noFill/>
          <a:ln/>
        </p:spPr>
        <p:txBody>
          <a:bodyPr wrap="square" lIns="0" tIns="0" rIns="0" bIns="0" rtlCol="0" anchor="ctr">
            <a:normAutofit/>
          </a:bodyPr>
          <a:lstStyle/>
          <a:p>
            <a:pPr algn="l" indent="0" marL="0">
              <a:buNone/>
            </a:pPr>
            <a:r>
              <a:rPr lang="en-US" sz="2400" dirty="0">
                <a:solidFill>
                  <a:srgbClr val="5C5765"/>
                </a:solidFill>
                <a:latin typeface="Aptos" pitchFamily="34" charset="0"/>
                <a:ea typeface="Aptos" pitchFamily="34" charset="-122"/>
                <a:cs typeface="Aptos" pitchFamily="34" charset="-120"/>
              </a:rPr>
              <a:t>An open source meta-harness for work that spans tools and agents.</a:t>
            </a:r>
            <a:endParaRPr lang="en-US" sz="2400" dirty="0"/>
          </a:p>
        </p:txBody>
      </p:sp>
      <p:sp>
        <p:nvSpPr>
          <p:cNvPr id="14" name="Shape 10"/>
          <p:cNvSpPr/>
          <p:nvPr/>
        </p:nvSpPr>
        <p:spPr>
          <a:xfrm>
            <a:off x="5989320" y="1645920"/>
            <a:ext cx="384048" cy="384048"/>
          </a:xfrm>
          <a:prstGeom prst="ellipse">
            <a:avLst/>
          </a:prstGeom>
          <a:solidFill>
            <a:srgbClr val="AD0C72"/>
          </a:solidFill>
          <a:ln w="12700">
            <a:solidFill>
              <a:srgbClr val="AD0C72"/>
            </a:solidFill>
            <a:prstDash val="solid"/>
          </a:ln>
        </p:spPr>
      </p:sp>
      <p:sp>
        <p:nvSpPr>
          <p:cNvPr id="15" name="Text 11"/>
          <p:cNvSpPr/>
          <p:nvPr/>
        </p:nvSpPr>
        <p:spPr>
          <a:xfrm>
            <a:off x="5989320" y="1737360"/>
            <a:ext cx="384048" cy="146304"/>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6" name="Text 12"/>
          <p:cNvSpPr/>
          <p:nvPr/>
        </p:nvSpPr>
        <p:spPr>
          <a:xfrm>
            <a:off x="6583680" y="1572768"/>
            <a:ext cx="4206240" cy="530352"/>
          </a:xfrm>
          <a:prstGeom prst="rect">
            <a:avLst/>
          </a:prstGeom>
          <a:noFill/>
          <a:ln/>
        </p:spPr>
        <p:txBody>
          <a:bodyPr wrap="square" lIns="0" tIns="0" rIns="0" bIns="0" rtlCol="0" anchor="ctr">
            <a:normAutofit/>
          </a:bodyPr>
          <a:lstStyle/>
          <a:p>
            <a:pPr algn="l" indent="0" marL="0">
              <a:buNone/>
            </a:pPr>
            <a:r>
              <a:rPr lang="en-US" sz="2400" b="1" dirty="0">
                <a:solidFill>
                  <a:srgbClr val="15131A"/>
                </a:solidFill>
                <a:latin typeface="Aptos" pitchFamily="34" charset="0"/>
                <a:ea typeface="Aptos" pitchFamily="34" charset="-122"/>
                <a:cs typeface="Aptos" pitchFamily="34" charset="-120"/>
              </a:rPr>
              <a:t>Server-backed work record</a:t>
            </a:r>
            <a:endParaRPr lang="en-US" sz="2400" dirty="0"/>
          </a:p>
        </p:txBody>
      </p:sp>
      <p:sp>
        <p:nvSpPr>
          <p:cNvPr id="17" name="Shape 13"/>
          <p:cNvSpPr/>
          <p:nvPr/>
        </p:nvSpPr>
        <p:spPr>
          <a:xfrm>
            <a:off x="6181344" y="2057400"/>
            <a:ext cx="0" cy="393192"/>
          </a:xfrm>
          <a:prstGeom prst="line">
            <a:avLst/>
          </a:prstGeom>
          <a:noFill/>
          <a:ln w="19050">
            <a:solidFill>
              <a:srgbClr val="AD0C72"/>
            </a:solidFill>
            <a:prstDash val="solid"/>
            <a:tailEnd type="triangle"/>
          </a:ln>
        </p:spPr>
      </p:sp>
      <p:sp>
        <p:nvSpPr>
          <p:cNvPr id="18" name="Shape 14"/>
          <p:cNvSpPr/>
          <p:nvPr/>
        </p:nvSpPr>
        <p:spPr>
          <a:xfrm>
            <a:off x="5989320" y="2496312"/>
            <a:ext cx="384048" cy="384048"/>
          </a:xfrm>
          <a:prstGeom prst="ellipse">
            <a:avLst/>
          </a:prstGeom>
          <a:solidFill>
            <a:srgbClr val="FCE6F4"/>
          </a:solidFill>
          <a:ln w="12700">
            <a:solidFill>
              <a:srgbClr val="FCE6F4"/>
            </a:solidFill>
            <a:prstDash val="solid"/>
          </a:ln>
        </p:spPr>
      </p:sp>
      <p:sp>
        <p:nvSpPr>
          <p:cNvPr id="19" name="Text 15"/>
          <p:cNvSpPr/>
          <p:nvPr/>
        </p:nvSpPr>
        <p:spPr>
          <a:xfrm>
            <a:off x="5989320" y="2587752"/>
            <a:ext cx="384048" cy="146304"/>
          </a:xfrm>
          <a:prstGeom prst="rect">
            <a:avLst/>
          </a:prstGeom>
          <a:noFill/>
          <a:ln/>
        </p:spPr>
        <p:txBody>
          <a:bodyPr wrap="square" lIns="0" tIns="0" rIns="0" bIns="0" rtlCol="0" anchor="ctr">
            <a:normAutofit/>
          </a:bodyPr>
          <a:lstStyle/>
          <a:p>
            <a:pPr algn="ctr" indent="0" marL="0">
              <a:buNone/>
            </a:pPr>
            <a:r>
              <a:rPr lang="en-US" sz="1100" b="1" dirty="0">
                <a:solidFill>
                  <a:srgbClr val="AD0C72"/>
                </a:solidFill>
                <a:latin typeface="Aptos" pitchFamily="34" charset="0"/>
                <a:ea typeface="Aptos" pitchFamily="34" charset="-122"/>
                <a:cs typeface="Aptos" pitchFamily="34" charset="-120"/>
              </a:rPr>
              <a:t>2</a:t>
            </a:r>
            <a:endParaRPr lang="en-US" sz="1100" dirty="0"/>
          </a:p>
        </p:txBody>
      </p:sp>
      <p:sp>
        <p:nvSpPr>
          <p:cNvPr id="20" name="Text 16"/>
          <p:cNvSpPr/>
          <p:nvPr/>
        </p:nvSpPr>
        <p:spPr>
          <a:xfrm>
            <a:off x="6583680" y="2423160"/>
            <a:ext cx="4206240" cy="530352"/>
          </a:xfrm>
          <a:prstGeom prst="rect">
            <a:avLst/>
          </a:prstGeom>
          <a:noFill/>
          <a:ln/>
        </p:spPr>
        <p:txBody>
          <a:bodyPr wrap="square" lIns="0" tIns="0" rIns="0" bIns="0" rtlCol="0" anchor="ctr">
            <a:normAutofit/>
          </a:bodyPr>
          <a:lstStyle/>
          <a:p>
            <a:pPr algn="l" indent="0" marL="0">
              <a:buNone/>
            </a:pPr>
            <a:r>
              <a:rPr lang="en-US" sz="2400" b="1" dirty="0">
                <a:solidFill>
                  <a:srgbClr val="15131A"/>
                </a:solidFill>
                <a:latin typeface="Aptos" pitchFamily="34" charset="0"/>
                <a:ea typeface="Aptos" pitchFamily="34" charset="-122"/>
                <a:cs typeface="Aptos" pitchFamily="34" charset="-120"/>
              </a:rPr>
              <a:t>Multiple clients</a:t>
            </a:r>
            <a:endParaRPr lang="en-US" sz="2400" dirty="0"/>
          </a:p>
        </p:txBody>
      </p:sp>
      <p:sp>
        <p:nvSpPr>
          <p:cNvPr id="21" name="Shape 17"/>
          <p:cNvSpPr/>
          <p:nvPr/>
        </p:nvSpPr>
        <p:spPr>
          <a:xfrm>
            <a:off x="6181344" y="2907792"/>
            <a:ext cx="0" cy="393192"/>
          </a:xfrm>
          <a:prstGeom prst="line">
            <a:avLst/>
          </a:prstGeom>
          <a:noFill/>
          <a:ln w="19050">
            <a:solidFill>
              <a:srgbClr val="AD0C72"/>
            </a:solidFill>
            <a:prstDash val="solid"/>
            <a:tailEnd type="triangle"/>
          </a:ln>
        </p:spPr>
      </p:sp>
      <p:sp>
        <p:nvSpPr>
          <p:cNvPr id="22" name="Shape 18"/>
          <p:cNvSpPr/>
          <p:nvPr/>
        </p:nvSpPr>
        <p:spPr>
          <a:xfrm>
            <a:off x="5989320" y="3346704"/>
            <a:ext cx="384048" cy="384048"/>
          </a:xfrm>
          <a:prstGeom prst="ellipse">
            <a:avLst/>
          </a:prstGeom>
          <a:solidFill>
            <a:srgbClr val="FCE6F4"/>
          </a:solidFill>
          <a:ln w="12700">
            <a:solidFill>
              <a:srgbClr val="FCE6F4"/>
            </a:solidFill>
            <a:prstDash val="solid"/>
          </a:ln>
        </p:spPr>
      </p:sp>
      <p:sp>
        <p:nvSpPr>
          <p:cNvPr id="23" name="Text 19"/>
          <p:cNvSpPr/>
          <p:nvPr/>
        </p:nvSpPr>
        <p:spPr>
          <a:xfrm>
            <a:off x="5989320" y="3438144"/>
            <a:ext cx="384048" cy="146304"/>
          </a:xfrm>
          <a:prstGeom prst="rect">
            <a:avLst/>
          </a:prstGeom>
          <a:noFill/>
          <a:ln/>
        </p:spPr>
        <p:txBody>
          <a:bodyPr wrap="square" lIns="0" tIns="0" rIns="0" bIns="0" rtlCol="0" anchor="ctr">
            <a:normAutofit/>
          </a:bodyPr>
          <a:lstStyle/>
          <a:p>
            <a:pPr algn="ctr" indent="0" marL="0">
              <a:buNone/>
            </a:pPr>
            <a:r>
              <a:rPr lang="en-US" sz="1100" b="1" dirty="0">
                <a:solidFill>
                  <a:srgbClr val="AD0C72"/>
                </a:solidFill>
                <a:latin typeface="Aptos" pitchFamily="34" charset="0"/>
                <a:ea typeface="Aptos" pitchFamily="34" charset="-122"/>
                <a:cs typeface="Aptos" pitchFamily="34" charset="-120"/>
              </a:rPr>
              <a:t>3</a:t>
            </a:r>
            <a:endParaRPr lang="en-US" sz="1100" dirty="0"/>
          </a:p>
        </p:txBody>
      </p:sp>
      <p:sp>
        <p:nvSpPr>
          <p:cNvPr id="24" name="Text 20"/>
          <p:cNvSpPr/>
          <p:nvPr/>
        </p:nvSpPr>
        <p:spPr>
          <a:xfrm>
            <a:off x="6583680" y="3273552"/>
            <a:ext cx="4206240" cy="530352"/>
          </a:xfrm>
          <a:prstGeom prst="rect">
            <a:avLst/>
          </a:prstGeom>
          <a:noFill/>
          <a:ln/>
        </p:spPr>
        <p:txBody>
          <a:bodyPr wrap="square" lIns="0" tIns="0" rIns="0" bIns="0" rtlCol="0" anchor="ctr">
            <a:normAutofit/>
          </a:bodyPr>
          <a:lstStyle/>
          <a:p>
            <a:pPr algn="l" indent="0" marL="0">
              <a:buNone/>
            </a:pPr>
            <a:r>
              <a:rPr lang="en-US" sz="2400" b="1" dirty="0">
                <a:solidFill>
                  <a:srgbClr val="15131A"/>
                </a:solidFill>
                <a:latin typeface="Aptos" pitchFamily="34" charset="0"/>
                <a:ea typeface="Aptos" pitchFamily="34" charset="-122"/>
                <a:cs typeface="Aptos" pitchFamily="34" charset="-120"/>
              </a:rPr>
              <a:t>Explicit session forks</a:t>
            </a:r>
            <a:endParaRPr lang="en-US" sz="2400" dirty="0"/>
          </a:p>
        </p:txBody>
      </p:sp>
      <p:sp>
        <p:nvSpPr>
          <p:cNvPr id="25" name="Shape 21"/>
          <p:cNvSpPr/>
          <p:nvPr/>
        </p:nvSpPr>
        <p:spPr>
          <a:xfrm>
            <a:off x="6181344" y="3758184"/>
            <a:ext cx="0" cy="393192"/>
          </a:xfrm>
          <a:prstGeom prst="line">
            <a:avLst/>
          </a:prstGeom>
          <a:noFill/>
          <a:ln w="19050">
            <a:solidFill>
              <a:srgbClr val="AD0C72"/>
            </a:solidFill>
            <a:prstDash val="solid"/>
            <a:tailEnd type="triangle"/>
          </a:ln>
        </p:spPr>
      </p:sp>
      <p:sp>
        <p:nvSpPr>
          <p:cNvPr id="26" name="Shape 22"/>
          <p:cNvSpPr/>
          <p:nvPr/>
        </p:nvSpPr>
        <p:spPr>
          <a:xfrm>
            <a:off x="5989320" y="4197096"/>
            <a:ext cx="384048" cy="384048"/>
          </a:xfrm>
          <a:prstGeom prst="ellipse">
            <a:avLst/>
          </a:prstGeom>
          <a:solidFill>
            <a:srgbClr val="FCE6F4"/>
          </a:solidFill>
          <a:ln w="12700">
            <a:solidFill>
              <a:srgbClr val="FCE6F4"/>
            </a:solidFill>
            <a:prstDash val="solid"/>
          </a:ln>
        </p:spPr>
      </p:sp>
      <p:sp>
        <p:nvSpPr>
          <p:cNvPr id="27" name="Text 23"/>
          <p:cNvSpPr/>
          <p:nvPr/>
        </p:nvSpPr>
        <p:spPr>
          <a:xfrm>
            <a:off x="5989320" y="4288536"/>
            <a:ext cx="384048" cy="146304"/>
          </a:xfrm>
          <a:prstGeom prst="rect">
            <a:avLst/>
          </a:prstGeom>
          <a:noFill/>
          <a:ln/>
        </p:spPr>
        <p:txBody>
          <a:bodyPr wrap="square" lIns="0" tIns="0" rIns="0" bIns="0" rtlCol="0" anchor="ctr">
            <a:normAutofit/>
          </a:bodyPr>
          <a:lstStyle/>
          <a:p>
            <a:pPr algn="ctr" indent="0" marL="0">
              <a:buNone/>
            </a:pPr>
            <a:r>
              <a:rPr lang="en-US" sz="1100" b="1" dirty="0">
                <a:solidFill>
                  <a:srgbClr val="AD0C72"/>
                </a:solidFill>
                <a:latin typeface="Aptos" pitchFamily="34" charset="0"/>
                <a:ea typeface="Aptos" pitchFamily="34" charset="-122"/>
                <a:cs typeface="Aptos" pitchFamily="34" charset="-120"/>
              </a:rPr>
              <a:t>4</a:t>
            </a:r>
            <a:endParaRPr lang="en-US" sz="1100" dirty="0"/>
          </a:p>
        </p:txBody>
      </p:sp>
      <p:sp>
        <p:nvSpPr>
          <p:cNvPr id="28" name="Text 24"/>
          <p:cNvSpPr/>
          <p:nvPr/>
        </p:nvSpPr>
        <p:spPr>
          <a:xfrm>
            <a:off x="6583680" y="4123944"/>
            <a:ext cx="4206240" cy="530352"/>
          </a:xfrm>
          <a:prstGeom prst="rect">
            <a:avLst/>
          </a:prstGeom>
          <a:noFill/>
          <a:ln/>
        </p:spPr>
        <p:txBody>
          <a:bodyPr wrap="square" lIns="0" tIns="0" rIns="0" bIns="0" rtlCol="0" anchor="ctr">
            <a:normAutofit/>
          </a:bodyPr>
          <a:lstStyle/>
          <a:p>
            <a:pPr algn="l" indent="0" marL="0">
              <a:buNone/>
            </a:pPr>
            <a:r>
              <a:rPr lang="en-US" sz="2400" b="1" dirty="0">
                <a:solidFill>
                  <a:srgbClr val="15131A"/>
                </a:solidFill>
                <a:latin typeface="Aptos" pitchFamily="34" charset="0"/>
                <a:ea typeface="Aptos" pitchFamily="34" charset="-122"/>
                <a:cs typeface="Aptos" pitchFamily="34" charset="-120"/>
              </a:rPr>
              <a:t>Shared policy and usage</a:t>
            </a:r>
            <a:endParaRPr lang="en-US" sz="2400" dirty="0"/>
          </a:p>
        </p:txBody>
      </p:sp>
      <p:sp>
        <p:nvSpPr>
          <p:cNvPr id="29" name="Text 25"/>
          <p:cNvSpPr/>
          <p:nvPr/>
        </p:nvSpPr>
        <p:spPr>
          <a:xfrm>
            <a:off x="1051560" y="5138928"/>
            <a:ext cx="10058400" cy="384048"/>
          </a:xfrm>
          <a:prstGeom prst="rect">
            <a:avLst/>
          </a:prstGeom>
          <a:noFill/>
          <a:ln/>
        </p:spPr>
        <p:txBody>
          <a:bodyPr wrap="square" lIns="0" tIns="0" rIns="0" bIns="0" rtlCol="0" anchor="ctr">
            <a:normAutofit/>
          </a:bodyPr>
          <a:lstStyle/>
          <a:p>
            <a:pPr algn="ctr" indent="0" marL="0">
              <a:buNone/>
            </a:pPr>
            <a:r>
              <a:rPr lang="en-US" sz="2100" b="1" dirty="0">
                <a:solidFill>
                  <a:srgbClr val="5C5765"/>
                </a:solidFill>
                <a:latin typeface="Aptos" pitchFamily="34" charset="0"/>
                <a:ea typeface="Aptos" pitchFamily="34" charset="-122"/>
                <a:cs typeface="Aptos" pitchFamily="34" charset="-120"/>
              </a:rPr>
              <a:t>Apache-2.0 · alpha · shared record, not identical harness behavior</a:t>
            </a:r>
            <a:endParaRPr lang="en-US" sz="2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56032"/>
            <a:ext cx="411480" cy="201168"/>
          </a:xfrm>
          <a:prstGeom prst="rect">
            <a:avLst/>
          </a:prstGeom>
          <a:noFill/>
          <a:ln/>
        </p:spPr>
        <p:txBody>
          <a:bodyPr wrap="square" lIns="0" tIns="0" rIns="0" bIns="0" rtlCol="0" anchor="ctr">
            <a:normAutofit/>
          </a:bodyPr>
          <a:lstStyle/>
          <a:p>
            <a:pPr algn="l" indent="0" marL="0">
              <a:buNone/>
            </a:pPr>
            <a:r>
              <a:rPr lang="en-US" sz="1100" b="1" dirty="0">
                <a:solidFill>
                  <a:srgbClr val="AD0C72"/>
                </a:solidFill>
                <a:latin typeface="Aptos Mono" pitchFamily="34" charset="0"/>
                <a:ea typeface="Aptos Mono" pitchFamily="34" charset="-122"/>
                <a:cs typeface="Aptos Mono" pitchFamily="34" charset="-120"/>
              </a:rPr>
              <a:t>06</a:t>
            </a:r>
            <a:endParaRPr lang="en-US" sz="1100" dirty="0"/>
          </a:p>
        </p:txBody>
      </p:sp>
      <p:sp>
        <p:nvSpPr>
          <p:cNvPr id="3" name="Text 1"/>
          <p:cNvSpPr/>
          <p:nvPr/>
        </p:nvSpPr>
        <p:spPr>
          <a:xfrm>
            <a:off x="8961120" y="256032"/>
            <a:ext cx="2606040" cy="201168"/>
          </a:xfrm>
          <a:prstGeom prst="rect">
            <a:avLst/>
          </a:prstGeom>
          <a:noFill/>
          <a:ln/>
        </p:spPr>
        <p:txBody>
          <a:bodyPr wrap="square" lIns="0" tIns="0" rIns="0" bIns="0" rtlCol="0" anchor="ctr">
            <a:normAutofit/>
          </a:bodyPr>
          <a:lstStyle/>
          <a:p>
            <a:pPr algn="r" indent="0" marL="0">
              <a:buNone/>
            </a:pPr>
            <a:r>
              <a:rPr lang="en-US" sz="1000" b="1" dirty="0">
                <a:solidFill>
                  <a:srgbClr val="5C5765"/>
                </a:solidFill>
                <a:latin typeface="Aptos" pitchFamily="34" charset="0"/>
                <a:ea typeface="Aptos" pitchFamily="34" charset="-122"/>
                <a:cs typeface="Aptos" pitchFamily="34" charset="-120"/>
              </a:rPr>
              <a:t>Integration taxonomy</a:t>
            </a:r>
            <a:endParaRPr lang="en-US" sz="1000" dirty="0"/>
          </a:p>
        </p:txBody>
      </p:sp>
      <p:sp>
        <p:nvSpPr>
          <p:cNvPr id="4" name="Shape 2"/>
          <p:cNvSpPr/>
          <p:nvPr/>
        </p:nvSpPr>
        <p:spPr>
          <a:xfrm>
            <a:off x="566928" y="566928"/>
            <a:ext cx="11045952" cy="0"/>
          </a:xfrm>
          <a:prstGeom prst="line">
            <a:avLst/>
          </a:prstGeom>
          <a:noFill/>
          <a:ln w="12700">
            <a:solidFill>
              <a:srgbClr val="ECE8EE"/>
            </a:solidFill>
            <a:prstDash val="solid"/>
          </a:ln>
        </p:spPr>
      </p:sp>
      <p:sp>
        <p:nvSpPr>
          <p:cNvPr id="5" name="Text 3"/>
          <p:cNvSpPr/>
          <p:nvPr/>
        </p:nvSpPr>
        <p:spPr>
          <a:xfrm>
            <a:off x="658368" y="786384"/>
            <a:ext cx="10881360" cy="566928"/>
          </a:xfrm>
          <a:prstGeom prst="rect">
            <a:avLst/>
          </a:prstGeom>
          <a:noFill/>
          <a:ln/>
        </p:spPr>
        <p:txBody>
          <a:bodyPr wrap="square" lIns="0" tIns="0" rIns="0" bIns="0" rtlCol="0" anchor="ctr">
            <a:normAutofit/>
          </a:bodyPr>
          <a:lstStyle/>
          <a:p>
            <a:pPr algn="l" indent="0" marL="0">
              <a:buNone/>
            </a:pPr>
            <a:r>
              <a:rPr lang="en-US" sz="3100" b="1" dirty="0">
                <a:solidFill>
                  <a:srgbClr val="15131A"/>
                </a:solidFill>
                <a:latin typeface="Aptos Display" pitchFamily="34" charset="0"/>
                <a:ea typeface="Aptos Display" pitchFamily="34" charset="-122"/>
                <a:cs typeface="Aptos Display" pitchFamily="34" charset="-120"/>
              </a:rPr>
              <a:t>How harnesses connect</a:t>
            </a:r>
            <a:endParaRPr lang="en-US" sz="3100" dirty="0"/>
          </a:p>
        </p:txBody>
      </p:sp>
      <p:sp>
        <p:nvSpPr>
          <p:cNvPr id="6" name="Text 4"/>
          <p:cNvSpPr/>
          <p:nvPr/>
        </p:nvSpPr>
        <p:spPr>
          <a:xfrm>
            <a:off x="658368" y="6144768"/>
            <a:ext cx="10789920" cy="182880"/>
          </a:xfrm>
          <a:prstGeom prst="rect">
            <a:avLst/>
          </a:prstGeom>
          <a:noFill/>
          <a:ln/>
        </p:spPr>
        <p:txBody>
          <a:bodyPr wrap="square" lIns="0" tIns="0" rIns="0" bIns="0" rtlCol="0" anchor="ctr">
            <a:normAutofit/>
          </a:bodyPr>
          <a:lstStyle/>
          <a:p>
            <a:pPr algn="l" indent="0" marL="0">
              <a:buNone/>
            </a:pPr>
            <a:r>
              <a:rPr lang="en-US" sz="1100" dirty="0">
                <a:solidFill>
                  <a:srgbClr val="5C5765"/>
                </a:solidFill>
                <a:latin typeface="Aptos" pitchFamily="34" charset="0"/>
                <a:ea typeface="Aptos" pitchFamily="34" charset="-122"/>
                <a:cs typeface="Aptos" pitchFamily="34" charset="-120"/>
              </a:rPr>
              <a:t>Source: Omnigent harness architecture · docs/build/harnesses</a:t>
            </a:r>
            <a:endParaRPr lang="en-US" sz="1100" dirty="0"/>
          </a:p>
        </p:txBody>
      </p:sp>
      <p:sp>
        <p:nvSpPr>
          <p:cNvPr id="7" name="Text 5"/>
          <p:cNvSpPr/>
          <p:nvPr/>
        </p:nvSpPr>
        <p:spPr>
          <a:xfrm>
            <a:off x="658368" y="6400800"/>
            <a:ext cx="10469880" cy="219456"/>
          </a:xfrm>
          <a:prstGeom prst="rect">
            <a:avLst/>
          </a:prstGeom>
          <a:noFill/>
          <a:ln/>
        </p:spPr>
        <p:txBody>
          <a:bodyPr wrap="square" lIns="0" tIns="0" rIns="0" bIns="0" rtlCol="0" anchor="ctr">
            <a:normAutofit/>
          </a:bodyPr>
          <a:lstStyle/>
          <a:p>
            <a:pPr algn="l" indent="0" marL="0">
              <a:buNone/>
            </a:pPr>
            <a:r>
              <a:rPr lang="en-US" sz="1450" b="1" dirty="0">
                <a:solidFill>
                  <a:srgbClr val="AD0C72"/>
                </a:solidFill>
                <a:latin typeface="Aptos" pitchFamily="34" charset="0"/>
                <a:ea typeface="Aptos" pitchFamily="34" charset="-122"/>
                <a:cs typeface="Aptos" pitchFamily="34" charset="-120"/>
              </a:rPr>
              <a:t>@anxkhn</a:t>
            </a:r>
            <a:pPr algn="l" indent="0" marL="0">
              <a:buNone/>
            </a:pPr>
            <a:r>
              <a:rPr lang="en-US" sz="1450" b="1" dirty="0">
                <a:solidFill>
                  <a:srgbClr val="5C5765"/>
                </a:solidFill>
                <a:latin typeface="Aptos" pitchFamily="34" charset="0"/>
                <a:ea typeface="Aptos" pitchFamily="34" charset="-122"/>
                <a:cs typeface="Aptos" pitchFamily="34" charset="-120"/>
              </a:rPr>
              <a:t>  ·  #DevDays  ·  #DevDaysMumbai  ·  #mumtechup</a:t>
            </a:r>
            <a:endParaRPr lang="en-US" sz="1450" dirty="0"/>
          </a:p>
        </p:txBody>
      </p:sp>
      <p:sp>
        <p:nvSpPr>
          <p:cNvPr id="8" name="Text 6"/>
          <p:cNvSpPr/>
          <p:nvPr/>
        </p:nvSpPr>
        <p:spPr>
          <a:xfrm>
            <a:off x="11064240" y="6419088"/>
            <a:ext cx="438912" cy="182880"/>
          </a:xfrm>
          <a:prstGeom prst="rect">
            <a:avLst/>
          </a:prstGeom>
          <a:noFill/>
          <a:ln/>
        </p:spPr>
        <p:txBody>
          <a:bodyPr wrap="square" lIns="0" tIns="0" rIns="0" bIns="0" rtlCol="0" anchor="ctr">
            <a:normAutofit/>
          </a:bodyPr>
          <a:lstStyle/>
          <a:p>
            <a:pPr algn="r" indent="0" marL="0">
              <a:buNone/>
            </a:pPr>
            <a:r>
              <a:rPr lang="en-US" sz="1200" b="1" dirty="0">
                <a:solidFill>
                  <a:srgbClr val="5C5765"/>
                </a:solidFill>
                <a:latin typeface="Aptos Mono" pitchFamily="34" charset="0"/>
                <a:ea typeface="Aptos Mono" pitchFamily="34" charset="-122"/>
                <a:cs typeface="Aptos Mono" pitchFamily="34" charset="-120"/>
              </a:rPr>
              <a:t>6</a:t>
            </a:r>
            <a:endParaRPr lang="en-US" sz="1200" dirty="0"/>
          </a:p>
        </p:txBody>
      </p:sp>
      <p:sp>
        <p:nvSpPr>
          <p:cNvPr id="10" name="Shape 7"/>
          <p:cNvSpPr/>
          <p:nvPr/>
        </p:nvSpPr>
        <p:spPr>
          <a:xfrm>
            <a:off x="658368" y="1600200"/>
            <a:ext cx="5166360" cy="1691640"/>
          </a:xfrm>
          <a:prstGeom prst="rect">
            <a:avLst/>
          </a:prstGeom>
          <a:solidFill>
            <a:srgbClr val="FCE6F4"/>
          </a:solidFill>
          <a:ln w="12700">
            <a:solidFill>
              <a:srgbClr val="FCE6F4"/>
            </a:solidFill>
            <a:prstDash val="solid"/>
          </a:ln>
        </p:spPr>
      </p:sp>
      <p:sp>
        <p:nvSpPr>
          <p:cNvPr id="11" name="Text 8"/>
          <p:cNvSpPr/>
          <p:nvPr/>
        </p:nvSpPr>
        <p:spPr>
          <a:xfrm>
            <a:off x="886968" y="1783080"/>
            <a:ext cx="3291840" cy="274320"/>
          </a:xfrm>
          <a:prstGeom prst="rect">
            <a:avLst/>
          </a:prstGeom>
          <a:noFill/>
          <a:ln/>
        </p:spPr>
        <p:txBody>
          <a:bodyPr wrap="square" lIns="0" tIns="0" rIns="0" bIns="0" rtlCol="0" anchor="ctr">
            <a:normAutofit/>
          </a:bodyPr>
          <a:lstStyle/>
          <a:p>
            <a:pPr algn="l" indent="0" marL="0">
              <a:buNone/>
            </a:pPr>
            <a:r>
              <a:rPr lang="en-US" sz="1500" b="1" dirty="0">
                <a:solidFill>
                  <a:srgbClr val="AD0C72"/>
                </a:solidFill>
                <a:latin typeface="Aptos Mono" pitchFamily="34" charset="0"/>
                <a:ea typeface="Aptos Mono" pitchFamily="34" charset="-122"/>
                <a:cs typeface="Aptos Mono" pitchFamily="34" charset="-120"/>
              </a:rPr>
              <a:t>DIRECT PYTHON SDK</a:t>
            </a:r>
            <a:endParaRPr lang="en-US" sz="1500" dirty="0"/>
          </a:p>
        </p:txBody>
      </p:sp>
      <p:sp>
        <p:nvSpPr>
          <p:cNvPr id="12" name="Shape 9"/>
          <p:cNvSpPr/>
          <p:nvPr/>
        </p:nvSpPr>
        <p:spPr>
          <a:xfrm>
            <a:off x="4133088" y="1764792"/>
            <a:ext cx="1463040" cy="310896"/>
          </a:xfrm>
          <a:prstGeom prst="roundRect">
            <a:avLst>
              <a:gd name="adj" fmla="val 50000"/>
            </a:avLst>
          </a:prstGeom>
          <a:solidFill>
            <a:srgbClr val="FFFFFF"/>
          </a:solidFill>
          <a:ln w="12700">
            <a:solidFill>
              <a:srgbClr val="FFFFFF">
                <a:alpha val="0"/>
              </a:srgbClr>
            </a:solidFill>
            <a:prstDash val="solid"/>
          </a:ln>
        </p:spPr>
      </p:sp>
      <p:sp>
        <p:nvSpPr>
          <p:cNvPr id="13" name="Text 10"/>
          <p:cNvSpPr/>
          <p:nvPr/>
        </p:nvSpPr>
        <p:spPr>
          <a:xfrm>
            <a:off x="4206240" y="1801368"/>
            <a:ext cx="1316736" cy="210312"/>
          </a:xfrm>
          <a:prstGeom prst="rect">
            <a:avLst/>
          </a:prstGeom>
          <a:noFill/>
          <a:ln/>
        </p:spPr>
        <p:txBody>
          <a:bodyPr wrap="square" lIns="0" tIns="0" rIns="0" bIns="0" rtlCol="0" anchor="ctr">
            <a:normAutofit/>
          </a:bodyPr>
          <a:lstStyle/>
          <a:p>
            <a:pPr algn="ctr" indent="0" marL="0">
              <a:buNone/>
            </a:pPr>
            <a:r>
              <a:rPr lang="en-US" sz="1300" b="1" dirty="0">
                <a:solidFill>
                  <a:srgbClr val="AD0C72"/>
                </a:solidFill>
                <a:latin typeface="Aptos Mono" pitchFamily="34" charset="0"/>
                <a:ea typeface="Aptos Mono" pitchFamily="34" charset="-122"/>
                <a:cs typeface="Aptos Mono" pitchFamily="34" charset="-120"/>
              </a:rPr>
              <a:t>Copilot</a:t>
            </a:r>
            <a:endParaRPr lang="en-US" sz="1300" dirty="0"/>
          </a:p>
        </p:txBody>
      </p:sp>
      <p:sp>
        <p:nvSpPr>
          <p:cNvPr id="14" name="Text 11"/>
          <p:cNvSpPr/>
          <p:nvPr/>
        </p:nvSpPr>
        <p:spPr>
          <a:xfrm>
            <a:off x="886968" y="2194560"/>
            <a:ext cx="4709160" cy="868680"/>
          </a:xfrm>
          <a:prstGeom prst="rect">
            <a:avLst/>
          </a:prstGeom>
          <a:noFill/>
          <a:ln/>
        </p:spPr>
        <p:txBody>
          <a:bodyPr wrap="square" lIns="0" tIns="0" rIns="0" bIns="0" rtlCol="0" anchor="ctr">
            <a:normAutofit/>
          </a:bodyPr>
          <a:lstStyle/>
          <a:p>
            <a:pPr algn="l" indent="0" marL="0">
              <a:buNone/>
            </a:pPr>
            <a:r>
              <a:rPr lang="en-US" sz="1800" dirty="0">
                <a:solidFill>
                  <a:srgbClr val="15131A"/>
                </a:solidFill>
                <a:latin typeface="Aptos" pitchFamily="34" charset="0"/>
                <a:ea typeface="Aptos" pitchFamily="34" charset="-122"/>
                <a:cs typeface="Aptos" pitchFamily="34" charset="-120"/>
              </a:rPr>
              <a:t>github-copilot-sdk embedded in runner process.</a:t>
            </a:r>
            <a:endParaRPr lang="en-US" sz="1800" dirty="0"/>
          </a:p>
          <a:p>
            <a:pPr algn="l" indent="0" marL="0">
              <a:buNone/>
            </a:pPr>
            <a:r>
              <a:rPr lang="en-US" sz="1800" dirty="0">
                <a:solidFill>
                  <a:srgbClr val="15131A"/>
                </a:solidFill>
                <a:latin typeface="Aptos" pitchFamily="34" charset="0"/>
                <a:ea typeface="Aptos" pitchFamily="34" charset="-122"/>
                <a:cs typeface="Aptos" pitchFamily="34" charset="-120"/>
              </a:rPr>
              <a:t>Bundled CLI daemon over local IPC.</a:t>
            </a:r>
            <a:endParaRPr lang="en-US" sz="1800" dirty="0"/>
          </a:p>
        </p:txBody>
      </p:sp>
      <p:sp>
        <p:nvSpPr>
          <p:cNvPr id="15" name="Shape 12"/>
          <p:cNvSpPr/>
          <p:nvPr/>
        </p:nvSpPr>
        <p:spPr>
          <a:xfrm>
            <a:off x="6099048" y="1600200"/>
            <a:ext cx="5166360" cy="1691640"/>
          </a:xfrm>
          <a:prstGeom prst="rect">
            <a:avLst/>
          </a:prstGeom>
          <a:solidFill>
            <a:srgbClr val="F6F3F7"/>
          </a:solidFill>
          <a:ln w="12700">
            <a:solidFill>
              <a:srgbClr val="F6F3F7"/>
            </a:solidFill>
            <a:prstDash val="solid"/>
          </a:ln>
        </p:spPr>
      </p:sp>
      <p:sp>
        <p:nvSpPr>
          <p:cNvPr id="16" name="Text 13"/>
          <p:cNvSpPr/>
          <p:nvPr/>
        </p:nvSpPr>
        <p:spPr>
          <a:xfrm>
            <a:off x="6327648" y="1783080"/>
            <a:ext cx="3291840" cy="274320"/>
          </a:xfrm>
          <a:prstGeom prst="rect">
            <a:avLst/>
          </a:prstGeom>
          <a:noFill/>
          <a:ln/>
        </p:spPr>
        <p:txBody>
          <a:bodyPr wrap="square" lIns="0" tIns="0" rIns="0" bIns="0" rtlCol="0" anchor="ctr">
            <a:normAutofit/>
          </a:bodyPr>
          <a:lstStyle/>
          <a:p>
            <a:pPr algn="l" indent="0" marL="0">
              <a:buNone/>
            </a:pPr>
            <a:r>
              <a:rPr lang="en-US" sz="1500" b="1" dirty="0">
                <a:solidFill>
                  <a:srgbClr val="15131A"/>
                </a:solidFill>
                <a:latin typeface="Aptos Mono" pitchFamily="34" charset="0"/>
                <a:ea typeface="Aptos Mono" pitchFamily="34" charset="-122"/>
                <a:cs typeface="Aptos Mono" pitchFamily="34" charset="-120"/>
              </a:rPr>
              <a:t>NATIVE SDK</a:t>
            </a:r>
            <a:endParaRPr lang="en-US" sz="1500" dirty="0"/>
          </a:p>
        </p:txBody>
      </p:sp>
      <p:sp>
        <p:nvSpPr>
          <p:cNvPr id="17" name="Shape 14"/>
          <p:cNvSpPr/>
          <p:nvPr/>
        </p:nvSpPr>
        <p:spPr>
          <a:xfrm>
            <a:off x="9573768" y="1764792"/>
            <a:ext cx="1463040" cy="310896"/>
          </a:xfrm>
          <a:prstGeom prst="roundRect">
            <a:avLst>
              <a:gd name="adj" fmla="val 50000"/>
            </a:avLst>
          </a:prstGeom>
          <a:solidFill>
            <a:srgbClr val="FFFFFF"/>
          </a:solidFill>
          <a:ln w="12700">
            <a:solidFill>
              <a:srgbClr val="FFFFFF">
                <a:alpha val="0"/>
              </a:srgbClr>
            </a:solidFill>
            <a:prstDash val="solid"/>
          </a:ln>
        </p:spPr>
      </p:sp>
      <p:sp>
        <p:nvSpPr>
          <p:cNvPr id="18" name="Text 15"/>
          <p:cNvSpPr/>
          <p:nvPr/>
        </p:nvSpPr>
        <p:spPr>
          <a:xfrm>
            <a:off x="9646920" y="1801368"/>
            <a:ext cx="1316736" cy="210312"/>
          </a:xfrm>
          <a:prstGeom prst="rect">
            <a:avLst/>
          </a:prstGeom>
          <a:noFill/>
          <a:ln/>
        </p:spPr>
        <p:txBody>
          <a:bodyPr wrap="square" lIns="0" tIns="0" rIns="0" bIns="0" rtlCol="0" anchor="ctr">
            <a:normAutofit/>
          </a:bodyPr>
          <a:lstStyle/>
          <a:p>
            <a:pPr algn="ctr" indent="0" marL="0">
              <a:buNone/>
            </a:pPr>
            <a:r>
              <a:rPr lang="en-US" sz="1300" b="1" dirty="0">
                <a:solidFill>
                  <a:srgbClr val="15131A"/>
                </a:solidFill>
                <a:latin typeface="Aptos Mono" pitchFamily="34" charset="0"/>
                <a:ea typeface="Aptos Mono" pitchFamily="34" charset="-122"/>
                <a:cs typeface="Aptos Mono" pitchFamily="34" charset="-120"/>
              </a:rPr>
              <a:t>Claude Code</a:t>
            </a:r>
            <a:endParaRPr lang="en-US" sz="1300" dirty="0"/>
          </a:p>
        </p:txBody>
      </p:sp>
      <p:sp>
        <p:nvSpPr>
          <p:cNvPr id="19" name="Text 16"/>
          <p:cNvSpPr/>
          <p:nvPr/>
        </p:nvSpPr>
        <p:spPr>
          <a:xfrm>
            <a:off x="6327648" y="2194560"/>
            <a:ext cx="4709160" cy="868680"/>
          </a:xfrm>
          <a:prstGeom prst="rect">
            <a:avLst/>
          </a:prstGeom>
          <a:noFill/>
          <a:ln/>
        </p:spPr>
        <p:txBody>
          <a:bodyPr wrap="square" lIns="0" tIns="0" rIns="0" bIns="0" rtlCol="0" anchor="ctr">
            <a:normAutofit/>
          </a:bodyPr>
          <a:lstStyle/>
          <a:p>
            <a:pPr algn="l" indent="0" marL="0">
              <a:buNone/>
            </a:pPr>
            <a:r>
              <a:rPr lang="en-US" sz="1800" dirty="0">
                <a:solidFill>
                  <a:srgbClr val="15131A"/>
                </a:solidFill>
                <a:latin typeface="Aptos" pitchFamily="34" charset="0"/>
                <a:ea typeface="Aptos" pitchFamily="34" charset="-122"/>
                <a:cs typeface="Aptos" pitchFamily="34" charset="-120"/>
              </a:rPr>
              <a:t>claude-sdk via claude_agent_sdk.</a:t>
            </a:r>
            <a:endParaRPr lang="en-US" sz="1800" dirty="0"/>
          </a:p>
          <a:p>
            <a:pPr algn="l" indent="0" marL="0">
              <a:buNone/>
            </a:pPr>
            <a:r>
              <a:rPr lang="en-US" sz="1800" dirty="0">
                <a:solidFill>
                  <a:srgbClr val="15131A"/>
                </a:solidFill>
                <a:latin typeface="Aptos" pitchFamily="34" charset="0"/>
                <a:ea typeface="Aptos" pitchFamily="34" charset="-122"/>
                <a:cs typeface="Aptos" pitchFamily="34" charset="-120"/>
              </a:rPr>
              <a:t>Directly drives Anthropic agent loop.</a:t>
            </a:r>
            <a:endParaRPr lang="en-US" sz="1800" dirty="0"/>
          </a:p>
        </p:txBody>
      </p:sp>
      <p:sp>
        <p:nvSpPr>
          <p:cNvPr id="20" name="Shape 17"/>
          <p:cNvSpPr/>
          <p:nvPr/>
        </p:nvSpPr>
        <p:spPr>
          <a:xfrm>
            <a:off x="658368" y="3474720"/>
            <a:ext cx="5166360" cy="1691640"/>
          </a:xfrm>
          <a:prstGeom prst="rect">
            <a:avLst/>
          </a:prstGeom>
          <a:solidFill>
            <a:srgbClr val="F6F3F7"/>
          </a:solidFill>
          <a:ln w="12700">
            <a:solidFill>
              <a:srgbClr val="F6F3F7"/>
            </a:solidFill>
            <a:prstDash val="solid"/>
          </a:ln>
        </p:spPr>
      </p:sp>
      <p:sp>
        <p:nvSpPr>
          <p:cNvPr id="21" name="Text 18"/>
          <p:cNvSpPr/>
          <p:nvPr/>
        </p:nvSpPr>
        <p:spPr>
          <a:xfrm>
            <a:off x="886968" y="3657600"/>
            <a:ext cx="3291840" cy="274320"/>
          </a:xfrm>
          <a:prstGeom prst="rect">
            <a:avLst/>
          </a:prstGeom>
          <a:noFill/>
          <a:ln/>
        </p:spPr>
        <p:txBody>
          <a:bodyPr wrap="square" lIns="0" tIns="0" rIns="0" bIns="0" rtlCol="0" anchor="ctr">
            <a:normAutofit/>
          </a:bodyPr>
          <a:lstStyle/>
          <a:p>
            <a:pPr algn="l" indent="0" marL="0">
              <a:buNone/>
            </a:pPr>
            <a:r>
              <a:rPr lang="en-US" sz="1500" b="1" dirty="0">
                <a:solidFill>
                  <a:srgbClr val="15131A"/>
                </a:solidFill>
                <a:latin typeface="Aptos Mono" pitchFamily="34" charset="0"/>
                <a:ea typeface="Aptos Mono" pitchFamily="34" charset="-122"/>
                <a:cs typeface="Aptos Mono" pitchFamily="34" charset="-120"/>
              </a:rPr>
              <a:t>NATIVE CLI BRIDGES</a:t>
            </a:r>
            <a:endParaRPr lang="en-US" sz="1500" dirty="0"/>
          </a:p>
        </p:txBody>
      </p:sp>
      <p:sp>
        <p:nvSpPr>
          <p:cNvPr id="22" name="Shape 19"/>
          <p:cNvSpPr/>
          <p:nvPr/>
        </p:nvSpPr>
        <p:spPr>
          <a:xfrm>
            <a:off x="4133088" y="3639312"/>
            <a:ext cx="1463040" cy="310896"/>
          </a:xfrm>
          <a:prstGeom prst="roundRect">
            <a:avLst>
              <a:gd name="adj" fmla="val 50000"/>
            </a:avLst>
          </a:prstGeom>
          <a:solidFill>
            <a:srgbClr val="FFFFFF"/>
          </a:solidFill>
          <a:ln w="12700">
            <a:solidFill>
              <a:srgbClr val="FFFFFF">
                <a:alpha val="0"/>
              </a:srgbClr>
            </a:solidFill>
            <a:prstDash val="solid"/>
          </a:ln>
        </p:spPr>
      </p:sp>
      <p:sp>
        <p:nvSpPr>
          <p:cNvPr id="23" name="Text 20"/>
          <p:cNvSpPr/>
          <p:nvPr/>
        </p:nvSpPr>
        <p:spPr>
          <a:xfrm>
            <a:off x="4206240" y="3675888"/>
            <a:ext cx="1316736" cy="210312"/>
          </a:xfrm>
          <a:prstGeom prst="rect">
            <a:avLst/>
          </a:prstGeom>
          <a:noFill/>
          <a:ln/>
        </p:spPr>
        <p:txBody>
          <a:bodyPr wrap="square" lIns="0" tIns="0" rIns="0" bIns="0" rtlCol="0" anchor="ctr">
            <a:normAutofit/>
          </a:bodyPr>
          <a:lstStyle/>
          <a:p>
            <a:pPr algn="ctr" indent="0" marL="0">
              <a:buNone/>
            </a:pPr>
            <a:r>
              <a:rPr lang="en-US" sz="1300" b="1" dirty="0">
                <a:solidFill>
                  <a:srgbClr val="15131A"/>
                </a:solidFill>
                <a:latin typeface="Aptos Mono" pitchFamily="34" charset="0"/>
                <a:ea typeface="Aptos Mono" pitchFamily="34" charset="-122"/>
                <a:cs typeface="Aptos Mono" pitchFamily="34" charset="-120"/>
              </a:rPr>
              <a:t>Codex · Cursor · OpenCode · Pi</a:t>
            </a:r>
            <a:endParaRPr lang="en-US" sz="1300" dirty="0"/>
          </a:p>
        </p:txBody>
      </p:sp>
      <p:sp>
        <p:nvSpPr>
          <p:cNvPr id="24" name="Text 21"/>
          <p:cNvSpPr/>
          <p:nvPr/>
        </p:nvSpPr>
        <p:spPr>
          <a:xfrm>
            <a:off x="886968" y="4069080"/>
            <a:ext cx="4709160" cy="868680"/>
          </a:xfrm>
          <a:prstGeom prst="rect">
            <a:avLst/>
          </a:prstGeom>
          <a:noFill/>
          <a:ln/>
        </p:spPr>
        <p:txBody>
          <a:bodyPr wrap="square" lIns="0" tIns="0" rIns="0" bIns="0" rtlCol="0" anchor="ctr">
            <a:normAutofit/>
          </a:bodyPr>
          <a:lstStyle/>
          <a:p>
            <a:pPr algn="l" indent="0" marL="0">
              <a:buNone/>
            </a:pPr>
            <a:r>
              <a:rPr lang="en-US" sz="1800" dirty="0">
                <a:solidFill>
                  <a:srgbClr val="15131A"/>
                </a:solidFill>
                <a:latin typeface="Aptos" pitchFamily="34" charset="0"/>
                <a:ea typeface="Aptos" pitchFamily="34" charset="-122"/>
                <a:cs typeface="Aptos" pitchFamily="34" charset="-120"/>
              </a:rPr>
              <a:t>Native daemons and terminal PTY wrappers</a:t>
            </a:r>
            <a:endParaRPr lang="en-US" sz="1800" dirty="0"/>
          </a:p>
          <a:p>
            <a:pPr algn="l" indent="0" marL="0">
              <a:buNone/>
            </a:pPr>
            <a:r>
              <a:rPr lang="en-US" sz="1800" dirty="0">
                <a:solidFill>
                  <a:srgbClr val="15131A"/>
                </a:solidFill>
                <a:latin typeface="Aptos" pitchFamily="34" charset="0"/>
                <a:ea typeface="Aptos" pitchFamily="34" charset="-122"/>
                <a:cs typeface="Aptos" pitchFamily="34" charset="-120"/>
              </a:rPr>
              <a:t>supporting Kimi, Kiro, Antigravity.</a:t>
            </a:r>
            <a:endParaRPr lang="en-US" sz="1800" dirty="0"/>
          </a:p>
        </p:txBody>
      </p:sp>
      <p:sp>
        <p:nvSpPr>
          <p:cNvPr id="25" name="Shape 22"/>
          <p:cNvSpPr/>
          <p:nvPr/>
        </p:nvSpPr>
        <p:spPr>
          <a:xfrm>
            <a:off x="6099048" y="3474720"/>
            <a:ext cx="5166360" cy="1691640"/>
          </a:xfrm>
          <a:prstGeom prst="rect">
            <a:avLst/>
          </a:prstGeom>
          <a:solidFill>
            <a:srgbClr val="E4F7F1"/>
          </a:solidFill>
          <a:ln w="12700">
            <a:solidFill>
              <a:srgbClr val="E4F7F1"/>
            </a:solidFill>
            <a:prstDash val="solid"/>
          </a:ln>
        </p:spPr>
      </p:sp>
      <p:sp>
        <p:nvSpPr>
          <p:cNvPr id="26" name="Text 23"/>
          <p:cNvSpPr/>
          <p:nvPr/>
        </p:nvSpPr>
        <p:spPr>
          <a:xfrm>
            <a:off x="6327648" y="3657600"/>
            <a:ext cx="3291840" cy="274320"/>
          </a:xfrm>
          <a:prstGeom prst="rect">
            <a:avLst/>
          </a:prstGeom>
          <a:noFill/>
          <a:ln/>
        </p:spPr>
        <p:txBody>
          <a:bodyPr wrap="square" lIns="0" tIns="0" rIns="0" bIns="0" rtlCol="0" anchor="ctr">
            <a:normAutofit/>
          </a:bodyPr>
          <a:lstStyle/>
          <a:p>
            <a:pPr algn="l" indent="0" marL="0">
              <a:buNone/>
            </a:pPr>
            <a:r>
              <a:rPr lang="en-US" sz="1500" b="1" dirty="0">
                <a:solidFill>
                  <a:srgbClr val="267D63"/>
                </a:solidFill>
                <a:latin typeface="Aptos Mono" pitchFamily="34" charset="0"/>
                <a:ea typeface="Aptos Mono" pitchFamily="34" charset="-122"/>
                <a:cs typeface="Aptos Mono" pitchFamily="34" charset="-120"/>
              </a:rPr>
              <a:t>ACP OVER STDIO</a:t>
            </a:r>
            <a:endParaRPr lang="en-US" sz="1500" dirty="0"/>
          </a:p>
        </p:txBody>
      </p:sp>
      <p:sp>
        <p:nvSpPr>
          <p:cNvPr id="27" name="Shape 24"/>
          <p:cNvSpPr/>
          <p:nvPr/>
        </p:nvSpPr>
        <p:spPr>
          <a:xfrm>
            <a:off x="9573768" y="3639312"/>
            <a:ext cx="1463040" cy="310896"/>
          </a:xfrm>
          <a:prstGeom prst="roundRect">
            <a:avLst>
              <a:gd name="adj" fmla="val 50000"/>
            </a:avLst>
          </a:prstGeom>
          <a:solidFill>
            <a:srgbClr val="FFFFFF"/>
          </a:solidFill>
          <a:ln w="12700">
            <a:solidFill>
              <a:srgbClr val="FFFFFF">
                <a:alpha val="0"/>
              </a:srgbClr>
            </a:solidFill>
            <a:prstDash val="solid"/>
          </a:ln>
        </p:spPr>
      </p:sp>
      <p:sp>
        <p:nvSpPr>
          <p:cNvPr id="28" name="Text 25"/>
          <p:cNvSpPr/>
          <p:nvPr/>
        </p:nvSpPr>
        <p:spPr>
          <a:xfrm>
            <a:off x="9646920" y="3675888"/>
            <a:ext cx="1316736" cy="210312"/>
          </a:xfrm>
          <a:prstGeom prst="rect">
            <a:avLst/>
          </a:prstGeom>
          <a:noFill/>
          <a:ln/>
        </p:spPr>
        <p:txBody>
          <a:bodyPr wrap="square" lIns="0" tIns="0" rIns="0" bIns="0" rtlCol="0" anchor="ctr">
            <a:normAutofit/>
          </a:bodyPr>
          <a:lstStyle/>
          <a:p>
            <a:pPr algn="ctr" indent="0" marL="0">
              <a:buNone/>
            </a:pPr>
            <a:r>
              <a:rPr lang="en-US" sz="1300" b="1" dirty="0">
                <a:solidFill>
                  <a:srgbClr val="267D63"/>
                </a:solidFill>
                <a:latin typeface="Aptos Mono" pitchFamily="34" charset="0"/>
                <a:ea typeface="Aptos Mono" pitchFamily="34" charset="-122"/>
                <a:cs typeface="Aptos Mono" pitchFamily="34" charset="-120"/>
              </a:rPr>
              <a:t>Devin · Grok · Gemini · Qwen · Goose</a:t>
            </a:r>
            <a:endParaRPr lang="en-US" sz="1300" dirty="0"/>
          </a:p>
        </p:txBody>
      </p:sp>
      <p:sp>
        <p:nvSpPr>
          <p:cNvPr id="29" name="Text 26"/>
          <p:cNvSpPr/>
          <p:nvPr/>
        </p:nvSpPr>
        <p:spPr>
          <a:xfrm>
            <a:off x="6327648" y="4069080"/>
            <a:ext cx="4709160" cy="868680"/>
          </a:xfrm>
          <a:prstGeom prst="rect">
            <a:avLst/>
          </a:prstGeom>
          <a:noFill/>
          <a:ln/>
        </p:spPr>
        <p:txBody>
          <a:bodyPr wrap="square" lIns="0" tIns="0" rIns="0" bIns="0" rtlCol="0" anchor="ctr">
            <a:normAutofit/>
          </a:bodyPr>
          <a:lstStyle/>
          <a:p>
            <a:pPr algn="l" indent="0" marL="0">
              <a:buNone/>
            </a:pPr>
            <a:r>
              <a:rPr lang="en-US" sz="1800" dirty="0">
                <a:solidFill>
                  <a:srgbClr val="15131A"/>
                </a:solidFill>
                <a:latin typeface="Aptos" pitchFamily="34" charset="0"/>
                <a:ea typeface="Aptos" pitchFamily="34" charset="-122"/>
                <a:cs typeface="Aptos" pitchFamily="34" charset="-120"/>
              </a:rPr>
              <a:t>Agent Client Protocol over child stdio pipes.</a:t>
            </a:r>
            <a:endParaRPr lang="en-US" sz="1800" dirty="0"/>
          </a:p>
          <a:p>
            <a:pPr algn="l" indent="0" marL="0">
              <a:buNone/>
            </a:pPr>
            <a:r>
              <a:rPr lang="en-US" sz="1800" dirty="0">
                <a:solidFill>
                  <a:srgbClr val="15131A"/>
                </a:solidFill>
                <a:latin typeface="Aptos" pitchFamily="34" charset="0"/>
                <a:ea typeface="Aptos" pitchFamily="34" charset="-122"/>
                <a:cs typeface="Aptos" pitchFamily="34" charset="-120"/>
              </a:rPr>
              <a:t>Generic ACP adapter connects any CLI tool.</a:t>
            </a:r>
            <a:endParaRPr lang="en-US" sz="1800" dirty="0"/>
          </a:p>
        </p:txBody>
      </p:sp>
      <p:sp>
        <p:nvSpPr>
          <p:cNvPr id="30" name="Text 27"/>
          <p:cNvSpPr/>
          <p:nvPr/>
        </p:nvSpPr>
        <p:spPr>
          <a:xfrm>
            <a:off x="731520" y="5623560"/>
            <a:ext cx="10515600" cy="365760"/>
          </a:xfrm>
          <a:prstGeom prst="rect">
            <a:avLst/>
          </a:prstGeom>
          <a:noFill/>
          <a:ln/>
        </p:spPr>
        <p:txBody>
          <a:bodyPr wrap="square" lIns="0" tIns="0" rIns="0" bIns="0" rtlCol="0" anchor="ctr">
            <a:normAutofit/>
          </a:bodyPr>
          <a:lstStyle/>
          <a:p>
            <a:pPr algn="ctr" indent="0" marL="0">
              <a:buNone/>
            </a:pPr>
            <a:r>
              <a:rPr lang="en-US" sz="2200" b="1" dirty="0">
                <a:solidFill>
                  <a:srgbClr val="15131A"/>
                </a:solidFill>
                <a:latin typeface="Aptos" pitchFamily="34" charset="0"/>
                <a:ea typeface="Aptos" pitchFamily="34" charset="-122"/>
                <a:cs typeface="Aptos" pitchFamily="34" charset="-120"/>
              </a:rPr>
              <a:t>Omnigent unifies direct SDKs, native CLIs, and open ACP agents into one protocol.</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56032"/>
            <a:ext cx="411480" cy="201168"/>
          </a:xfrm>
          <a:prstGeom prst="rect">
            <a:avLst/>
          </a:prstGeom>
          <a:noFill/>
          <a:ln/>
        </p:spPr>
        <p:txBody>
          <a:bodyPr wrap="square" lIns="0" tIns="0" rIns="0" bIns="0" rtlCol="0" anchor="ctr">
            <a:normAutofit/>
          </a:bodyPr>
          <a:lstStyle/>
          <a:p>
            <a:pPr algn="l" indent="0" marL="0">
              <a:buNone/>
            </a:pPr>
            <a:r>
              <a:rPr lang="en-US" sz="1100" b="1" dirty="0">
                <a:solidFill>
                  <a:srgbClr val="AD0C72"/>
                </a:solidFill>
                <a:latin typeface="Aptos Mono" pitchFamily="34" charset="0"/>
                <a:ea typeface="Aptos Mono" pitchFamily="34" charset="-122"/>
                <a:cs typeface="Aptos Mono" pitchFamily="34" charset="-120"/>
              </a:rPr>
              <a:t>07</a:t>
            </a:r>
            <a:endParaRPr lang="en-US" sz="1100" dirty="0"/>
          </a:p>
        </p:txBody>
      </p:sp>
      <p:sp>
        <p:nvSpPr>
          <p:cNvPr id="3" name="Text 1"/>
          <p:cNvSpPr/>
          <p:nvPr/>
        </p:nvSpPr>
        <p:spPr>
          <a:xfrm>
            <a:off x="8961120" y="256032"/>
            <a:ext cx="2606040" cy="201168"/>
          </a:xfrm>
          <a:prstGeom prst="rect">
            <a:avLst/>
          </a:prstGeom>
          <a:noFill/>
          <a:ln/>
        </p:spPr>
        <p:txBody>
          <a:bodyPr wrap="square" lIns="0" tIns="0" rIns="0" bIns="0" rtlCol="0" anchor="ctr">
            <a:normAutofit/>
          </a:bodyPr>
          <a:lstStyle/>
          <a:p>
            <a:pPr algn="r" indent="0" marL="0">
              <a:buNone/>
            </a:pPr>
            <a:r>
              <a:rPr lang="en-US" sz="1000" b="1" dirty="0">
                <a:solidFill>
                  <a:srgbClr val="5C5765"/>
                </a:solidFill>
                <a:latin typeface="Aptos" pitchFamily="34" charset="0"/>
                <a:ea typeface="Aptos" pitchFamily="34" charset="-122"/>
                <a:cs typeface="Aptos" pitchFamily="34" charset="-120"/>
              </a:rPr>
              <a:t>Session branching</a:t>
            </a:r>
            <a:endParaRPr lang="en-US" sz="1000" dirty="0"/>
          </a:p>
        </p:txBody>
      </p:sp>
      <p:sp>
        <p:nvSpPr>
          <p:cNvPr id="4" name="Shape 2"/>
          <p:cNvSpPr/>
          <p:nvPr/>
        </p:nvSpPr>
        <p:spPr>
          <a:xfrm>
            <a:off x="566928" y="566928"/>
            <a:ext cx="11045952" cy="0"/>
          </a:xfrm>
          <a:prstGeom prst="line">
            <a:avLst/>
          </a:prstGeom>
          <a:noFill/>
          <a:ln w="12700">
            <a:solidFill>
              <a:srgbClr val="ECE8EE"/>
            </a:solidFill>
            <a:prstDash val="solid"/>
          </a:ln>
        </p:spPr>
      </p:sp>
      <p:sp>
        <p:nvSpPr>
          <p:cNvPr id="5" name="Text 3"/>
          <p:cNvSpPr/>
          <p:nvPr/>
        </p:nvSpPr>
        <p:spPr>
          <a:xfrm>
            <a:off x="658368" y="786384"/>
            <a:ext cx="10881360" cy="566928"/>
          </a:xfrm>
          <a:prstGeom prst="rect">
            <a:avLst/>
          </a:prstGeom>
          <a:noFill/>
          <a:ln/>
        </p:spPr>
        <p:txBody>
          <a:bodyPr wrap="square" lIns="0" tIns="0" rIns="0" bIns="0" rtlCol="0" anchor="ctr">
            <a:normAutofit/>
          </a:bodyPr>
          <a:lstStyle/>
          <a:p>
            <a:pPr algn="l" indent="0" marL="0">
              <a:buNone/>
            </a:pPr>
            <a:r>
              <a:rPr lang="en-US" sz="3100" b="1" dirty="0">
                <a:solidFill>
                  <a:srgbClr val="15131A"/>
                </a:solidFill>
                <a:latin typeface="Aptos Display" pitchFamily="34" charset="0"/>
                <a:ea typeface="Aptos Display" pitchFamily="34" charset="-122"/>
                <a:cs typeface="Aptos Display" pitchFamily="34" charset="-120"/>
              </a:rPr>
              <a:t>Forks preserve complete history</a:t>
            </a:r>
            <a:endParaRPr lang="en-US" sz="3100" dirty="0"/>
          </a:p>
        </p:txBody>
      </p:sp>
      <p:sp>
        <p:nvSpPr>
          <p:cNvPr id="6" name="Text 4"/>
          <p:cNvSpPr/>
          <p:nvPr/>
        </p:nvSpPr>
        <p:spPr>
          <a:xfrm>
            <a:off x="658368" y="6144768"/>
            <a:ext cx="10789920" cy="182880"/>
          </a:xfrm>
          <a:prstGeom prst="rect">
            <a:avLst/>
          </a:prstGeom>
          <a:noFill/>
          <a:ln/>
        </p:spPr>
        <p:txBody>
          <a:bodyPr wrap="square" lIns="0" tIns="0" rIns="0" bIns="0" rtlCol="0" anchor="ctr">
            <a:normAutofit/>
          </a:bodyPr>
          <a:lstStyle/>
          <a:p>
            <a:pPr algn="l" indent="0" marL="0">
              <a:buNone/>
            </a:pPr>
            <a:r>
              <a:rPr lang="en-US" sz="1100" dirty="0">
                <a:solidFill>
                  <a:srgbClr val="5C5765"/>
                </a:solidFill>
                <a:latin typeface="Aptos" pitchFamily="34" charset="0"/>
                <a:ea typeface="Aptos" pitchFamily="34" charset="-122"/>
                <a:cs typeface="Aptos" pitchFamily="34" charset="-120"/>
              </a:rPr>
              <a:t>Source: Omnigent collaboration docs</a:t>
            </a:r>
            <a:endParaRPr lang="en-US" sz="1100" dirty="0"/>
          </a:p>
        </p:txBody>
      </p:sp>
      <p:sp>
        <p:nvSpPr>
          <p:cNvPr id="7" name="Text 5"/>
          <p:cNvSpPr/>
          <p:nvPr/>
        </p:nvSpPr>
        <p:spPr>
          <a:xfrm>
            <a:off x="658368" y="6400800"/>
            <a:ext cx="10469880" cy="219456"/>
          </a:xfrm>
          <a:prstGeom prst="rect">
            <a:avLst/>
          </a:prstGeom>
          <a:noFill/>
          <a:ln/>
        </p:spPr>
        <p:txBody>
          <a:bodyPr wrap="square" lIns="0" tIns="0" rIns="0" bIns="0" rtlCol="0" anchor="ctr">
            <a:normAutofit/>
          </a:bodyPr>
          <a:lstStyle/>
          <a:p>
            <a:pPr algn="l" indent="0" marL="0">
              <a:buNone/>
            </a:pPr>
            <a:r>
              <a:rPr lang="en-US" sz="1450" b="1" dirty="0">
                <a:solidFill>
                  <a:srgbClr val="AD0C72"/>
                </a:solidFill>
                <a:latin typeface="Aptos" pitchFamily="34" charset="0"/>
                <a:ea typeface="Aptos" pitchFamily="34" charset="-122"/>
                <a:cs typeface="Aptos" pitchFamily="34" charset="-120"/>
              </a:rPr>
              <a:t>@anxkhn</a:t>
            </a:r>
            <a:pPr algn="l" indent="0" marL="0">
              <a:buNone/>
            </a:pPr>
            <a:r>
              <a:rPr lang="en-US" sz="1450" b="1" dirty="0">
                <a:solidFill>
                  <a:srgbClr val="5C5765"/>
                </a:solidFill>
                <a:latin typeface="Aptos" pitchFamily="34" charset="0"/>
                <a:ea typeface="Aptos" pitchFamily="34" charset="-122"/>
                <a:cs typeface="Aptos" pitchFamily="34" charset="-120"/>
              </a:rPr>
              <a:t>  ·  #DevDays  ·  #DevDaysMumbai  ·  #mumtechup</a:t>
            </a:r>
            <a:endParaRPr lang="en-US" sz="1450" dirty="0"/>
          </a:p>
        </p:txBody>
      </p:sp>
      <p:sp>
        <p:nvSpPr>
          <p:cNvPr id="8" name="Text 6"/>
          <p:cNvSpPr/>
          <p:nvPr/>
        </p:nvSpPr>
        <p:spPr>
          <a:xfrm>
            <a:off x="11064240" y="6419088"/>
            <a:ext cx="438912" cy="182880"/>
          </a:xfrm>
          <a:prstGeom prst="rect">
            <a:avLst/>
          </a:prstGeom>
          <a:noFill/>
          <a:ln/>
        </p:spPr>
        <p:txBody>
          <a:bodyPr wrap="square" lIns="0" tIns="0" rIns="0" bIns="0" rtlCol="0" anchor="ctr">
            <a:normAutofit/>
          </a:bodyPr>
          <a:lstStyle/>
          <a:p>
            <a:pPr algn="r" indent="0" marL="0">
              <a:buNone/>
            </a:pPr>
            <a:r>
              <a:rPr lang="en-US" sz="1200" b="1" dirty="0">
                <a:solidFill>
                  <a:srgbClr val="5C5765"/>
                </a:solidFill>
                <a:latin typeface="Aptos Mono" pitchFamily="34" charset="0"/>
                <a:ea typeface="Aptos Mono" pitchFamily="34" charset="-122"/>
                <a:cs typeface="Aptos Mono" pitchFamily="34" charset="-120"/>
              </a:rPr>
              <a:t>7</a:t>
            </a:r>
            <a:endParaRPr lang="en-US" sz="1200" dirty="0"/>
          </a:p>
        </p:txBody>
      </p:sp>
      <p:sp>
        <p:nvSpPr>
          <p:cNvPr id="10" name="Text 7"/>
          <p:cNvSpPr/>
          <p:nvPr/>
        </p:nvSpPr>
        <p:spPr>
          <a:xfrm>
            <a:off x="685800" y="1572768"/>
            <a:ext cx="5120640" cy="384048"/>
          </a:xfrm>
          <a:prstGeom prst="rect">
            <a:avLst/>
          </a:prstGeom>
          <a:noFill/>
          <a:ln/>
        </p:spPr>
        <p:txBody>
          <a:bodyPr wrap="square" lIns="0" tIns="0" rIns="0" bIns="0" rtlCol="0" anchor="ctr">
            <a:normAutofit/>
          </a:bodyPr>
          <a:lstStyle/>
          <a:p>
            <a:pPr algn="l" indent="0" marL="0">
              <a:buNone/>
            </a:pPr>
            <a:r>
              <a:rPr lang="en-US" sz="2200" b="1" dirty="0">
                <a:solidFill>
                  <a:srgbClr val="267D63"/>
                </a:solidFill>
                <a:latin typeface="Aptos Mono" pitchFamily="34" charset="0"/>
                <a:ea typeface="Aptos Mono" pitchFamily="34" charset="-122"/>
                <a:cs typeface="Aptos Mono" pitchFamily="34" charset="-120"/>
              </a:rPr>
              <a:t>SAME SESSION ATTACH</a:t>
            </a:r>
            <a:endParaRPr lang="en-US" sz="2200" dirty="0"/>
          </a:p>
        </p:txBody>
      </p:sp>
      <p:sp>
        <p:nvSpPr>
          <p:cNvPr id="11" name="Shape 8"/>
          <p:cNvSpPr/>
          <p:nvPr/>
        </p:nvSpPr>
        <p:spPr>
          <a:xfrm>
            <a:off x="685800" y="2148840"/>
            <a:ext cx="5074920" cy="566928"/>
          </a:xfrm>
          <a:prstGeom prst="rect">
            <a:avLst/>
          </a:prstGeom>
          <a:solidFill>
            <a:srgbClr val="E4F7F1"/>
          </a:solidFill>
          <a:ln w="12700">
            <a:solidFill>
              <a:srgbClr val="E4F7F1">
                <a:alpha val="0"/>
              </a:srgbClr>
            </a:solidFill>
            <a:prstDash val="solid"/>
          </a:ln>
        </p:spPr>
      </p:sp>
      <p:sp>
        <p:nvSpPr>
          <p:cNvPr id="12" name="Text 9"/>
          <p:cNvSpPr/>
          <p:nvPr/>
        </p:nvSpPr>
        <p:spPr>
          <a:xfrm>
            <a:off x="850392" y="2221992"/>
            <a:ext cx="1234440" cy="347472"/>
          </a:xfrm>
          <a:prstGeom prst="rect">
            <a:avLst/>
          </a:prstGeom>
          <a:noFill/>
          <a:ln/>
        </p:spPr>
        <p:txBody>
          <a:bodyPr wrap="square" lIns="0" tIns="0" rIns="0" bIns="0" rtlCol="0" anchor="ctr">
            <a:normAutofit/>
          </a:bodyPr>
          <a:lstStyle/>
          <a:p>
            <a:pPr algn="l" indent="0" marL="0">
              <a:buNone/>
            </a:pPr>
            <a:r>
              <a:rPr lang="en-US" sz="1900" b="1" dirty="0">
                <a:solidFill>
                  <a:srgbClr val="267D63"/>
                </a:solidFill>
                <a:latin typeface="Aptos Mono" pitchFamily="34" charset="0"/>
                <a:ea typeface="Aptos Mono" pitchFamily="34" charset="-122"/>
                <a:cs typeface="Aptos Mono" pitchFamily="34" charset="-120"/>
              </a:rPr>
              <a:t>DATABASE</a:t>
            </a:r>
            <a:endParaRPr lang="en-US" sz="1900" dirty="0"/>
          </a:p>
        </p:txBody>
      </p:sp>
      <p:sp>
        <p:nvSpPr>
          <p:cNvPr id="13" name="Text 10"/>
          <p:cNvSpPr/>
          <p:nvPr/>
        </p:nvSpPr>
        <p:spPr>
          <a:xfrm>
            <a:off x="2148840" y="2221992"/>
            <a:ext cx="3474720" cy="347472"/>
          </a:xfrm>
          <a:prstGeom prst="rect">
            <a:avLst/>
          </a:prstGeom>
          <a:noFill/>
          <a:ln/>
        </p:spPr>
        <p:txBody>
          <a:bodyPr wrap="square" lIns="0" tIns="0" rIns="0" bIns="0" rtlCol="0" anchor="ctr">
            <a:normAutofit/>
          </a:bodyPr>
          <a:lstStyle/>
          <a:p>
            <a:pPr algn="l" indent="0" marL="0">
              <a:buNone/>
            </a:pPr>
            <a:r>
              <a:rPr lang="en-US" sz="2100" dirty="0">
                <a:solidFill>
                  <a:srgbClr val="15131A"/>
                </a:solidFill>
                <a:latin typeface="Aptos" pitchFamily="34" charset="0"/>
                <a:ea typeface="Aptos" pitchFamily="34" charset="-122"/>
                <a:cs typeface="Aptos" pitchFamily="34" charset="-120"/>
              </a:rPr>
              <a:t>Single session entity in Postgres</a:t>
            </a:r>
            <a:endParaRPr lang="en-US" sz="2100" dirty="0"/>
          </a:p>
        </p:txBody>
      </p:sp>
      <p:sp>
        <p:nvSpPr>
          <p:cNvPr id="14" name="Shape 11"/>
          <p:cNvSpPr/>
          <p:nvPr/>
        </p:nvSpPr>
        <p:spPr>
          <a:xfrm>
            <a:off x="685800" y="2843784"/>
            <a:ext cx="5074920" cy="566928"/>
          </a:xfrm>
          <a:prstGeom prst="rect">
            <a:avLst/>
          </a:prstGeom>
          <a:solidFill>
            <a:srgbClr val="E4F7F1"/>
          </a:solidFill>
          <a:ln w="12700">
            <a:solidFill>
              <a:srgbClr val="E4F7F1">
                <a:alpha val="0"/>
              </a:srgbClr>
            </a:solidFill>
            <a:prstDash val="solid"/>
          </a:ln>
        </p:spPr>
      </p:sp>
      <p:sp>
        <p:nvSpPr>
          <p:cNvPr id="15" name="Text 12"/>
          <p:cNvSpPr/>
          <p:nvPr/>
        </p:nvSpPr>
        <p:spPr>
          <a:xfrm>
            <a:off x="850392" y="2916936"/>
            <a:ext cx="1234440" cy="347472"/>
          </a:xfrm>
          <a:prstGeom prst="rect">
            <a:avLst/>
          </a:prstGeom>
          <a:noFill/>
          <a:ln/>
        </p:spPr>
        <p:txBody>
          <a:bodyPr wrap="square" lIns="0" tIns="0" rIns="0" bIns="0" rtlCol="0" anchor="ctr">
            <a:normAutofit/>
          </a:bodyPr>
          <a:lstStyle/>
          <a:p>
            <a:pPr algn="l" indent="0" marL="0">
              <a:buNone/>
            </a:pPr>
            <a:r>
              <a:rPr lang="en-US" sz="1900" b="1" dirty="0">
                <a:solidFill>
                  <a:srgbClr val="267D63"/>
                </a:solidFill>
                <a:latin typeface="Aptos Mono" pitchFamily="34" charset="0"/>
                <a:ea typeface="Aptos Mono" pitchFamily="34" charset="-122"/>
                <a:cs typeface="Aptos Mono" pitchFamily="34" charset="-120"/>
              </a:rPr>
              <a:t>CLIENTS</a:t>
            </a:r>
            <a:endParaRPr lang="en-US" sz="1900" dirty="0"/>
          </a:p>
        </p:txBody>
      </p:sp>
      <p:sp>
        <p:nvSpPr>
          <p:cNvPr id="16" name="Text 13"/>
          <p:cNvSpPr/>
          <p:nvPr/>
        </p:nvSpPr>
        <p:spPr>
          <a:xfrm>
            <a:off x="2148840" y="2916936"/>
            <a:ext cx="3474720" cy="347472"/>
          </a:xfrm>
          <a:prstGeom prst="rect">
            <a:avLst/>
          </a:prstGeom>
          <a:noFill/>
          <a:ln/>
        </p:spPr>
        <p:txBody>
          <a:bodyPr wrap="square" lIns="0" tIns="0" rIns="0" bIns="0" rtlCol="0" anchor="ctr">
            <a:normAutofit/>
          </a:bodyPr>
          <a:lstStyle/>
          <a:p>
            <a:pPr algn="l" indent="0" marL="0">
              <a:buNone/>
            </a:pPr>
            <a:r>
              <a:rPr lang="en-US" sz="2100" dirty="0">
                <a:solidFill>
                  <a:srgbClr val="15131A"/>
                </a:solidFill>
                <a:latin typeface="Aptos" pitchFamily="34" charset="0"/>
                <a:ea typeface="Aptos" pitchFamily="34" charset="-122"/>
                <a:cs typeface="Aptos" pitchFamily="34" charset="-120"/>
              </a:rPr>
              <a:t>Terminal &amp; browser connect via WSS</a:t>
            </a:r>
            <a:endParaRPr lang="en-US" sz="2100" dirty="0"/>
          </a:p>
        </p:txBody>
      </p:sp>
      <p:sp>
        <p:nvSpPr>
          <p:cNvPr id="17" name="Shape 14"/>
          <p:cNvSpPr/>
          <p:nvPr/>
        </p:nvSpPr>
        <p:spPr>
          <a:xfrm>
            <a:off x="685800" y="3538728"/>
            <a:ext cx="5074920" cy="566928"/>
          </a:xfrm>
          <a:prstGeom prst="rect">
            <a:avLst/>
          </a:prstGeom>
          <a:solidFill>
            <a:srgbClr val="E4F7F1"/>
          </a:solidFill>
          <a:ln w="12700">
            <a:solidFill>
              <a:srgbClr val="E4F7F1">
                <a:alpha val="0"/>
              </a:srgbClr>
            </a:solidFill>
            <a:prstDash val="solid"/>
          </a:ln>
        </p:spPr>
      </p:sp>
      <p:sp>
        <p:nvSpPr>
          <p:cNvPr id="18" name="Text 15"/>
          <p:cNvSpPr/>
          <p:nvPr/>
        </p:nvSpPr>
        <p:spPr>
          <a:xfrm>
            <a:off x="850392" y="3611880"/>
            <a:ext cx="1234440" cy="347472"/>
          </a:xfrm>
          <a:prstGeom prst="rect">
            <a:avLst/>
          </a:prstGeom>
          <a:noFill/>
          <a:ln/>
        </p:spPr>
        <p:txBody>
          <a:bodyPr wrap="square" lIns="0" tIns="0" rIns="0" bIns="0" rtlCol="0" anchor="ctr">
            <a:normAutofit/>
          </a:bodyPr>
          <a:lstStyle/>
          <a:p>
            <a:pPr algn="l" indent="0" marL="0">
              <a:buNone/>
            </a:pPr>
            <a:r>
              <a:rPr lang="en-US" sz="1900" b="1" dirty="0">
                <a:solidFill>
                  <a:srgbClr val="267D63"/>
                </a:solidFill>
                <a:latin typeface="Aptos Mono" pitchFamily="34" charset="0"/>
                <a:ea typeface="Aptos Mono" pitchFamily="34" charset="-122"/>
                <a:cs typeface="Aptos Mono" pitchFamily="34" charset="-120"/>
              </a:rPr>
              <a:t>EXECUTION</a:t>
            </a:r>
            <a:endParaRPr lang="en-US" sz="1900" dirty="0"/>
          </a:p>
        </p:txBody>
      </p:sp>
      <p:sp>
        <p:nvSpPr>
          <p:cNvPr id="19" name="Text 16"/>
          <p:cNvSpPr/>
          <p:nvPr/>
        </p:nvSpPr>
        <p:spPr>
          <a:xfrm>
            <a:off x="2148840" y="3611880"/>
            <a:ext cx="3474720" cy="347472"/>
          </a:xfrm>
          <a:prstGeom prst="rect">
            <a:avLst/>
          </a:prstGeom>
          <a:noFill/>
          <a:ln/>
        </p:spPr>
        <p:txBody>
          <a:bodyPr wrap="square" lIns="0" tIns="0" rIns="0" bIns="0" rtlCol="0" anchor="ctr">
            <a:normAutofit/>
          </a:bodyPr>
          <a:lstStyle/>
          <a:p>
            <a:pPr algn="l" indent="0" marL="0">
              <a:buNone/>
            </a:pPr>
            <a:r>
              <a:rPr lang="en-US" sz="2100" dirty="0">
                <a:solidFill>
                  <a:srgbClr val="15131A"/>
                </a:solidFill>
                <a:latin typeface="Aptos" pitchFamily="34" charset="0"/>
                <a:ea typeface="Aptos" pitchFamily="34" charset="-122"/>
                <a:cs typeface="Aptos" pitchFamily="34" charset="-120"/>
              </a:rPr>
              <a:t>Existing runner owns active process</a:t>
            </a:r>
            <a:endParaRPr lang="en-US" sz="2100" dirty="0"/>
          </a:p>
        </p:txBody>
      </p:sp>
      <p:sp>
        <p:nvSpPr>
          <p:cNvPr id="20" name="Shape 17"/>
          <p:cNvSpPr/>
          <p:nvPr/>
        </p:nvSpPr>
        <p:spPr>
          <a:xfrm>
            <a:off x="685800" y="4233672"/>
            <a:ext cx="5074920" cy="566928"/>
          </a:xfrm>
          <a:prstGeom prst="rect">
            <a:avLst/>
          </a:prstGeom>
          <a:solidFill>
            <a:srgbClr val="E4F7F1"/>
          </a:solidFill>
          <a:ln w="12700">
            <a:solidFill>
              <a:srgbClr val="E4F7F1">
                <a:alpha val="0"/>
              </a:srgbClr>
            </a:solidFill>
            <a:prstDash val="solid"/>
          </a:ln>
        </p:spPr>
      </p:sp>
      <p:sp>
        <p:nvSpPr>
          <p:cNvPr id="21" name="Text 18"/>
          <p:cNvSpPr/>
          <p:nvPr/>
        </p:nvSpPr>
        <p:spPr>
          <a:xfrm>
            <a:off x="850392" y="4306824"/>
            <a:ext cx="1234440" cy="347472"/>
          </a:xfrm>
          <a:prstGeom prst="rect">
            <a:avLst/>
          </a:prstGeom>
          <a:noFill/>
          <a:ln/>
        </p:spPr>
        <p:txBody>
          <a:bodyPr wrap="square" lIns="0" tIns="0" rIns="0" bIns="0" rtlCol="0" anchor="ctr">
            <a:normAutofit/>
          </a:bodyPr>
          <a:lstStyle/>
          <a:p>
            <a:pPr algn="l" indent="0" marL="0">
              <a:buNone/>
            </a:pPr>
            <a:r>
              <a:rPr lang="en-US" sz="1900" b="1" dirty="0">
                <a:solidFill>
                  <a:srgbClr val="267D63"/>
                </a:solidFill>
                <a:latin typeface="Aptos Mono" pitchFamily="34" charset="0"/>
                <a:ea typeface="Aptos Mono" pitchFamily="34" charset="-122"/>
                <a:cs typeface="Aptos Mono" pitchFamily="34" charset="-120"/>
              </a:rPr>
              <a:t>PURPOSE</a:t>
            </a:r>
            <a:endParaRPr lang="en-US" sz="1900" dirty="0"/>
          </a:p>
        </p:txBody>
      </p:sp>
      <p:sp>
        <p:nvSpPr>
          <p:cNvPr id="22" name="Text 19"/>
          <p:cNvSpPr/>
          <p:nvPr/>
        </p:nvSpPr>
        <p:spPr>
          <a:xfrm>
            <a:off x="2148840" y="4306824"/>
            <a:ext cx="3474720" cy="347472"/>
          </a:xfrm>
          <a:prstGeom prst="rect">
            <a:avLst/>
          </a:prstGeom>
          <a:noFill/>
          <a:ln/>
        </p:spPr>
        <p:txBody>
          <a:bodyPr wrap="square" lIns="0" tIns="0" rIns="0" bIns="0" rtlCol="0" anchor="ctr">
            <a:normAutofit/>
          </a:bodyPr>
          <a:lstStyle/>
          <a:p>
            <a:pPr algn="l" indent="0" marL="0">
              <a:buNone/>
            </a:pPr>
            <a:r>
              <a:rPr lang="en-US" sz="2100" dirty="0">
                <a:solidFill>
                  <a:srgbClr val="15131A"/>
                </a:solidFill>
                <a:latin typeface="Aptos" pitchFamily="34" charset="0"/>
                <a:ea typeface="Aptos" pitchFamily="34" charset="-122"/>
                <a:cs typeface="Aptos" pitchFamily="34" charset="-120"/>
              </a:rPr>
              <a:t>Steering and observing same run</a:t>
            </a:r>
            <a:endParaRPr lang="en-US" sz="2100" dirty="0"/>
          </a:p>
        </p:txBody>
      </p:sp>
      <p:sp>
        <p:nvSpPr>
          <p:cNvPr id="23" name="Text 20"/>
          <p:cNvSpPr/>
          <p:nvPr/>
        </p:nvSpPr>
        <p:spPr>
          <a:xfrm>
            <a:off x="6126480" y="1572768"/>
            <a:ext cx="5120640" cy="384048"/>
          </a:xfrm>
          <a:prstGeom prst="rect">
            <a:avLst/>
          </a:prstGeom>
          <a:noFill/>
          <a:ln/>
        </p:spPr>
        <p:txBody>
          <a:bodyPr wrap="square" lIns="0" tIns="0" rIns="0" bIns="0" rtlCol="0" anchor="ctr">
            <a:normAutofit/>
          </a:bodyPr>
          <a:lstStyle/>
          <a:p>
            <a:pPr algn="l" indent="0" marL="0">
              <a:buNone/>
            </a:pPr>
            <a:r>
              <a:rPr lang="en-US" sz="2200" b="1" dirty="0">
                <a:solidFill>
                  <a:srgbClr val="AD0C72"/>
                </a:solidFill>
                <a:latin typeface="Aptos Mono" pitchFamily="34" charset="0"/>
                <a:ea typeface="Aptos Mono" pitchFamily="34" charset="-122"/>
                <a:cs typeface="Aptos Mono" pitchFamily="34" charset="-120"/>
              </a:rPr>
              <a:t>SESSION FORK</a:t>
            </a:r>
            <a:endParaRPr lang="en-US" sz="2200" dirty="0"/>
          </a:p>
        </p:txBody>
      </p:sp>
      <p:sp>
        <p:nvSpPr>
          <p:cNvPr id="24" name="Shape 21"/>
          <p:cNvSpPr/>
          <p:nvPr/>
        </p:nvSpPr>
        <p:spPr>
          <a:xfrm>
            <a:off x="6126480" y="2148840"/>
            <a:ext cx="5074920" cy="566928"/>
          </a:xfrm>
          <a:prstGeom prst="rect">
            <a:avLst/>
          </a:prstGeom>
          <a:solidFill>
            <a:srgbClr val="FCE6F4"/>
          </a:solidFill>
          <a:ln w="12700">
            <a:solidFill>
              <a:srgbClr val="FCE6F4">
                <a:alpha val="0"/>
              </a:srgbClr>
            </a:solidFill>
            <a:prstDash val="solid"/>
          </a:ln>
        </p:spPr>
      </p:sp>
      <p:sp>
        <p:nvSpPr>
          <p:cNvPr id="25" name="Text 22"/>
          <p:cNvSpPr/>
          <p:nvPr/>
        </p:nvSpPr>
        <p:spPr>
          <a:xfrm>
            <a:off x="6291072" y="2221992"/>
            <a:ext cx="1234440" cy="347472"/>
          </a:xfrm>
          <a:prstGeom prst="rect">
            <a:avLst/>
          </a:prstGeom>
          <a:noFill/>
          <a:ln/>
        </p:spPr>
        <p:txBody>
          <a:bodyPr wrap="square" lIns="0" tIns="0" rIns="0" bIns="0" rtlCol="0" anchor="ctr">
            <a:normAutofit/>
          </a:bodyPr>
          <a:lstStyle/>
          <a:p>
            <a:pPr algn="l" indent="0" marL="0">
              <a:buNone/>
            </a:pPr>
            <a:r>
              <a:rPr lang="en-US" sz="1900" b="1" dirty="0">
                <a:solidFill>
                  <a:srgbClr val="AD0C72"/>
                </a:solidFill>
                <a:latin typeface="Aptos Mono" pitchFamily="34" charset="0"/>
                <a:ea typeface="Aptos Mono" pitchFamily="34" charset="-122"/>
                <a:cs typeface="Aptos Mono" pitchFamily="34" charset="-120"/>
              </a:rPr>
              <a:t>DATABASE</a:t>
            </a:r>
            <a:endParaRPr lang="en-US" sz="1900" dirty="0"/>
          </a:p>
        </p:txBody>
      </p:sp>
      <p:sp>
        <p:nvSpPr>
          <p:cNvPr id="26" name="Text 23"/>
          <p:cNvSpPr/>
          <p:nvPr/>
        </p:nvSpPr>
        <p:spPr>
          <a:xfrm>
            <a:off x="7589520" y="2221992"/>
            <a:ext cx="3474720" cy="347472"/>
          </a:xfrm>
          <a:prstGeom prst="rect">
            <a:avLst/>
          </a:prstGeom>
          <a:noFill/>
          <a:ln/>
        </p:spPr>
        <p:txBody>
          <a:bodyPr wrap="square" lIns="0" tIns="0" rIns="0" bIns="0" rtlCol="0" anchor="ctr">
            <a:normAutofit/>
          </a:bodyPr>
          <a:lstStyle/>
          <a:p>
            <a:pPr algn="l" indent="0" marL="0">
              <a:buNone/>
            </a:pPr>
            <a:r>
              <a:rPr lang="en-US" sz="2100" dirty="0">
                <a:solidFill>
                  <a:srgbClr val="15131A"/>
                </a:solidFill>
                <a:latin typeface="Aptos" pitchFamily="34" charset="0"/>
                <a:ea typeface="Aptos" pitchFamily="34" charset="-122"/>
                <a:cs typeface="Aptos" pitchFamily="34" charset="-120"/>
              </a:rPr>
              <a:t>Clones full conversation DAG in Postgres</a:t>
            </a:r>
            <a:endParaRPr lang="en-US" sz="2100" dirty="0"/>
          </a:p>
        </p:txBody>
      </p:sp>
      <p:sp>
        <p:nvSpPr>
          <p:cNvPr id="27" name="Shape 24"/>
          <p:cNvSpPr/>
          <p:nvPr/>
        </p:nvSpPr>
        <p:spPr>
          <a:xfrm>
            <a:off x="6126480" y="2843784"/>
            <a:ext cx="5074920" cy="566928"/>
          </a:xfrm>
          <a:prstGeom prst="rect">
            <a:avLst/>
          </a:prstGeom>
          <a:solidFill>
            <a:srgbClr val="FCE6F4"/>
          </a:solidFill>
          <a:ln w="12700">
            <a:solidFill>
              <a:srgbClr val="FCE6F4">
                <a:alpha val="0"/>
              </a:srgbClr>
            </a:solidFill>
            <a:prstDash val="solid"/>
          </a:ln>
        </p:spPr>
      </p:sp>
      <p:sp>
        <p:nvSpPr>
          <p:cNvPr id="28" name="Text 25"/>
          <p:cNvSpPr/>
          <p:nvPr/>
        </p:nvSpPr>
        <p:spPr>
          <a:xfrm>
            <a:off x="6291072" y="2916936"/>
            <a:ext cx="1234440" cy="347472"/>
          </a:xfrm>
          <a:prstGeom prst="rect">
            <a:avLst/>
          </a:prstGeom>
          <a:noFill/>
          <a:ln/>
        </p:spPr>
        <p:txBody>
          <a:bodyPr wrap="square" lIns="0" tIns="0" rIns="0" bIns="0" rtlCol="0" anchor="ctr">
            <a:normAutofit/>
          </a:bodyPr>
          <a:lstStyle/>
          <a:p>
            <a:pPr algn="l" indent="0" marL="0">
              <a:buNone/>
            </a:pPr>
            <a:r>
              <a:rPr lang="en-US" sz="1900" b="1" dirty="0">
                <a:solidFill>
                  <a:srgbClr val="AD0C72"/>
                </a:solidFill>
                <a:latin typeface="Aptos Mono" pitchFamily="34" charset="0"/>
                <a:ea typeface="Aptos Mono" pitchFamily="34" charset="-122"/>
                <a:cs typeface="Aptos Mono" pitchFamily="34" charset="-120"/>
              </a:rPr>
              <a:t>HISTORY</a:t>
            </a:r>
            <a:endParaRPr lang="en-US" sz="1900" dirty="0"/>
          </a:p>
        </p:txBody>
      </p:sp>
      <p:sp>
        <p:nvSpPr>
          <p:cNvPr id="29" name="Text 26"/>
          <p:cNvSpPr/>
          <p:nvPr/>
        </p:nvSpPr>
        <p:spPr>
          <a:xfrm>
            <a:off x="7589520" y="2916936"/>
            <a:ext cx="3474720" cy="347472"/>
          </a:xfrm>
          <a:prstGeom prst="rect">
            <a:avLst/>
          </a:prstGeom>
          <a:noFill/>
          <a:ln/>
        </p:spPr>
        <p:txBody>
          <a:bodyPr wrap="square" lIns="0" tIns="0" rIns="0" bIns="0" rtlCol="0" anchor="ctr">
            <a:normAutofit/>
          </a:bodyPr>
          <a:lstStyle/>
          <a:p>
            <a:pPr algn="l" indent="0" marL="0">
              <a:buNone/>
            </a:pPr>
            <a:r>
              <a:rPr lang="en-US" sz="2100" dirty="0">
                <a:solidFill>
                  <a:srgbClr val="15131A"/>
                </a:solidFill>
                <a:latin typeface="Aptos" pitchFamily="34" charset="0"/>
                <a:ea typeface="Aptos" pitchFamily="34" charset="-122"/>
                <a:cs typeface="Aptos" pitchFamily="34" charset="-120"/>
              </a:rPr>
              <a:t>Inherits all prior prompts, diffs &amp; tools</a:t>
            </a:r>
            <a:endParaRPr lang="en-US" sz="2100" dirty="0"/>
          </a:p>
        </p:txBody>
      </p:sp>
      <p:sp>
        <p:nvSpPr>
          <p:cNvPr id="30" name="Shape 27"/>
          <p:cNvSpPr/>
          <p:nvPr/>
        </p:nvSpPr>
        <p:spPr>
          <a:xfrm>
            <a:off x="6126480" y="3538728"/>
            <a:ext cx="5074920" cy="566928"/>
          </a:xfrm>
          <a:prstGeom prst="rect">
            <a:avLst/>
          </a:prstGeom>
          <a:solidFill>
            <a:srgbClr val="FCE6F4"/>
          </a:solidFill>
          <a:ln w="12700">
            <a:solidFill>
              <a:srgbClr val="FCE6F4">
                <a:alpha val="0"/>
              </a:srgbClr>
            </a:solidFill>
            <a:prstDash val="solid"/>
          </a:ln>
        </p:spPr>
      </p:sp>
      <p:sp>
        <p:nvSpPr>
          <p:cNvPr id="31" name="Text 28"/>
          <p:cNvSpPr/>
          <p:nvPr/>
        </p:nvSpPr>
        <p:spPr>
          <a:xfrm>
            <a:off x="6291072" y="3611880"/>
            <a:ext cx="1234440" cy="347472"/>
          </a:xfrm>
          <a:prstGeom prst="rect">
            <a:avLst/>
          </a:prstGeom>
          <a:noFill/>
          <a:ln/>
        </p:spPr>
        <p:txBody>
          <a:bodyPr wrap="square" lIns="0" tIns="0" rIns="0" bIns="0" rtlCol="0" anchor="ctr">
            <a:normAutofit/>
          </a:bodyPr>
          <a:lstStyle/>
          <a:p>
            <a:pPr algn="l" indent="0" marL="0">
              <a:buNone/>
            </a:pPr>
            <a:r>
              <a:rPr lang="en-US" sz="1900" b="1" dirty="0">
                <a:solidFill>
                  <a:srgbClr val="AD0C72"/>
                </a:solidFill>
                <a:latin typeface="Aptos Mono" pitchFamily="34" charset="0"/>
                <a:ea typeface="Aptos Mono" pitchFamily="34" charset="-122"/>
                <a:cs typeface="Aptos Mono" pitchFamily="34" charset="-120"/>
              </a:rPr>
              <a:t>EXECUTION</a:t>
            </a:r>
            <a:endParaRPr lang="en-US" sz="1900" dirty="0"/>
          </a:p>
        </p:txBody>
      </p:sp>
      <p:sp>
        <p:nvSpPr>
          <p:cNvPr id="32" name="Text 29"/>
          <p:cNvSpPr/>
          <p:nvPr/>
        </p:nvSpPr>
        <p:spPr>
          <a:xfrm>
            <a:off x="7589520" y="3611880"/>
            <a:ext cx="3474720" cy="347472"/>
          </a:xfrm>
          <a:prstGeom prst="rect">
            <a:avLst/>
          </a:prstGeom>
          <a:noFill/>
          <a:ln/>
        </p:spPr>
        <p:txBody>
          <a:bodyPr wrap="square" lIns="0" tIns="0" rIns="0" bIns="0" rtlCol="0" anchor="ctr">
            <a:normAutofit/>
          </a:bodyPr>
          <a:lstStyle/>
          <a:p>
            <a:pPr algn="l" indent="0" marL="0">
              <a:buNone/>
            </a:pPr>
            <a:r>
              <a:rPr lang="en-US" sz="2100" dirty="0">
                <a:solidFill>
                  <a:srgbClr val="15131A"/>
                </a:solidFill>
                <a:latin typeface="Aptos" pitchFamily="34" charset="0"/>
                <a:ea typeface="Aptos" pitchFamily="34" charset="-122"/>
                <a:cs typeface="Aptos" pitchFamily="34" charset="-120"/>
              </a:rPr>
              <a:t>Select host and workspace</a:t>
            </a:r>
            <a:endParaRPr lang="en-US" sz="2100" dirty="0"/>
          </a:p>
        </p:txBody>
      </p:sp>
      <p:sp>
        <p:nvSpPr>
          <p:cNvPr id="33" name="Shape 30"/>
          <p:cNvSpPr/>
          <p:nvPr/>
        </p:nvSpPr>
        <p:spPr>
          <a:xfrm>
            <a:off x="6126480" y="4233672"/>
            <a:ext cx="5074920" cy="566928"/>
          </a:xfrm>
          <a:prstGeom prst="rect">
            <a:avLst/>
          </a:prstGeom>
          <a:solidFill>
            <a:srgbClr val="FCE6F4"/>
          </a:solidFill>
          <a:ln w="12700">
            <a:solidFill>
              <a:srgbClr val="FCE6F4">
                <a:alpha val="0"/>
              </a:srgbClr>
            </a:solidFill>
            <a:prstDash val="solid"/>
          </a:ln>
        </p:spPr>
      </p:sp>
      <p:sp>
        <p:nvSpPr>
          <p:cNvPr id="34" name="Text 31"/>
          <p:cNvSpPr/>
          <p:nvPr/>
        </p:nvSpPr>
        <p:spPr>
          <a:xfrm>
            <a:off x="6291072" y="4306824"/>
            <a:ext cx="1234440" cy="347472"/>
          </a:xfrm>
          <a:prstGeom prst="rect">
            <a:avLst/>
          </a:prstGeom>
          <a:noFill/>
          <a:ln/>
        </p:spPr>
        <p:txBody>
          <a:bodyPr wrap="square" lIns="0" tIns="0" rIns="0" bIns="0" rtlCol="0" anchor="ctr">
            <a:normAutofit/>
          </a:bodyPr>
          <a:lstStyle/>
          <a:p>
            <a:pPr algn="l" indent="0" marL="0">
              <a:buNone/>
            </a:pPr>
            <a:r>
              <a:rPr lang="en-US" sz="1900" b="1" dirty="0">
                <a:solidFill>
                  <a:srgbClr val="AD0C72"/>
                </a:solidFill>
                <a:latin typeface="Aptos Mono" pitchFamily="34" charset="0"/>
                <a:ea typeface="Aptos Mono" pitchFamily="34" charset="-122"/>
                <a:cs typeface="Aptos Mono" pitchFamily="34" charset="-120"/>
              </a:rPr>
              <a:t>PURPOSE</a:t>
            </a:r>
            <a:endParaRPr lang="en-US" sz="1900" dirty="0"/>
          </a:p>
        </p:txBody>
      </p:sp>
      <p:sp>
        <p:nvSpPr>
          <p:cNvPr id="35" name="Text 32"/>
          <p:cNvSpPr/>
          <p:nvPr/>
        </p:nvSpPr>
        <p:spPr>
          <a:xfrm>
            <a:off x="7589520" y="4306824"/>
            <a:ext cx="3474720" cy="347472"/>
          </a:xfrm>
          <a:prstGeom prst="rect">
            <a:avLst/>
          </a:prstGeom>
          <a:noFill/>
          <a:ln/>
        </p:spPr>
        <p:txBody>
          <a:bodyPr wrap="square" lIns="0" tIns="0" rIns="0" bIns="0" rtlCol="0" anchor="ctr">
            <a:normAutofit/>
          </a:bodyPr>
          <a:lstStyle/>
          <a:p>
            <a:pPr algn="l" indent="0" marL="0">
              <a:buNone/>
            </a:pPr>
            <a:r>
              <a:rPr lang="en-US" sz="2100" dirty="0">
                <a:solidFill>
                  <a:srgbClr val="15131A"/>
                </a:solidFill>
                <a:latin typeface="Aptos" pitchFamily="34" charset="0"/>
                <a:ea typeface="Aptos" pitchFamily="34" charset="-122"/>
                <a:cs typeface="Aptos" pitchFamily="34" charset="-120"/>
              </a:rPr>
              <a:t>Specialization, review, quota rotation</a:t>
            </a:r>
            <a:endParaRPr lang="en-US" sz="2100" dirty="0"/>
          </a:p>
        </p:txBody>
      </p:sp>
      <p:sp>
        <p:nvSpPr>
          <p:cNvPr id="36" name="Text 33"/>
          <p:cNvSpPr/>
          <p:nvPr/>
        </p:nvSpPr>
        <p:spPr>
          <a:xfrm>
            <a:off x="713232" y="5349240"/>
            <a:ext cx="10607040" cy="438912"/>
          </a:xfrm>
          <a:prstGeom prst="rect">
            <a:avLst/>
          </a:prstGeom>
          <a:noFill/>
          <a:ln/>
        </p:spPr>
        <p:txBody>
          <a:bodyPr wrap="square" lIns="0" tIns="0" rIns="0" bIns="0" rtlCol="0" anchor="ctr">
            <a:normAutofit/>
          </a:bodyPr>
          <a:lstStyle/>
          <a:p>
            <a:pPr algn="ctr" indent="0" marL="0">
              <a:buNone/>
            </a:pPr>
            <a:r>
              <a:rPr lang="en-US" sz="2200" b="1" dirty="0">
                <a:solidFill>
                  <a:srgbClr val="15131A"/>
                </a:solidFill>
                <a:latin typeface="Aptos" pitchFamily="34" charset="0"/>
                <a:ea typeface="Aptos" pitchFamily="34" charset="-122"/>
                <a:cs typeface="Aptos" pitchFamily="34" charset="-120"/>
              </a:rPr>
              <a:t>Forks preserve complete conversational history in Postgres while rebinding execution to the workspace.</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56032"/>
            <a:ext cx="411480" cy="201168"/>
          </a:xfrm>
          <a:prstGeom prst="rect">
            <a:avLst/>
          </a:prstGeom>
          <a:noFill/>
          <a:ln/>
        </p:spPr>
        <p:txBody>
          <a:bodyPr wrap="square" lIns="0" tIns="0" rIns="0" bIns="0" rtlCol="0" anchor="ctr">
            <a:normAutofit/>
          </a:bodyPr>
          <a:lstStyle/>
          <a:p>
            <a:pPr algn="l" indent="0" marL="0">
              <a:buNone/>
            </a:pPr>
            <a:r>
              <a:rPr lang="en-US" sz="1100" b="1" dirty="0">
                <a:solidFill>
                  <a:srgbClr val="AD0C72"/>
                </a:solidFill>
                <a:latin typeface="Aptos Mono" pitchFamily="34" charset="0"/>
                <a:ea typeface="Aptos Mono" pitchFamily="34" charset="-122"/>
                <a:cs typeface="Aptos Mono" pitchFamily="34" charset="-120"/>
              </a:rPr>
              <a:t>08</a:t>
            </a:r>
            <a:endParaRPr lang="en-US" sz="1100" dirty="0"/>
          </a:p>
        </p:txBody>
      </p:sp>
      <p:sp>
        <p:nvSpPr>
          <p:cNvPr id="3" name="Text 1"/>
          <p:cNvSpPr/>
          <p:nvPr/>
        </p:nvSpPr>
        <p:spPr>
          <a:xfrm>
            <a:off x="8961120" y="256032"/>
            <a:ext cx="2606040" cy="201168"/>
          </a:xfrm>
          <a:prstGeom prst="rect">
            <a:avLst/>
          </a:prstGeom>
          <a:noFill/>
          <a:ln/>
        </p:spPr>
        <p:txBody>
          <a:bodyPr wrap="square" lIns="0" tIns="0" rIns="0" bIns="0" rtlCol="0" anchor="ctr">
            <a:normAutofit/>
          </a:bodyPr>
          <a:lstStyle/>
          <a:p>
            <a:pPr algn="r" indent="0" marL="0">
              <a:buNone/>
            </a:pPr>
            <a:r>
              <a:rPr lang="en-US" sz="1000" b="1" dirty="0">
                <a:solidFill>
                  <a:srgbClr val="5C5765"/>
                </a:solidFill>
                <a:latin typeface="Aptos" pitchFamily="34" charset="0"/>
                <a:ea typeface="Aptos" pitchFamily="34" charset="-122"/>
                <a:cs typeface="Aptos" pitchFamily="34" charset="-120"/>
              </a:rPr>
              <a:t>Token &amp; cache dynamics</a:t>
            </a:r>
            <a:endParaRPr lang="en-US" sz="1000" dirty="0"/>
          </a:p>
        </p:txBody>
      </p:sp>
      <p:sp>
        <p:nvSpPr>
          <p:cNvPr id="4" name="Shape 2"/>
          <p:cNvSpPr/>
          <p:nvPr/>
        </p:nvSpPr>
        <p:spPr>
          <a:xfrm>
            <a:off x="566928" y="566928"/>
            <a:ext cx="11045952" cy="0"/>
          </a:xfrm>
          <a:prstGeom prst="line">
            <a:avLst/>
          </a:prstGeom>
          <a:noFill/>
          <a:ln w="12700">
            <a:solidFill>
              <a:srgbClr val="ECE8EE"/>
            </a:solidFill>
            <a:prstDash val="solid"/>
          </a:ln>
        </p:spPr>
      </p:sp>
      <p:sp>
        <p:nvSpPr>
          <p:cNvPr id="5" name="Text 3"/>
          <p:cNvSpPr/>
          <p:nvPr/>
        </p:nvSpPr>
        <p:spPr>
          <a:xfrm>
            <a:off x="658368" y="786384"/>
            <a:ext cx="10881360" cy="566928"/>
          </a:xfrm>
          <a:prstGeom prst="rect">
            <a:avLst/>
          </a:prstGeom>
          <a:noFill/>
          <a:ln/>
        </p:spPr>
        <p:txBody>
          <a:bodyPr wrap="square" lIns="0" tIns="0" rIns="0" bIns="0" rtlCol="0" anchor="ctr">
            <a:normAutofit/>
          </a:bodyPr>
          <a:lstStyle/>
          <a:p>
            <a:pPr algn="l" indent="0" marL="0">
              <a:buNone/>
            </a:pPr>
            <a:r>
              <a:rPr lang="en-US" sz="3100" b="1" dirty="0">
                <a:solidFill>
                  <a:srgbClr val="15131A"/>
                </a:solidFill>
                <a:latin typeface="Aptos Display" pitchFamily="34" charset="0"/>
                <a:ea typeface="Aptos Display" pitchFamily="34" charset="-122"/>
                <a:cs typeface="Aptos Display" pitchFamily="34" charset="-120"/>
              </a:rPr>
              <a:t>Cache cold starts across forks</a:t>
            </a:r>
            <a:endParaRPr lang="en-US" sz="3100" dirty="0"/>
          </a:p>
        </p:txBody>
      </p:sp>
      <p:sp>
        <p:nvSpPr>
          <p:cNvPr id="6" name="Text 4"/>
          <p:cNvSpPr/>
          <p:nvPr/>
        </p:nvSpPr>
        <p:spPr>
          <a:xfrm>
            <a:off x="658368" y="6144768"/>
            <a:ext cx="10789920" cy="182880"/>
          </a:xfrm>
          <a:prstGeom prst="rect">
            <a:avLst/>
          </a:prstGeom>
          <a:noFill/>
          <a:ln/>
        </p:spPr>
        <p:txBody>
          <a:bodyPr wrap="square" lIns="0" tIns="0" rIns="0" bIns="0" rtlCol="0" anchor="ctr">
            <a:normAutofit/>
          </a:bodyPr>
          <a:lstStyle/>
          <a:p>
            <a:pPr algn="l" indent="0" marL="0">
              <a:buNone/>
            </a:pPr>
            <a:r>
              <a:rPr lang="en-US" sz="1100" dirty="0">
                <a:solidFill>
                  <a:srgbClr val="5C5765"/>
                </a:solidFill>
                <a:latin typeface="Aptos" pitchFamily="34" charset="0"/>
                <a:ea typeface="Aptos" pitchFamily="34" charset="-122"/>
                <a:cs typeface="Aptos" pitchFamily="34" charset="-120"/>
              </a:rPr>
              <a:t>Source: Provider prompt caching documentation</a:t>
            </a:r>
            <a:endParaRPr lang="en-US" sz="1100" dirty="0"/>
          </a:p>
        </p:txBody>
      </p:sp>
      <p:sp>
        <p:nvSpPr>
          <p:cNvPr id="7" name="Text 5"/>
          <p:cNvSpPr/>
          <p:nvPr/>
        </p:nvSpPr>
        <p:spPr>
          <a:xfrm>
            <a:off x="658368" y="6400800"/>
            <a:ext cx="10469880" cy="219456"/>
          </a:xfrm>
          <a:prstGeom prst="rect">
            <a:avLst/>
          </a:prstGeom>
          <a:noFill/>
          <a:ln/>
        </p:spPr>
        <p:txBody>
          <a:bodyPr wrap="square" lIns="0" tIns="0" rIns="0" bIns="0" rtlCol="0" anchor="ctr">
            <a:normAutofit/>
          </a:bodyPr>
          <a:lstStyle/>
          <a:p>
            <a:pPr algn="l" indent="0" marL="0">
              <a:buNone/>
            </a:pPr>
            <a:r>
              <a:rPr lang="en-US" sz="1450" b="1" dirty="0">
                <a:solidFill>
                  <a:srgbClr val="AD0C72"/>
                </a:solidFill>
                <a:latin typeface="Aptos" pitchFamily="34" charset="0"/>
                <a:ea typeface="Aptos" pitchFamily="34" charset="-122"/>
                <a:cs typeface="Aptos" pitchFamily="34" charset="-120"/>
              </a:rPr>
              <a:t>@anxkhn</a:t>
            </a:r>
            <a:pPr algn="l" indent="0" marL="0">
              <a:buNone/>
            </a:pPr>
            <a:r>
              <a:rPr lang="en-US" sz="1450" b="1" dirty="0">
                <a:solidFill>
                  <a:srgbClr val="5C5765"/>
                </a:solidFill>
                <a:latin typeface="Aptos" pitchFamily="34" charset="0"/>
                <a:ea typeface="Aptos" pitchFamily="34" charset="-122"/>
                <a:cs typeface="Aptos" pitchFamily="34" charset="-120"/>
              </a:rPr>
              <a:t>  ·  #DevDays  ·  #DevDaysMumbai  ·  #mumtechup</a:t>
            </a:r>
            <a:endParaRPr lang="en-US" sz="1450" dirty="0"/>
          </a:p>
        </p:txBody>
      </p:sp>
      <p:sp>
        <p:nvSpPr>
          <p:cNvPr id="8" name="Text 6"/>
          <p:cNvSpPr/>
          <p:nvPr/>
        </p:nvSpPr>
        <p:spPr>
          <a:xfrm>
            <a:off x="11064240" y="6419088"/>
            <a:ext cx="438912" cy="182880"/>
          </a:xfrm>
          <a:prstGeom prst="rect">
            <a:avLst/>
          </a:prstGeom>
          <a:noFill/>
          <a:ln/>
        </p:spPr>
        <p:txBody>
          <a:bodyPr wrap="square" lIns="0" tIns="0" rIns="0" bIns="0" rtlCol="0" anchor="ctr">
            <a:normAutofit/>
          </a:bodyPr>
          <a:lstStyle/>
          <a:p>
            <a:pPr algn="r" indent="0" marL="0">
              <a:buNone/>
            </a:pPr>
            <a:r>
              <a:rPr lang="en-US" sz="1200" b="1" dirty="0">
                <a:solidFill>
                  <a:srgbClr val="5C5765"/>
                </a:solidFill>
                <a:latin typeface="Aptos Mono" pitchFamily="34" charset="0"/>
                <a:ea typeface="Aptos Mono" pitchFamily="34" charset="-122"/>
                <a:cs typeface="Aptos Mono" pitchFamily="34" charset="-120"/>
              </a:rPr>
              <a:t>8</a:t>
            </a:r>
            <a:endParaRPr lang="en-US" sz="1200" dirty="0"/>
          </a:p>
        </p:txBody>
      </p:sp>
      <p:sp>
        <p:nvSpPr>
          <p:cNvPr id="10" name="Shape 7"/>
          <p:cNvSpPr/>
          <p:nvPr/>
        </p:nvSpPr>
        <p:spPr>
          <a:xfrm>
            <a:off x="713232" y="1645920"/>
            <a:ext cx="4389120" cy="3291840"/>
          </a:xfrm>
          <a:prstGeom prst="rect">
            <a:avLst/>
          </a:prstGeom>
          <a:solidFill>
            <a:srgbClr val="E4F7F1"/>
          </a:solidFill>
          <a:ln w="12700">
            <a:solidFill>
              <a:srgbClr val="E4F7F1"/>
            </a:solidFill>
            <a:prstDash val="solid"/>
          </a:ln>
        </p:spPr>
      </p:sp>
      <p:sp>
        <p:nvSpPr>
          <p:cNvPr id="11" name="Text 8"/>
          <p:cNvSpPr/>
          <p:nvPr/>
        </p:nvSpPr>
        <p:spPr>
          <a:xfrm>
            <a:off x="960120" y="1874520"/>
            <a:ext cx="3931920" cy="320040"/>
          </a:xfrm>
          <a:prstGeom prst="rect">
            <a:avLst/>
          </a:prstGeom>
          <a:noFill/>
          <a:ln/>
        </p:spPr>
        <p:txBody>
          <a:bodyPr wrap="square" lIns="0" tIns="0" rIns="0" bIns="0" rtlCol="0" anchor="ctr">
            <a:normAutofit/>
          </a:bodyPr>
          <a:lstStyle/>
          <a:p>
            <a:pPr algn="l" indent="0" marL="0">
              <a:buNone/>
            </a:pPr>
            <a:r>
              <a:rPr lang="en-US" sz="1600" b="1" dirty="0">
                <a:solidFill>
                  <a:srgbClr val="267D63"/>
                </a:solidFill>
                <a:latin typeface="Aptos Mono" pitchFamily="34" charset="0"/>
                <a:ea typeface="Aptos Mono" pitchFamily="34" charset="-122"/>
                <a:cs typeface="Aptos Mono" pitchFamily="34" charset="-120"/>
              </a:rPr>
              <a:t>WARM CACHE (SAME MODEL)</a:t>
            </a:r>
            <a:endParaRPr lang="en-US" sz="1600" dirty="0"/>
          </a:p>
        </p:txBody>
      </p:sp>
      <p:sp>
        <p:nvSpPr>
          <p:cNvPr id="12" name="Text 9"/>
          <p:cNvSpPr/>
          <p:nvPr/>
        </p:nvSpPr>
        <p:spPr>
          <a:xfrm>
            <a:off x="960120" y="2286000"/>
            <a:ext cx="3931920" cy="640080"/>
          </a:xfrm>
          <a:prstGeom prst="rect">
            <a:avLst/>
          </a:prstGeom>
          <a:noFill/>
          <a:ln/>
        </p:spPr>
        <p:txBody>
          <a:bodyPr wrap="square" lIns="0" tIns="0" rIns="0" bIns="0" rtlCol="0" anchor="ctr">
            <a:normAutofit/>
          </a:bodyPr>
          <a:lstStyle/>
          <a:p>
            <a:pPr algn="l" indent="0" marL="0">
              <a:buNone/>
            </a:pPr>
            <a:r>
              <a:rPr lang="en-US" sz="3600" b="1" dirty="0">
                <a:solidFill>
                  <a:srgbClr val="267D63"/>
                </a:solidFill>
                <a:latin typeface="Aptos Display" pitchFamily="34" charset="0"/>
                <a:ea typeface="Aptos Display" pitchFamily="34" charset="-122"/>
                <a:cs typeface="Aptos Display" pitchFamily="34" charset="-120"/>
              </a:rPr>
              <a:t>~90% Cache Hit</a:t>
            </a:r>
            <a:endParaRPr lang="en-US" sz="3600" dirty="0"/>
          </a:p>
        </p:txBody>
      </p:sp>
      <p:sp>
        <p:nvSpPr>
          <p:cNvPr id="13" name="Text 10"/>
          <p:cNvSpPr/>
          <p:nvPr/>
        </p:nvSpPr>
        <p:spPr>
          <a:xfrm>
            <a:off x="960120" y="3108960"/>
            <a:ext cx="3931920" cy="1097280"/>
          </a:xfrm>
          <a:prstGeom prst="rect">
            <a:avLst/>
          </a:prstGeom>
          <a:noFill/>
          <a:ln/>
        </p:spPr>
        <p:txBody>
          <a:bodyPr wrap="square" lIns="0" tIns="0" rIns="0" bIns="0" rtlCol="0" anchor="ctr">
            <a:normAutofit/>
          </a:bodyPr>
          <a:lstStyle/>
          <a:p>
            <a:pPr algn="l" indent="0" marL="0">
              <a:buNone/>
            </a:pPr>
            <a:r>
              <a:rPr lang="en-US" sz="2100" dirty="0">
                <a:solidFill>
                  <a:srgbClr val="15131A"/>
                </a:solidFill>
                <a:latin typeface="Aptos" pitchFamily="34" charset="0"/>
                <a:ea typeface="Aptos" pitchFamily="34" charset="-122"/>
                <a:cs typeface="Aptos" pitchFamily="34" charset="-120"/>
              </a:rPr>
              <a:t>Input tokens match exact prompt prefix</a:t>
            </a:r>
            <a:endParaRPr lang="en-US" sz="2100" dirty="0"/>
          </a:p>
          <a:p>
            <a:pPr algn="l" indent="0" marL="0">
              <a:buNone/>
            </a:pPr>
            <a:r>
              <a:rPr lang="en-US" sz="2100" dirty="0">
                <a:solidFill>
                  <a:srgbClr val="15131A"/>
                </a:solidFill>
                <a:latin typeface="Aptos" pitchFamily="34" charset="0"/>
                <a:ea typeface="Aptos" pitchFamily="34" charset="-122"/>
                <a:cs typeface="Aptos" pitchFamily="34" charset="-120"/>
              </a:rPr>
              <a:t>and model tokenizer.</a:t>
            </a:r>
            <a:endParaRPr lang="en-US" sz="2100" dirty="0"/>
          </a:p>
          <a:p>
            <a:pPr algn="l" indent="0" marL="0">
              <a:buNone/>
            </a:pPr>
            <a:r>
              <a:rPr lang="en-US" sz="2100" dirty="0">
                <a:solidFill>
                  <a:srgbClr val="15131A"/>
                </a:solidFill>
                <a:latin typeface="Aptos" pitchFamily="34" charset="0"/>
                <a:ea typeface="Aptos" pitchFamily="34" charset="-122"/>
                <a:cs typeface="Aptos" pitchFamily="34" charset="-120"/>
              </a:rPr>
              <a:t>Metered at discounted cached rates.</a:t>
            </a:r>
            <a:endParaRPr lang="en-US" sz="2100" dirty="0"/>
          </a:p>
        </p:txBody>
      </p:sp>
      <p:sp>
        <p:nvSpPr>
          <p:cNvPr id="14" name="Shape 11"/>
          <p:cNvSpPr/>
          <p:nvPr/>
        </p:nvSpPr>
        <p:spPr>
          <a:xfrm>
            <a:off x="5349240" y="3108960"/>
            <a:ext cx="914400" cy="0"/>
          </a:xfrm>
          <a:prstGeom prst="line">
            <a:avLst/>
          </a:prstGeom>
          <a:noFill/>
          <a:ln w="25400">
            <a:solidFill>
              <a:srgbClr val="AD0C72"/>
            </a:solidFill>
            <a:prstDash val="solid"/>
            <a:tailEnd type="triangle"/>
          </a:ln>
        </p:spPr>
      </p:sp>
      <p:sp>
        <p:nvSpPr>
          <p:cNvPr id="15" name="Text 12"/>
          <p:cNvSpPr/>
          <p:nvPr/>
        </p:nvSpPr>
        <p:spPr>
          <a:xfrm>
            <a:off x="5166360" y="2606040"/>
            <a:ext cx="1280160" cy="365760"/>
          </a:xfrm>
          <a:prstGeom prst="rect">
            <a:avLst/>
          </a:prstGeom>
          <a:noFill/>
          <a:ln/>
        </p:spPr>
        <p:txBody>
          <a:bodyPr wrap="square" lIns="0" tIns="0" rIns="0" bIns="0" rtlCol="0" anchor="ctr">
            <a:normAutofit/>
          </a:bodyPr>
          <a:lstStyle/>
          <a:p>
            <a:pPr algn="ctr" indent="0" marL="0">
              <a:buNone/>
            </a:pPr>
            <a:r>
              <a:rPr lang="en-US" sz="1100" b="1" dirty="0">
                <a:solidFill>
                  <a:srgbClr val="AD0C72"/>
                </a:solidFill>
                <a:latin typeface="Aptos Mono" pitchFamily="34" charset="0"/>
                <a:ea typeface="Aptos Mono" pitchFamily="34" charset="-122"/>
                <a:cs typeface="Aptos Mono" pitchFamily="34" charset="-120"/>
              </a:rPr>
              <a:t>FORK TO NEW MODEL</a:t>
            </a:r>
            <a:endParaRPr lang="en-US" sz="1100" dirty="0"/>
          </a:p>
        </p:txBody>
      </p:sp>
      <p:sp>
        <p:nvSpPr>
          <p:cNvPr id="16" name="Shape 13"/>
          <p:cNvSpPr/>
          <p:nvPr/>
        </p:nvSpPr>
        <p:spPr>
          <a:xfrm>
            <a:off x="6537960" y="1645920"/>
            <a:ext cx="4389120" cy="3291840"/>
          </a:xfrm>
          <a:prstGeom prst="rect">
            <a:avLst/>
          </a:prstGeom>
          <a:solidFill>
            <a:srgbClr val="FFF1DB"/>
          </a:solidFill>
          <a:ln w="12700">
            <a:solidFill>
              <a:srgbClr val="FFF1DB"/>
            </a:solidFill>
            <a:prstDash val="solid"/>
          </a:ln>
        </p:spPr>
      </p:sp>
      <p:sp>
        <p:nvSpPr>
          <p:cNvPr id="17" name="Text 14"/>
          <p:cNvSpPr/>
          <p:nvPr/>
        </p:nvSpPr>
        <p:spPr>
          <a:xfrm>
            <a:off x="6784848" y="1874520"/>
            <a:ext cx="3931920" cy="320040"/>
          </a:xfrm>
          <a:prstGeom prst="rect">
            <a:avLst/>
          </a:prstGeom>
          <a:noFill/>
          <a:ln/>
        </p:spPr>
        <p:txBody>
          <a:bodyPr wrap="square" lIns="0" tIns="0" rIns="0" bIns="0" rtlCol="0" anchor="ctr">
            <a:normAutofit/>
          </a:bodyPr>
          <a:lstStyle/>
          <a:p>
            <a:pPr algn="l" indent="0" marL="0">
              <a:buNone/>
            </a:pPr>
            <a:r>
              <a:rPr lang="en-US" sz="1600" b="1" dirty="0">
                <a:solidFill>
                  <a:srgbClr val="A65A00"/>
                </a:solidFill>
                <a:latin typeface="Aptos Mono" pitchFamily="34" charset="0"/>
                <a:ea typeface="Aptos Mono" pitchFamily="34" charset="-122"/>
                <a:cs typeface="Aptos Mono" pitchFamily="34" charset="-120"/>
              </a:rPr>
              <a:t>COLD CACHE (FORKED MODEL)</a:t>
            </a:r>
            <a:endParaRPr lang="en-US" sz="1600" dirty="0"/>
          </a:p>
        </p:txBody>
      </p:sp>
      <p:sp>
        <p:nvSpPr>
          <p:cNvPr id="18" name="Text 15"/>
          <p:cNvSpPr/>
          <p:nvPr/>
        </p:nvSpPr>
        <p:spPr>
          <a:xfrm>
            <a:off x="6784848" y="2286000"/>
            <a:ext cx="3931920" cy="640080"/>
          </a:xfrm>
          <a:prstGeom prst="rect">
            <a:avLst/>
          </a:prstGeom>
          <a:noFill/>
          <a:ln/>
        </p:spPr>
        <p:txBody>
          <a:bodyPr wrap="square" lIns="0" tIns="0" rIns="0" bIns="0" rtlCol="0" anchor="ctr">
            <a:normAutofit/>
          </a:bodyPr>
          <a:lstStyle/>
          <a:p>
            <a:pPr algn="l" indent="0" marL="0">
              <a:buNone/>
            </a:pPr>
            <a:r>
              <a:rPr lang="en-US" sz="3600" b="1" dirty="0">
                <a:solidFill>
                  <a:srgbClr val="A65A00"/>
                </a:solidFill>
                <a:latin typeface="Aptos Display" pitchFamily="34" charset="0"/>
                <a:ea typeface="Aptos Display" pitchFamily="34" charset="-122"/>
                <a:cs typeface="Aptos Display" pitchFamily="34" charset="-120"/>
              </a:rPr>
              <a:t>0% Cache Hit (Turn 1)</a:t>
            </a:r>
            <a:endParaRPr lang="en-US" sz="3600" dirty="0"/>
          </a:p>
        </p:txBody>
      </p:sp>
      <p:sp>
        <p:nvSpPr>
          <p:cNvPr id="19" name="Text 16"/>
          <p:cNvSpPr/>
          <p:nvPr/>
        </p:nvSpPr>
        <p:spPr>
          <a:xfrm>
            <a:off x="6784848" y="3108960"/>
            <a:ext cx="3931920" cy="1097280"/>
          </a:xfrm>
          <a:prstGeom prst="rect">
            <a:avLst/>
          </a:prstGeom>
          <a:noFill/>
          <a:ln/>
        </p:spPr>
        <p:txBody>
          <a:bodyPr wrap="square" lIns="0" tIns="0" rIns="0" bIns="0" rtlCol="0" anchor="ctr">
            <a:normAutofit/>
          </a:bodyPr>
          <a:lstStyle/>
          <a:p>
            <a:pPr algn="l" indent="0" marL="0">
              <a:buNone/>
            </a:pPr>
            <a:r>
              <a:rPr lang="en-US" sz="2100" dirty="0">
                <a:solidFill>
                  <a:srgbClr val="15131A"/>
                </a:solidFill>
                <a:latin typeface="Aptos" pitchFamily="34" charset="0"/>
                <a:ea typeface="Aptos" pitchFamily="34" charset="-122"/>
                <a:cs typeface="Aptos" pitchFamily="34" charset="-120"/>
              </a:rPr>
              <a:t>Provider KV caches do not cross models.</a:t>
            </a:r>
            <a:endParaRPr lang="en-US" sz="2100" dirty="0"/>
          </a:p>
          <a:p>
            <a:pPr algn="l" indent="0" marL="0">
              <a:buNone/>
            </a:pPr>
            <a:r>
              <a:rPr lang="en-US" sz="2100" dirty="0">
                <a:solidFill>
                  <a:srgbClr val="15131A"/>
                </a:solidFill>
                <a:latin typeface="Aptos" pitchFamily="34" charset="0"/>
                <a:ea typeface="Aptos" pitchFamily="34" charset="-122"/>
                <a:cs typeface="Aptos" pitchFamily="34" charset="-120"/>
              </a:rPr>
              <a:t>Turn 1 requires full re-tokenization</a:t>
            </a:r>
            <a:endParaRPr lang="en-US" sz="2100" dirty="0"/>
          </a:p>
          <a:p>
            <a:pPr algn="l" indent="0" marL="0">
              <a:buNone/>
            </a:pPr>
            <a:r>
              <a:rPr lang="en-US" sz="2100" dirty="0">
                <a:solidFill>
                  <a:srgbClr val="15131A"/>
                </a:solidFill>
                <a:latin typeface="Aptos" pitchFamily="34" charset="0"/>
                <a:ea typeface="Aptos" pitchFamily="34" charset="-122"/>
                <a:cs typeface="Aptos" pitchFamily="34" charset="-120"/>
              </a:rPr>
              <a:t>at standard input token rates.</a:t>
            </a:r>
            <a:endParaRPr lang="en-US" sz="2100" dirty="0"/>
          </a:p>
        </p:txBody>
      </p:sp>
      <p:sp>
        <p:nvSpPr>
          <p:cNvPr id="20" name="Text 17"/>
          <p:cNvSpPr/>
          <p:nvPr/>
        </p:nvSpPr>
        <p:spPr>
          <a:xfrm>
            <a:off x="731520" y="5394960"/>
            <a:ext cx="10515600" cy="411480"/>
          </a:xfrm>
          <a:prstGeom prst="rect">
            <a:avLst/>
          </a:prstGeom>
          <a:noFill/>
          <a:ln/>
        </p:spPr>
        <p:txBody>
          <a:bodyPr wrap="square" lIns="0" tIns="0" rIns="0" bIns="0" rtlCol="0" anchor="ctr">
            <a:normAutofit/>
          </a:bodyPr>
          <a:lstStyle/>
          <a:p>
            <a:pPr algn="ctr" indent="0" marL="0">
              <a:buNone/>
            </a:pPr>
            <a:r>
              <a:rPr lang="en-US" sz="2300" b="1" dirty="0">
                <a:solidFill>
                  <a:srgbClr val="15131A"/>
                </a:solidFill>
                <a:latin typeface="Aptos" pitchFamily="34" charset="0"/>
                <a:ea typeface="Aptos" pitchFamily="34" charset="-122"/>
                <a:cs typeface="Aptos" pitchFamily="34" charset="-120"/>
              </a:rPr>
              <a:t>Conversation history transfers in the database, but prompt cache resets at the model boundary.</a:t>
            </a:r>
            <a:endParaRPr lang="en-US" sz="2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56032"/>
            <a:ext cx="411480" cy="201168"/>
          </a:xfrm>
          <a:prstGeom prst="rect">
            <a:avLst/>
          </a:prstGeom>
          <a:noFill/>
          <a:ln/>
        </p:spPr>
        <p:txBody>
          <a:bodyPr wrap="square" lIns="0" tIns="0" rIns="0" bIns="0" rtlCol="0" anchor="ctr">
            <a:normAutofit/>
          </a:bodyPr>
          <a:lstStyle/>
          <a:p>
            <a:pPr algn="l" indent="0" marL="0">
              <a:buNone/>
            </a:pPr>
            <a:r>
              <a:rPr lang="en-US" sz="1100" b="1" dirty="0">
                <a:solidFill>
                  <a:srgbClr val="AD0C72"/>
                </a:solidFill>
                <a:latin typeface="Aptos Mono" pitchFamily="34" charset="0"/>
                <a:ea typeface="Aptos Mono" pitchFamily="34" charset="-122"/>
                <a:cs typeface="Aptos Mono" pitchFamily="34" charset="-120"/>
              </a:rPr>
              <a:t>09</a:t>
            </a:r>
            <a:endParaRPr lang="en-US" sz="1100" dirty="0"/>
          </a:p>
        </p:txBody>
      </p:sp>
      <p:sp>
        <p:nvSpPr>
          <p:cNvPr id="3" name="Text 1"/>
          <p:cNvSpPr/>
          <p:nvPr/>
        </p:nvSpPr>
        <p:spPr>
          <a:xfrm>
            <a:off x="8961120" y="256032"/>
            <a:ext cx="2606040" cy="201168"/>
          </a:xfrm>
          <a:prstGeom prst="rect">
            <a:avLst/>
          </a:prstGeom>
          <a:noFill/>
          <a:ln/>
        </p:spPr>
        <p:txBody>
          <a:bodyPr wrap="square" lIns="0" tIns="0" rIns="0" bIns="0" rtlCol="0" anchor="ctr">
            <a:normAutofit/>
          </a:bodyPr>
          <a:lstStyle/>
          <a:p>
            <a:pPr algn="r" indent="0" marL="0">
              <a:buNone/>
            </a:pPr>
            <a:r>
              <a:rPr lang="en-US" sz="1000" b="1" dirty="0">
                <a:solidFill>
                  <a:srgbClr val="5C5765"/>
                </a:solidFill>
                <a:latin typeface="Aptos" pitchFamily="34" charset="0"/>
                <a:ea typeface="Aptos" pitchFamily="34" charset="-122"/>
                <a:cs typeface="Aptos" pitchFamily="34" charset="-120"/>
              </a:rPr>
              <a:t>The adapter</a:t>
            </a:r>
            <a:endParaRPr lang="en-US" sz="1000" dirty="0"/>
          </a:p>
        </p:txBody>
      </p:sp>
      <p:sp>
        <p:nvSpPr>
          <p:cNvPr id="4" name="Shape 2"/>
          <p:cNvSpPr/>
          <p:nvPr/>
        </p:nvSpPr>
        <p:spPr>
          <a:xfrm>
            <a:off x="566928" y="566928"/>
            <a:ext cx="11045952" cy="0"/>
          </a:xfrm>
          <a:prstGeom prst="line">
            <a:avLst/>
          </a:prstGeom>
          <a:noFill/>
          <a:ln w="12700">
            <a:solidFill>
              <a:srgbClr val="ECE8EE"/>
            </a:solidFill>
            <a:prstDash val="solid"/>
          </a:ln>
        </p:spPr>
      </p:sp>
      <p:sp>
        <p:nvSpPr>
          <p:cNvPr id="5" name="Text 3"/>
          <p:cNvSpPr/>
          <p:nvPr/>
        </p:nvSpPr>
        <p:spPr>
          <a:xfrm>
            <a:off x="658368" y="786384"/>
            <a:ext cx="10881360" cy="566928"/>
          </a:xfrm>
          <a:prstGeom prst="rect">
            <a:avLst/>
          </a:prstGeom>
          <a:noFill/>
          <a:ln/>
        </p:spPr>
        <p:txBody>
          <a:bodyPr wrap="square" lIns="0" tIns="0" rIns="0" bIns="0" rtlCol="0" anchor="ctr">
            <a:normAutofit/>
          </a:bodyPr>
          <a:lstStyle/>
          <a:p>
            <a:pPr algn="l" indent="0" marL="0">
              <a:buNone/>
            </a:pPr>
            <a:r>
              <a:rPr lang="en-US" sz="3100" b="1" dirty="0">
                <a:solidFill>
                  <a:srgbClr val="15131A"/>
                </a:solidFill>
                <a:latin typeface="Aptos Display" pitchFamily="34" charset="0"/>
                <a:ea typeface="Aptos Display" pitchFamily="34" charset="-122"/>
                <a:cs typeface="Aptos Display" pitchFamily="34" charset="-120"/>
              </a:rPr>
              <a:t>Copilot enters through the SDK</a:t>
            </a:r>
            <a:endParaRPr lang="en-US" sz="3100" dirty="0"/>
          </a:p>
        </p:txBody>
      </p:sp>
      <p:sp>
        <p:nvSpPr>
          <p:cNvPr id="6" name="Text 4"/>
          <p:cNvSpPr/>
          <p:nvPr/>
        </p:nvSpPr>
        <p:spPr>
          <a:xfrm>
            <a:off x="658368" y="6144768"/>
            <a:ext cx="10789920" cy="182880"/>
          </a:xfrm>
          <a:prstGeom prst="rect">
            <a:avLst/>
          </a:prstGeom>
          <a:noFill/>
          <a:ln/>
        </p:spPr>
        <p:txBody>
          <a:bodyPr wrap="square" lIns="0" tIns="0" rIns="0" bIns="0" rtlCol="0" anchor="ctr">
            <a:normAutofit/>
          </a:bodyPr>
          <a:lstStyle/>
          <a:p>
            <a:pPr algn="l" indent="0" marL="0">
              <a:buNone/>
            </a:pPr>
            <a:r>
              <a:rPr lang="en-US" sz="1100" dirty="0">
                <a:solidFill>
                  <a:srgbClr val="5C5765"/>
                </a:solidFill>
                <a:latin typeface="Aptos" pitchFamily="34" charset="0"/>
                <a:ea typeface="Aptos" pitchFamily="34" charset="-122"/>
                <a:cs typeface="Aptos" pitchFamily="34" charset="-120"/>
              </a:rPr>
              <a:t>Source: Omnigent copilot_executor.py · PRs #1486, #1505, #1511</a:t>
            </a:r>
            <a:endParaRPr lang="en-US" sz="1100" dirty="0"/>
          </a:p>
        </p:txBody>
      </p:sp>
      <p:sp>
        <p:nvSpPr>
          <p:cNvPr id="7" name="Text 5"/>
          <p:cNvSpPr/>
          <p:nvPr/>
        </p:nvSpPr>
        <p:spPr>
          <a:xfrm>
            <a:off x="658368" y="6400800"/>
            <a:ext cx="10469880" cy="219456"/>
          </a:xfrm>
          <a:prstGeom prst="rect">
            <a:avLst/>
          </a:prstGeom>
          <a:noFill/>
          <a:ln/>
        </p:spPr>
        <p:txBody>
          <a:bodyPr wrap="square" lIns="0" tIns="0" rIns="0" bIns="0" rtlCol="0" anchor="ctr">
            <a:normAutofit/>
          </a:bodyPr>
          <a:lstStyle/>
          <a:p>
            <a:pPr algn="l" indent="0" marL="0">
              <a:buNone/>
            </a:pPr>
            <a:r>
              <a:rPr lang="en-US" sz="1450" b="1" dirty="0">
                <a:solidFill>
                  <a:srgbClr val="AD0C72"/>
                </a:solidFill>
                <a:latin typeface="Aptos" pitchFamily="34" charset="0"/>
                <a:ea typeface="Aptos" pitchFamily="34" charset="-122"/>
                <a:cs typeface="Aptos" pitchFamily="34" charset="-120"/>
              </a:rPr>
              <a:t>@anxkhn</a:t>
            </a:r>
            <a:pPr algn="l" indent="0" marL="0">
              <a:buNone/>
            </a:pPr>
            <a:r>
              <a:rPr lang="en-US" sz="1450" b="1" dirty="0">
                <a:solidFill>
                  <a:srgbClr val="5C5765"/>
                </a:solidFill>
                <a:latin typeface="Aptos" pitchFamily="34" charset="0"/>
                <a:ea typeface="Aptos" pitchFamily="34" charset="-122"/>
                <a:cs typeface="Aptos" pitchFamily="34" charset="-120"/>
              </a:rPr>
              <a:t>  ·  #DevDays  ·  #DevDaysMumbai  ·  #mumtechup</a:t>
            </a:r>
            <a:endParaRPr lang="en-US" sz="1450" dirty="0"/>
          </a:p>
        </p:txBody>
      </p:sp>
      <p:sp>
        <p:nvSpPr>
          <p:cNvPr id="8" name="Text 6"/>
          <p:cNvSpPr/>
          <p:nvPr/>
        </p:nvSpPr>
        <p:spPr>
          <a:xfrm>
            <a:off x="11064240" y="6419088"/>
            <a:ext cx="438912" cy="182880"/>
          </a:xfrm>
          <a:prstGeom prst="rect">
            <a:avLst/>
          </a:prstGeom>
          <a:noFill/>
          <a:ln/>
        </p:spPr>
        <p:txBody>
          <a:bodyPr wrap="square" lIns="0" tIns="0" rIns="0" bIns="0" rtlCol="0" anchor="ctr">
            <a:normAutofit/>
          </a:bodyPr>
          <a:lstStyle/>
          <a:p>
            <a:pPr algn="r" indent="0" marL="0">
              <a:buNone/>
            </a:pPr>
            <a:r>
              <a:rPr lang="en-US" sz="1200" b="1" dirty="0">
                <a:solidFill>
                  <a:srgbClr val="5C5765"/>
                </a:solidFill>
                <a:latin typeface="Aptos Mono" pitchFamily="34" charset="0"/>
                <a:ea typeface="Aptos Mono" pitchFamily="34" charset="-122"/>
                <a:cs typeface="Aptos Mono" pitchFamily="34" charset="-120"/>
              </a:rPr>
              <a:t>9</a:t>
            </a:r>
            <a:endParaRPr lang="en-US" sz="1200" dirty="0"/>
          </a:p>
        </p:txBody>
      </p:sp>
      <p:sp>
        <p:nvSpPr>
          <p:cNvPr id="10" name="Shape 7"/>
          <p:cNvSpPr/>
          <p:nvPr/>
        </p:nvSpPr>
        <p:spPr>
          <a:xfrm>
            <a:off x="658368" y="2029968"/>
            <a:ext cx="2011680" cy="1078992"/>
          </a:xfrm>
          <a:prstGeom prst="rect">
            <a:avLst/>
          </a:prstGeom>
          <a:solidFill>
            <a:srgbClr val="F6F3F7"/>
          </a:solidFill>
          <a:ln w="12700">
            <a:solidFill>
              <a:srgbClr val="F6F3F7"/>
            </a:solidFill>
            <a:prstDash val="solid"/>
          </a:ln>
        </p:spPr>
      </p:sp>
      <p:sp>
        <p:nvSpPr>
          <p:cNvPr id="11" name="Text 8"/>
          <p:cNvSpPr/>
          <p:nvPr/>
        </p:nvSpPr>
        <p:spPr>
          <a:xfrm>
            <a:off x="768096" y="2212848"/>
            <a:ext cx="1792224" cy="585216"/>
          </a:xfrm>
          <a:prstGeom prst="rect">
            <a:avLst/>
          </a:prstGeom>
          <a:noFill/>
          <a:ln/>
        </p:spPr>
        <p:txBody>
          <a:bodyPr wrap="square" lIns="0" tIns="0" rIns="0" bIns="0" rtlCol="0" anchor="ctr">
            <a:normAutofit/>
          </a:bodyPr>
          <a:lstStyle/>
          <a:p>
            <a:pPr algn="ctr" indent="0" marL="0">
              <a:buNone/>
            </a:pPr>
            <a:r>
              <a:rPr lang="en-US" sz="2400" b="1" dirty="0">
                <a:solidFill>
                  <a:srgbClr val="15131A"/>
                </a:solidFill>
                <a:latin typeface="Aptos Mono" pitchFamily="34" charset="0"/>
                <a:ea typeface="Aptos Mono" pitchFamily="34" charset="-122"/>
                <a:cs typeface="Aptos Mono" pitchFamily="34" charset="-120"/>
              </a:rPr>
              <a:t>OMNIGENT RUNNER</a:t>
            </a:r>
            <a:endParaRPr lang="en-US" sz="2400" dirty="0"/>
          </a:p>
        </p:txBody>
      </p:sp>
      <p:sp>
        <p:nvSpPr>
          <p:cNvPr id="12" name="Shape 9"/>
          <p:cNvSpPr/>
          <p:nvPr/>
        </p:nvSpPr>
        <p:spPr>
          <a:xfrm>
            <a:off x="2743200" y="2560320"/>
            <a:ext cx="374904" cy="0"/>
          </a:xfrm>
          <a:prstGeom prst="line">
            <a:avLst/>
          </a:prstGeom>
          <a:noFill/>
          <a:ln w="25400">
            <a:solidFill>
              <a:srgbClr val="AD0C72"/>
            </a:solidFill>
            <a:prstDash val="solid"/>
            <a:tailEnd type="triangle"/>
          </a:ln>
        </p:spPr>
      </p:sp>
      <p:sp>
        <p:nvSpPr>
          <p:cNvPr id="13" name="Shape 10"/>
          <p:cNvSpPr/>
          <p:nvPr/>
        </p:nvSpPr>
        <p:spPr>
          <a:xfrm>
            <a:off x="3182112" y="2029968"/>
            <a:ext cx="2304288" cy="1078992"/>
          </a:xfrm>
          <a:prstGeom prst="rect">
            <a:avLst/>
          </a:prstGeom>
          <a:solidFill>
            <a:srgbClr val="FCE6F4"/>
          </a:solidFill>
          <a:ln w="12700">
            <a:solidFill>
              <a:srgbClr val="FCE6F4"/>
            </a:solidFill>
            <a:prstDash val="solid"/>
          </a:ln>
        </p:spPr>
      </p:sp>
      <p:sp>
        <p:nvSpPr>
          <p:cNvPr id="14" name="Text 11"/>
          <p:cNvSpPr/>
          <p:nvPr/>
        </p:nvSpPr>
        <p:spPr>
          <a:xfrm>
            <a:off x="3291840" y="2212848"/>
            <a:ext cx="2084832" cy="585216"/>
          </a:xfrm>
          <a:prstGeom prst="rect">
            <a:avLst/>
          </a:prstGeom>
          <a:noFill/>
          <a:ln/>
        </p:spPr>
        <p:txBody>
          <a:bodyPr wrap="square" lIns="0" tIns="0" rIns="0" bIns="0" rtlCol="0" anchor="ctr">
            <a:normAutofit/>
          </a:bodyPr>
          <a:lstStyle/>
          <a:p>
            <a:pPr algn="ctr" indent="0" marL="0">
              <a:buNone/>
            </a:pPr>
            <a:r>
              <a:rPr lang="en-US" sz="2400" b="1" dirty="0">
                <a:solidFill>
                  <a:srgbClr val="AD0C72"/>
                </a:solidFill>
                <a:latin typeface="Aptos Mono" pitchFamily="34" charset="0"/>
                <a:ea typeface="Aptos Mono" pitchFamily="34" charset="-122"/>
                <a:cs typeface="Aptos Mono" pitchFamily="34" charset="-120"/>
              </a:rPr>
              <a:t>github-copilot-sdk</a:t>
            </a:r>
            <a:endParaRPr lang="en-US" sz="2400" dirty="0"/>
          </a:p>
        </p:txBody>
      </p:sp>
      <p:sp>
        <p:nvSpPr>
          <p:cNvPr id="15" name="Shape 12"/>
          <p:cNvSpPr/>
          <p:nvPr/>
        </p:nvSpPr>
        <p:spPr>
          <a:xfrm>
            <a:off x="5559552" y="2560320"/>
            <a:ext cx="320040" cy="0"/>
          </a:xfrm>
          <a:prstGeom prst="line">
            <a:avLst/>
          </a:prstGeom>
          <a:noFill/>
          <a:ln w="25400">
            <a:solidFill>
              <a:srgbClr val="AD0C72"/>
            </a:solidFill>
            <a:prstDash val="solid"/>
            <a:tailEnd type="triangle"/>
          </a:ln>
        </p:spPr>
      </p:sp>
      <p:sp>
        <p:nvSpPr>
          <p:cNvPr id="16" name="Shape 13"/>
          <p:cNvSpPr/>
          <p:nvPr/>
        </p:nvSpPr>
        <p:spPr>
          <a:xfrm>
            <a:off x="5943600" y="2029968"/>
            <a:ext cx="2487168" cy="1078992"/>
          </a:xfrm>
          <a:prstGeom prst="rect">
            <a:avLst/>
          </a:prstGeom>
          <a:solidFill>
            <a:srgbClr val="F6F3F7"/>
          </a:solidFill>
          <a:ln w="12700">
            <a:solidFill>
              <a:srgbClr val="F6F3F7"/>
            </a:solidFill>
            <a:prstDash val="solid"/>
          </a:ln>
        </p:spPr>
      </p:sp>
      <p:sp>
        <p:nvSpPr>
          <p:cNvPr id="17" name="Text 14"/>
          <p:cNvSpPr/>
          <p:nvPr/>
        </p:nvSpPr>
        <p:spPr>
          <a:xfrm>
            <a:off x="6053328" y="2212848"/>
            <a:ext cx="2267712" cy="585216"/>
          </a:xfrm>
          <a:prstGeom prst="rect">
            <a:avLst/>
          </a:prstGeom>
          <a:noFill/>
          <a:ln/>
        </p:spPr>
        <p:txBody>
          <a:bodyPr wrap="square" lIns="0" tIns="0" rIns="0" bIns="0" rtlCol="0" anchor="ctr">
            <a:normAutofit/>
          </a:bodyPr>
          <a:lstStyle/>
          <a:p>
            <a:pPr algn="ctr" indent="0" marL="0">
              <a:buNone/>
            </a:pPr>
            <a:r>
              <a:rPr lang="en-US" sz="2400" b="1" dirty="0">
                <a:solidFill>
                  <a:srgbClr val="15131A"/>
                </a:solidFill>
                <a:latin typeface="Aptos Mono" pitchFamily="34" charset="0"/>
                <a:ea typeface="Aptos Mono" pitchFamily="34" charset="-122"/>
                <a:cs typeface="Aptos Mono" pitchFamily="34" charset="-120"/>
              </a:rPr>
              <a:t>SDK-MANAGED CLI</a:t>
            </a:r>
            <a:endParaRPr lang="en-US" sz="2400" dirty="0"/>
          </a:p>
          <a:p>
            <a:pPr algn="ctr" indent="0" marL="0">
              <a:buNone/>
            </a:pPr>
            <a:r>
              <a:rPr lang="en-US" sz="2400" b="1" dirty="0">
                <a:solidFill>
                  <a:srgbClr val="15131A"/>
                </a:solidFill>
                <a:latin typeface="Aptos Mono" pitchFamily="34" charset="0"/>
                <a:ea typeface="Aptos Mono" pitchFamily="34" charset="-122"/>
                <a:cs typeface="Aptos Mono" pitchFamily="34" charset="-120"/>
              </a:rPr>
              <a:t>BACKEND</a:t>
            </a:r>
            <a:endParaRPr lang="en-US" sz="2400" dirty="0"/>
          </a:p>
        </p:txBody>
      </p:sp>
      <p:sp>
        <p:nvSpPr>
          <p:cNvPr id="18" name="Shape 15"/>
          <p:cNvSpPr/>
          <p:nvPr/>
        </p:nvSpPr>
        <p:spPr>
          <a:xfrm>
            <a:off x="8503920" y="2560320"/>
            <a:ext cx="320040" cy="0"/>
          </a:xfrm>
          <a:prstGeom prst="line">
            <a:avLst/>
          </a:prstGeom>
          <a:noFill/>
          <a:ln w="25400">
            <a:solidFill>
              <a:srgbClr val="AD0C72"/>
            </a:solidFill>
            <a:prstDash val="solid"/>
            <a:tailEnd type="triangle"/>
          </a:ln>
        </p:spPr>
      </p:sp>
      <p:sp>
        <p:nvSpPr>
          <p:cNvPr id="19" name="Shape 16"/>
          <p:cNvSpPr/>
          <p:nvPr/>
        </p:nvSpPr>
        <p:spPr>
          <a:xfrm>
            <a:off x="8887968" y="2029968"/>
            <a:ext cx="2423160" cy="1078992"/>
          </a:xfrm>
          <a:prstGeom prst="rect">
            <a:avLst/>
          </a:prstGeom>
          <a:solidFill>
            <a:srgbClr val="F6F3F7"/>
          </a:solidFill>
          <a:ln w="12700">
            <a:solidFill>
              <a:srgbClr val="F6F3F7"/>
            </a:solidFill>
            <a:prstDash val="solid"/>
          </a:ln>
        </p:spPr>
      </p:sp>
      <p:sp>
        <p:nvSpPr>
          <p:cNvPr id="20" name="Text 17"/>
          <p:cNvSpPr/>
          <p:nvPr/>
        </p:nvSpPr>
        <p:spPr>
          <a:xfrm>
            <a:off x="8997696" y="2212848"/>
            <a:ext cx="2203704" cy="585216"/>
          </a:xfrm>
          <a:prstGeom prst="rect">
            <a:avLst/>
          </a:prstGeom>
          <a:noFill/>
          <a:ln/>
        </p:spPr>
        <p:txBody>
          <a:bodyPr wrap="square" lIns="0" tIns="0" rIns="0" bIns="0" rtlCol="0" anchor="ctr">
            <a:normAutofit/>
          </a:bodyPr>
          <a:lstStyle/>
          <a:p>
            <a:pPr algn="ctr" indent="0" marL="0">
              <a:buNone/>
            </a:pPr>
            <a:r>
              <a:rPr lang="en-US" sz="2400" b="1" dirty="0">
                <a:solidFill>
                  <a:srgbClr val="15131A"/>
                </a:solidFill>
                <a:latin typeface="Aptos Mono" pitchFamily="34" charset="0"/>
                <a:ea typeface="Aptos Mono" pitchFamily="34" charset="-122"/>
                <a:cs typeface="Aptos Mono" pitchFamily="34" charset="-120"/>
              </a:rPr>
              <a:t>COPILOT SERVICE</a:t>
            </a:r>
            <a:endParaRPr lang="en-US" sz="2400" dirty="0"/>
          </a:p>
        </p:txBody>
      </p:sp>
      <p:sp>
        <p:nvSpPr>
          <p:cNvPr id="21" name="Shape 18"/>
          <p:cNvSpPr/>
          <p:nvPr/>
        </p:nvSpPr>
        <p:spPr>
          <a:xfrm>
            <a:off x="1051560" y="3794760"/>
            <a:ext cx="1600200" cy="310896"/>
          </a:xfrm>
          <a:prstGeom prst="roundRect">
            <a:avLst>
              <a:gd name="adj" fmla="val 50000"/>
            </a:avLst>
          </a:prstGeom>
          <a:solidFill>
            <a:srgbClr val="FCE6F4"/>
          </a:solidFill>
          <a:ln w="12700">
            <a:solidFill>
              <a:srgbClr val="FCE6F4">
                <a:alpha val="0"/>
              </a:srgbClr>
            </a:solidFill>
            <a:prstDash val="solid"/>
          </a:ln>
        </p:spPr>
      </p:sp>
      <p:sp>
        <p:nvSpPr>
          <p:cNvPr id="22" name="Text 19"/>
          <p:cNvSpPr/>
          <p:nvPr/>
        </p:nvSpPr>
        <p:spPr>
          <a:xfrm>
            <a:off x="1124712" y="3831336"/>
            <a:ext cx="1453896" cy="210312"/>
          </a:xfrm>
          <a:prstGeom prst="rect">
            <a:avLst/>
          </a:prstGeom>
          <a:noFill/>
          <a:ln/>
        </p:spPr>
        <p:txBody>
          <a:bodyPr wrap="square" lIns="0" tIns="0" rIns="0" bIns="0" rtlCol="0" anchor="ctr">
            <a:normAutofit/>
          </a:bodyPr>
          <a:lstStyle/>
          <a:p>
            <a:pPr algn="ctr" indent="0" marL="0">
              <a:buNone/>
            </a:pPr>
            <a:r>
              <a:rPr lang="en-US" sz="1300" b="1" dirty="0">
                <a:solidFill>
                  <a:srgbClr val="AD0C72"/>
                </a:solidFill>
                <a:latin typeface="Aptos Mono" pitchFamily="34" charset="0"/>
                <a:ea typeface="Aptos Mono" pitchFamily="34" charset="-122"/>
                <a:cs typeface="Aptos Mono" pitchFamily="34" charset="-120"/>
              </a:rPr>
              <a:t>tool</a:t>
            </a:r>
            <a:endParaRPr lang="en-US" sz="1300" dirty="0"/>
          </a:p>
        </p:txBody>
      </p:sp>
      <p:sp>
        <p:nvSpPr>
          <p:cNvPr id="23" name="Shape 20"/>
          <p:cNvSpPr/>
          <p:nvPr/>
        </p:nvSpPr>
        <p:spPr>
          <a:xfrm>
            <a:off x="3108960" y="3794760"/>
            <a:ext cx="1600200" cy="310896"/>
          </a:xfrm>
          <a:prstGeom prst="roundRect">
            <a:avLst>
              <a:gd name="adj" fmla="val 50000"/>
            </a:avLst>
          </a:prstGeom>
          <a:solidFill>
            <a:srgbClr val="E4F7F1"/>
          </a:solidFill>
          <a:ln w="12700">
            <a:solidFill>
              <a:srgbClr val="E4F7F1">
                <a:alpha val="0"/>
              </a:srgbClr>
            </a:solidFill>
            <a:prstDash val="solid"/>
          </a:ln>
        </p:spPr>
      </p:sp>
      <p:sp>
        <p:nvSpPr>
          <p:cNvPr id="24" name="Text 21"/>
          <p:cNvSpPr/>
          <p:nvPr/>
        </p:nvSpPr>
        <p:spPr>
          <a:xfrm>
            <a:off x="3182112" y="3831336"/>
            <a:ext cx="1453896" cy="210312"/>
          </a:xfrm>
          <a:prstGeom prst="rect">
            <a:avLst/>
          </a:prstGeom>
          <a:noFill/>
          <a:ln/>
        </p:spPr>
        <p:txBody>
          <a:bodyPr wrap="square" lIns="0" tIns="0" rIns="0" bIns="0" rtlCol="0" anchor="ctr">
            <a:normAutofit/>
          </a:bodyPr>
          <a:lstStyle/>
          <a:p>
            <a:pPr algn="ctr" indent="0" marL="0">
              <a:buNone/>
            </a:pPr>
            <a:r>
              <a:rPr lang="en-US" sz="1300" b="1" dirty="0">
                <a:solidFill>
                  <a:srgbClr val="267D63"/>
                </a:solidFill>
                <a:latin typeface="Aptos Mono" pitchFamily="34" charset="0"/>
                <a:ea typeface="Aptos Mono" pitchFamily="34" charset="-122"/>
                <a:cs typeface="Aptos Mono" pitchFamily="34" charset="-120"/>
              </a:rPr>
              <a:t>usage</a:t>
            </a:r>
            <a:endParaRPr lang="en-US" sz="1300" dirty="0"/>
          </a:p>
        </p:txBody>
      </p:sp>
      <p:sp>
        <p:nvSpPr>
          <p:cNvPr id="25" name="Shape 22"/>
          <p:cNvSpPr/>
          <p:nvPr/>
        </p:nvSpPr>
        <p:spPr>
          <a:xfrm>
            <a:off x="5166360" y="3794760"/>
            <a:ext cx="1600200" cy="310896"/>
          </a:xfrm>
          <a:prstGeom prst="roundRect">
            <a:avLst>
              <a:gd name="adj" fmla="val 50000"/>
            </a:avLst>
          </a:prstGeom>
          <a:solidFill>
            <a:srgbClr val="FCE6F4"/>
          </a:solidFill>
          <a:ln w="12700">
            <a:solidFill>
              <a:srgbClr val="FCE6F4">
                <a:alpha val="0"/>
              </a:srgbClr>
            </a:solidFill>
            <a:prstDash val="solid"/>
          </a:ln>
        </p:spPr>
      </p:sp>
      <p:sp>
        <p:nvSpPr>
          <p:cNvPr id="26" name="Text 23"/>
          <p:cNvSpPr/>
          <p:nvPr/>
        </p:nvSpPr>
        <p:spPr>
          <a:xfrm>
            <a:off x="5239512" y="3831336"/>
            <a:ext cx="1453896" cy="210312"/>
          </a:xfrm>
          <a:prstGeom prst="rect">
            <a:avLst/>
          </a:prstGeom>
          <a:noFill/>
          <a:ln/>
        </p:spPr>
        <p:txBody>
          <a:bodyPr wrap="square" lIns="0" tIns="0" rIns="0" bIns="0" rtlCol="0" anchor="ctr">
            <a:normAutofit/>
          </a:bodyPr>
          <a:lstStyle/>
          <a:p>
            <a:pPr algn="ctr" indent="0" marL="0">
              <a:buNone/>
            </a:pPr>
            <a:r>
              <a:rPr lang="en-US" sz="1300" b="1" dirty="0">
                <a:solidFill>
                  <a:srgbClr val="AD0C72"/>
                </a:solidFill>
                <a:latin typeface="Aptos Mono" pitchFamily="34" charset="0"/>
                <a:ea typeface="Aptos Mono" pitchFamily="34" charset="-122"/>
                <a:cs typeface="Aptos Mono" pitchFamily="34" charset="-120"/>
              </a:rPr>
              <a:t>compaction</a:t>
            </a:r>
            <a:endParaRPr lang="en-US" sz="1300" dirty="0"/>
          </a:p>
        </p:txBody>
      </p:sp>
      <p:sp>
        <p:nvSpPr>
          <p:cNvPr id="27" name="Shape 24"/>
          <p:cNvSpPr/>
          <p:nvPr/>
        </p:nvSpPr>
        <p:spPr>
          <a:xfrm>
            <a:off x="7223760" y="3794760"/>
            <a:ext cx="1600200" cy="310896"/>
          </a:xfrm>
          <a:prstGeom prst="roundRect">
            <a:avLst>
              <a:gd name="adj" fmla="val 50000"/>
            </a:avLst>
          </a:prstGeom>
          <a:solidFill>
            <a:srgbClr val="FCE6F4"/>
          </a:solidFill>
          <a:ln w="12700">
            <a:solidFill>
              <a:srgbClr val="FCE6F4">
                <a:alpha val="0"/>
              </a:srgbClr>
            </a:solidFill>
            <a:prstDash val="solid"/>
          </a:ln>
        </p:spPr>
      </p:sp>
      <p:sp>
        <p:nvSpPr>
          <p:cNvPr id="28" name="Text 25"/>
          <p:cNvSpPr/>
          <p:nvPr/>
        </p:nvSpPr>
        <p:spPr>
          <a:xfrm>
            <a:off x="7296912" y="3831336"/>
            <a:ext cx="1453896" cy="210312"/>
          </a:xfrm>
          <a:prstGeom prst="rect">
            <a:avLst/>
          </a:prstGeom>
          <a:noFill/>
          <a:ln/>
        </p:spPr>
        <p:txBody>
          <a:bodyPr wrap="square" lIns="0" tIns="0" rIns="0" bIns="0" rtlCol="0" anchor="ctr">
            <a:normAutofit/>
          </a:bodyPr>
          <a:lstStyle/>
          <a:p>
            <a:pPr algn="ctr" indent="0" marL="0">
              <a:buNone/>
            </a:pPr>
            <a:r>
              <a:rPr lang="en-US" sz="1300" b="1" dirty="0">
                <a:solidFill>
                  <a:srgbClr val="AD0C72"/>
                </a:solidFill>
                <a:latin typeface="Aptos Mono" pitchFamily="34" charset="0"/>
                <a:ea typeface="Aptos Mono" pitchFamily="34" charset="-122"/>
                <a:cs typeface="Aptos Mono" pitchFamily="34" charset="-120"/>
              </a:rPr>
              <a:t>interrupt</a:t>
            </a:r>
            <a:endParaRPr lang="en-US" sz="1300" dirty="0"/>
          </a:p>
        </p:txBody>
      </p:sp>
      <p:sp>
        <p:nvSpPr>
          <p:cNvPr id="29" name="Shape 26"/>
          <p:cNvSpPr/>
          <p:nvPr/>
        </p:nvSpPr>
        <p:spPr>
          <a:xfrm>
            <a:off x="9281160" y="3794760"/>
            <a:ext cx="1600200" cy="310896"/>
          </a:xfrm>
          <a:prstGeom prst="roundRect">
            <a:avLst>
              <a:gd name="adj" fmla="val 50000"/>
            </a:avLst>
          </a:prstGeom>
          <a:solidFill>
            <a:srgbClr val="FCE6F4"/>
          </a:solidFill>
          <a:ln w="12700">
            <a:solidFill>
              <a:srgbClr val="FCE6F4">
                <a:alpha val="0"/>
              </a:srgbClr>
            </a:solidFill>
            <a:prstDash val="solid"/>
          </a:ln>
        </p:spPr>
      </p:sp>
      <p:sp>
        <p:nvSpPr>
          <p:cNvPr id="30" name="Text 27"/>
          <p:cNvSpPr/>
          <p:nvPr/>
        </p:nvSpPr>
        <p:spPr>
          <a:xfrm>
            <a:off x="9354312" y="3831336"/>
            <a:ext cx="1453896" cy="210312"/>
          </a:xfrm>
          <a:prstGeom prst="rect">
            <a:avLst/>
          </a:prstGeom>
          <a:noFill/>
          <a:ln/>
        </p:spPr>
        <p:txBody>
          <a:bodyPr wrap="square" lIns="0" tIns="0" rIns="0" bIns="0" rtlCol="0" anchor="ctr">
            <a:normAutofit/>
          </a:bodyPr>
          <a:lstStyle/>
          <a:p>
            <a:pPr algn="ctr" indent="0" marL="0">
              <a:buNone/>
            </a:pPr>
            <a:r>
              <a:rPr lang="en-US" sz="1300" b="1" dirty="0">
                <a:solidFill>
                  <a:srgbClr val="AD0C72"/>
                </a:solidFill>
                <a:latin typeface="Aptos Mono" pitchFamily="34" charset="0"/>
                <a:ea typeface="Aptos Mono" pitchFamily="34" charset="-122"/>
                <a:cs typeface="Aptos Mono" pitchFamily="34" charset="-120"/>
              </a:rPr>
              <a:t>policy</a:t>
            </a:r>
            <a:endParaRPr lang="en-US" sz="1300" dirty="0"/>
          </a:p>
        </p:txBody>
      </p:sp>
      <p:sp>
        <p:nvSpPr>
          <p:cNvPr id="31" name="Text 28"/>
          <p:cNvSpPr/>
          <p:nvPr/>
        </p:nvSpPr>
        <p:spPr>
          <a:xfrm>
            <a:off x="914400" y="4754880"/>
            <a:ext cx="4754880" cy="420624"/>
          </a:xfrm>
          <a:prstGeom prst="rect">
            <a:avLst/>
          </a:prstGeom>
          <a:noFill/>
          <a:ln/>
        </p:spPr>
        <p:txBody>
          <a:bodyPr wrap="square" lIns="0" tIns="0" rIns="0" bIns="0" rtlCol="0" anchor="ctr">
            <a:normAutofit/>
          </a:bodyPr>
          <a:lstStyle/>
          <a:p>
            <a:pPr algn="l" indent="0" marL="0">
              <a:buNone/>
            </a:pPr>
            <a:r>
              <a:rPr lang="en-US" sz="2400" b="1" dirty="0">
                <a:solidFill>
                  <a:srgbClr val="15131A"/>
                </a:solidFill>
                <a:latin typeface="Aptos" pitchFamily="34" charset="0"/>
                <a:ea typeface="Aptos" pitchFamily="34" charset="-122"/>
                <a:cs typeface="Aptos" pitchFamily="34" charset="-120"/>
              </a:rPr>
              <a:t>Not a separately configured Copilot CLI</a:t>
            </a:r>
            <a:endParaRPr lang="en-US" sz="2400" dirty="0"/>
          </a:p>
        </p:txBody>
      </p:sp>
      <p:sp>
        <p:nvSpPr>
          <p:cNvPr id="32" name="Text 29"/>
          <p:cNvSpPr/>
          <p:nvPr/>
        </p:nvSpPr>
        <p:spPr>
          <a:xfrm>
            <a:off x="5852160" y="4754880"/>
            <a:ext cx="5212080" cy="420624"/>
          </a:xfrm>
          <a:prstGeom prst="rect">
            <a:avLst/>
          </a:prstGeom>
          <a:noFill/>
          <a:ln/>
        </p:spPr>
        <p:txBody>
          <a:bodyPr wrap="square" lIns="0" tIns="0" rIns="0" bIns="0" rtlCol="0" anchor="ctr">
            <a:normAutofit/>
          </a:bodyPr>
          <a:lstStyle/>
          <a:p>
            <a:pPr algn="r" indent="0" marL="0">
              <a:buNone/>
            </a:pPr>
            <a:r>
              <a:rPr lang="en-US" sz="2400" b="1" dirty="0">
                <a:solidFill>
                  <a:srgbClr val="AD0C72"/>
                </a:solidFill>
                <a:latin typeface="Aptos" pitchFamily="34" charset="0"/>
                <a:ea typeface="Aptos" pitchFamily="34" charset="-122"/>
                <a:cs typeface="Aptos" pitchFamily="34" charset="-120"/>
              </a:rPr>
              <a:t>Defaults to mai-code-1.1-flash · 22 merged PRs</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56032"/>
            <a:ext cx="411480" cy="201168"/>
          </a:xfrm>
          <a:prstGeom prst="rect">
            <a:avLst/>
          </a:prstGeom>
          <a:noFill/>
          <a:ln/>
        </p:spPr>
        <p:txBody>
          <a:bodyPr wrap="square" lIns="0" tIns="0" rIns="0" bIns="0" rtlCol="0" anchor="ctr">
            <a:normAutofit/>
          </a:bodyPr>
          <a:lstStyle/>
          <a:p>
            <a:pPr algn="l" indent="0" marL="0">
              <a:buNone/>
            </a:pPr>
            <a:r>
              <a:rPr lang="en-US" sz="1100" b="1" dirty="0">
                <a:solidFill>
                  <a:srgbClr val="AD0C72"/>
                </a:solidFill>
                <a:latin typeface="Aptos Mono" pitchFamily="34" charset="0"/>
                <a:ea typeface="Aptos Mono" pitchFamily="34" charset="-122"/>
                <a:cs typeface="Aptos Mono" pitchFamily="34" charset="-120"/>
              </a:rPr>
              <a:t>10</a:t>
            </a:r>
            <a:endParaRPr lang="en-US" sz="1100" dirty="0"/>
          </a:p>
        </p:txBody>
      </p:sp>
      <p:sp>
        <p:nvSpPr>
          <p:cNvPr id="3" name="Text 1"/>
          <p:cNvSpPr/>
          <p:nvPr/>
        </p:nvSpPr>
        <p:spPr>
          <a:xfrm>
            <a:off x="8961120" y="256032"/>
            <a:ext cx="2606040" cy="201168"/>
          </a:xfrm>
          <a:prstGeom prst="rect">
            <a:avLst/>
          </a:prstGeom>
          <a:noFill/>
          <a:ln/>
        </p:spPr>
        <p:txBody>
          <a:bodyPr wrap="square" lIns="0" tIns="0" rIns="0" bIns="0" rtlCol="0" anchor="ctr">
            <a:normAutofit/>
          </a:bodyPr>
          <a:lstStyle/>
          <a:p>
            <a:pPr algn="r" indent="0" marL="0">
              <a:buNone/>
            </a:pPr>
            <a:r>
              <a:rPr lang="en-US" sz="1000" b="1" dirty="0">
                <a:solidFill>
                  <a:srgbClr val="5C5765"/>
                </a:solidFill>
                <a:latin typeface="Aptos" pitchFamily="34" charset="0"/>
                <a:ea typeface="Aptos" pitchFamily="34" charset="-122"/>
                <a:cs typeface="Aptos" pitchFamily="34" charset="-120"/>
              </a:rPr>
              <a:t>Demo contract</a:t>
            </a:r>
            <a:endParaRPr lang="en-US" sz="1000" dirty="0"/>
          </a:p>
        </p:txBody>
      </p:sp>
      <p:sp>
        <p:nvSpPr>
          <p:cNvPr id="4" name="Shape 2"/>
          <p:cNvSpPr/>
          <p:nvPr/>
        </p:nvSpPr>
        <p:spPr>
          <a:xfrm>
            <a:off x="566928" y="566928"/>
            <a:ext cx="11045952" cy="0"/>
          </a:xfrm>
          <a:prstGeom prst="line">
            <a:avLst/>
          </a:prstGeom>
          <a:noFill/>
          <a:ln w="12700">
            <a:solidFill>
              <a:srgbClr val="ECE8EE"/>
            </a:solidFill>
            <a:prstDash val="solid"/>
          </a:ln>
        </p:spPr>
      </p:sp>
      <p:sp>
        <p:nvSpPr>
          <p:cNvPr id="5" name="Text 3"/>
          <p:cNvSpPr/>
          <p:nvPr/>
        </p:nvSpPr>
        <p:spPr>
          <a:xfrm>
            <a:off x="658368" y="786384"/>
            <a:ext cx="10881360" cy="566928"/>
          </a:xfrm>
          <a:prstGeom prst="rect">
            <a:avLst/>
          </a:prstGeom>
          <a:noFill/>
          <a:ln/>
        </p:spPr>
        <p:txBody>
          <a:bodyPr wrap="square" lIns="0" tIns="0" rIns="0" bIns="0" rtlCol="0" anchor="ctr">
            <a:normAutofit/>
          </a:bodyPr>
          <a:lstStyle/>
          <a:p>
            <a:pPr algn="l" indent="0" marL="0">
              <a:buNone/>
            </a:pPr>
            <a:r>
              <a:rPr lang="en-US" sz="3100" b="1" dirty="0">
                <a:solidFill>
                  <a:srgbClr val="15131A"/>
                </a:solidFill>
                <a:latin typeface="Aptos Display" pitchFamily="34" charset="0"/>
                <a:ea typeface="Aptos Display" pitchFamily="34" charset="-122"/>
                <a:cs typeface="Aptos Display" pitchFamily="34" charset="-120"/>
              </a:rPr>
              <a:t>Watch the boundary, not the bug</a:t>
            </a:r>
            <a:endParaRPr lang="en-US" sz="3100" dirty="0"/>
          </a:p>
        </p:txBody>
      </p:sp>
      <p:sp>
        <p:nvSpPr>
          <p:cNvPr id="6" name="Text 4"/>
          <p:cNvSpPr/>
          <p:nvPr/>
        </p:nvSpPr>
        <p:spPr>
          <a:xfrm>
            <a:off x="658368" y="6400800"/>
            <a:ext cx="10469880" cy="219456"/>
          </a:xfrm>
          <a:prstGeom prst="rect">
            <a:avLst/>
          </a:prstGeom>
          <a:noFill/>
          <a:ln/>
        </p:spPr>
        <p:txBody>
          <a:bodyPr wrap="square" lIns="0" tIns="0" rIns="0" bIns="0" rtlCol="0" anchor="ctr">
            <a:normAutofit/>
          </a:bodyPr>
          <a:lstStyle/>
          <a:p>
            <a:pPr algn="l" indent="0" marL="0">
              <a:buNone/>
            </a:pPr>
            <a:r>
              <a:rPr lang="en-US" sz="1450" b="1" dirty="0">
                <a:solidFill>
                  <a:srgbClr val="AD0C72"/>
                </a:solidFill>
                <a:latin typeface="Aptos" pitchFamily="34" charset="0"/>
                <a:ea typeface="Aptos" pitchFamily="34" charset="-122"/>
                <a:cs typeface="Aptos" pitchFamily="34" charset="-120"/>
              </a:rPr>
              <a:t>@anxkhn</a:t>
            </a:r>
            <a:pPr algn="l" indent="0" marL="0">
              <a:buNone/>
            </a:pPr>
            <a:r>
              <a:rPr lang="en-US" sz="1450" b="1" dirty="0">
                <a:solidFill>
                  <a:srgbClr val="5C5765"/>
                </a:solidFill>
                <a:latin typeface="Aptos" pitchFamily="34" charset="0"/>
                <a:ea typeface="Aptos" pitchFamily="34" charset="-122"/>
                <a:cs typeface="Aptos" pitchFamily="34" charset="-120"/>
              </a:rPr>
              <a:t>  ·  #DevDays  ·  #DevDaysMumbai  ·  #mumtechup</a:t>
            </a:r>
            <a:endParaRPr lang="en-US" sz="1450" dirty="0"/>
          </a:p>
        </p:txBody>
      </p:sp>
      <p:sp>
        <p:nvSpPr>
          <p:cNvPr id="7" name="Text 5"/>
          <p:cNvSpPr/>
          <p:nvPr/>
        </p:nvSpPr>
        <p:spPr>
          <a:xfrm>
            <a:off x="11064240" y="6419088"/>
            <a:ext cx="438912" cy="182880"/>
          </a:xfrm>
          <a:prstGeom prst="rect">
            <a:avLst/>
          </a:prstGeom>
          <a:noFill/>
          <a:ln/>
        </p:spPr>
        <p:txBody>
          <a:bodyPr wrap="square" lIns="0" tIns="0" rIns="0" bIns="0" rtlCol="0" anchor="ctr">
            <a:normAutofit/>
          </a:bodyPr>
          <a:lstStyle/>
          <a:p>
            <a:pPr algn="r" indent="0" marL="0">
              <a:buNone/>
            </a:pPr>
            <a:r>
              <a:rPr lang="en-US" sz="1200" b="1" dirty="0">
                <a:solidFill>
                  <a:srgbClr val="5C5765"/>
                </a:solidFill>
                <a:latin typeface="Aptos Mono" pitchFamily="34" charset="0"/>
                <a:ea typeface="Aptos Mono" pitchFamily="34" charset="-122"/>
                <a:cs typeface="Aptos Mono" pitchFamily="34" charset="-120"/>
              </a:rPr>
              <a:t>10</a:t>
            </a:r>
            <a:endParaRPr lang="en-US" sz="1200" dirty="0"/>
          </a:p>
        </p:txBody>
      </p:sp>
      <p:sp>
        <p:nvSpPr>
          <p:cNvPr id="9" name="Shape 6"/>
          <p:cNvSpPr/>
          <p:nvPr/>
        </p:nvSpPr>
        <p:spPr>
          <a:xfrm>
            <a:off x="658368" y="1993392"/>
            <a:ext cx="566928" cy="566928"/>
          </a:xfrm>
          <a:prstGeom prst="ellipse">
            <a:avLst/>
          </a:prstGeom>
          <a:solidFill>
            <a:srgbClr val="AD0C72"/>
          </a:solidFill>
          <a:ln w="12700">
            <a:solidFill>
              <a:srgbClr val="AD0C72"/>
            </a:solidFill>
            <a:prstDash val="solid"/>
          </a:ln>
        </p:spPr>
      </p:sp>
      <p:sp>
        <p:nvSpPr>
          <p:cNvPr id="10" name="Text 7"/>
          <p:cNvSpPr/>
          <p:nvPr/>
        </p:nvSpPr>
        <p:spPr>
          <a:xfrm>
            <a:off x="658368" y="2167128"/>
            <a:ext cx="566928" cy="164592"/>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ptos Mono" pitchFamily="34" charset="0"/>
                <a:ea typeface="Aptos Mono" pitchFamily="34" charset="-122"/>
                <a:cs typeface="Aptos Mono" pitchFamily="34" charset="-120"/>
              </a:rPr>
              <a:t>1</a:t>
            </a:r>
            <a:endParaRPr lang="en-US" sz="1300" dirty="0"/>
          </a:p>
        </p:txBody>
      </p:sp>
      <p:sp>
        <p:nvSpPr>
          <p:cNvPr id="11" name="Text 8"/>
          <p:cNvSpPr/>
          <p:nvPr/>
        </p:nvSpPr>
        <p:spPr>
          <a:xfrm>
            <a:off x="493776" y="2834640"/>
            <a:ext cx="2560320" cy="804672"/>
          </a:xfrm>
          <a:prstGeom prst="rect">
            <a:avLst/>
          </a:prstGeom>
          <a:noFill/>
          <a:ln/>
        </p:spPr>
        <p:txBody>
          <a:bodyPr wrap="square" lIns="0" tIns="0" rIns="0" bIns="0" rtlCol="0" anchor="ctr">
            <a:normAutofit/>
          </a:bodyPr>
          <a:lstStyle/>
          <a:p>
            <a:pPr algn="l" indent="0" marL="0">
              <a:buNone/>
            </a:pPr>
            <a:r>
              <a:rPr lang="en-US" sz="2400" b="1" dirty="0">
                <a:solidFill>
                  <a:srgbClr val="15131A"/>
                </a:solidFill>
                <a:latin typeface="Aptos" pitchFamily="34" charset="0"/>
                <a:ea typeface="Aptos" pitchFamily="34" charset="-122"/>
                <a:cs typeface="Aptos" pitchFamily="34" charset="-120"/>
              </a:rPr>
              <a:t>Copilot</a:t>
            </a:r>
            <a:endParaRPr lang="en-US" sz="2400" dirty="0"/>
          </a:p>
          <a:p>
            <a:pPr algn="l" indent="0" marL="0">
              <a:buNone/>
            </a:pPr>
            <a:r>
              <a:rPr lang="en-US" sz="2400" b="1" dirty="0">
                <a:solidFill>
                  <a:srgbClr val="15131A"/>
                </a:solidFill>
                <a:latin typeface="Aptos" pitchFamily="34" charset="0"/>
                <a:ea typeface="Aptos" pitchFamily="34" charset="-122"/>
                <a:cs typeface="Aptos" pitchFamily="34" charset="-120"/>
              </a:rPr>
              <a:t>fixes</a:t>
            </a:r>
            <a:endParaRPr lang="en-US" sz="2400" dirty="0"/>
          </a:p>
        </p:txBody>
      </p:sp>
      <p:sp>
        <p:nvSpPr>
          <p:cNvPr id="12" name="Shape 9"/>
          <p:cNvSpPr/>
          <p:nvPr/>
        </p:nvSpPr>
        <p:spPr>
          <a:xfrm>
            <a:off x="1344168" y="2276856"/>
            <a:ext cx="2011680" cy="0"/>
          </a:xfrm>
          <a:prstGeom prst="line">
            <a:avLst/>
          </a:prstGeom>
          <a:noFill/>
          <a:ln w="25400">
            <a:solidFill>
              <a:srgbClr val="D9D3DD"/>
            </a:solidFill>
            <a:prstDash val="solid"/>
            <a:tailEnd type="triangle"/>
          </a:ln>
        </p:spPr>
      </p:sp>
      <p:sp>
        <p:nvSpPr>
          <p:cNvPr id="13" name="Shape 10"/>
          <p:cNvSpPr/>
          <p:nvPr/>
        </p:nvSpPr>
        <p:spPr>
          <a:xfrm>
            <a:off x="3520440" y="1993392"/>
            <a:ext cx="566928" cy="566928"/>
          </a:xfrm>
          <a:prstGeom prst="ellipse">
            <a:avLst/>
          </a:prstGeom>
          <a:solidFill>
            <a:srgbClr val="FCE6F4"/>
          </a:solidFill>
          <a:ln w="12700">
            <a:solidFill>
              <a:srgbClr val="FCE6F4"/>
            </a:solidFill>
            <a:prstDash val="solid"/>
          </a:ln>
        </p:spPr>
      </p:sp>
      <p:sp>
        <p:nvSpPr>
          <p:cNvPr id="14" name="Text 11"/>
          <p:cNvSpPr/>
          <p:nvPr/>
        </p:nvSpPr>
        <p:spPr>
          <a:xfrm>
            <a:off x="3520440" y="2167128"/>
            <a:ext cx="566928" cy="164592"/>
          </a:xfrm>
          <a:prstGeom prst="rect">
            <a:avLst/>
          </a:prstGeom>
          <a:noFill/>
          <a:ln/>
        </p:spPr>
        <p:txBody>
          <a:bodyPr wrap="square" lIns="0" tIns="0" rIns="0" bIns="0" rtlCol="0" anchor="ctr">
            <a:normAutofit/>
          </a:bodyPr>
          <a:lstStyle/>
          <a:p>
            <a:pPr algn="ctr" indent="0" marL="0">
              <a:buNone/>
            </a:pPr>
            <a:r>
              <a:rPr lang="en-US" sz="1300" b="1" dirty="0">
                <a:solidFill>
                  <a:srgbClr val="AD0C72"/>
                </a:solidFill>
                <a:latin typeface="Aptos Mono" pitchFamily="34" charset="0"/>
                <a:ea typeface="Aptos Mono" pitchFamily="34" charset="-122"/>
                <a:cs typeface="Aptos Mono" pitchFamily="34" charset="-120"/>
              </a:rPr>
              <a:t>2</a:t>
            </a:r>
            <a:endParaRPr lang="en-US" sz="1300" dirty="0"/>
          </a:p>
        </p:txBody>
      </p:sp>
      <p:sp>
        <p:nvSpPr>
          <p:cNvPr id="15" name="Text 12"/>
          <p:cNvSpPr/>
          <p:nvPr/>
        </p:nvSpPr>
        <p:spPr>
          <a:xfrm>
            <a:off x="3355848" y="2834640"/>
            <a:ext cx="2560320" cy="804672"/>
          </a:xfrm>
          <a:prstGeom prst="rect">
            <a:avLst/>
          </a:prstGeom>
          <a:noFill/>
          <a:ln/>
        </p:spPr>
        <p:txBody>
          <a:bodyPr wrap="square" lIns="0" tIns="0" rIns="0" bIns="0" rtlCol="0" anchor="ctr">
            <a:normAutofit/>
          </a:bodyPr>
          <a:lstStyle/>
          <a:p>
            <a:pPr algn="l" indent="0" marL="0">
              <a:buNone/>
            </a:pPr>
            <a:r>
              <a:rPr lang="en-US" sz="2400" b="1" dirty="0">
                <a:solidFill>
                  <a:srgbClr val="15131A"/>
                </a:solidFill>
                <a:latin typeface="Aptos" pitchFamily="34" charset="0"/>
                <a:ea typeface="Aptos" pitchFamily="34" charset="-122"/>
                <a:cs typeface="Aptos" pitchFamily="34" charset="-120"/>
              </a:rPr>
              <a:t>Browser inspects</a:t>
            </a:r>
            <a:endParaRPr lang="en-US" sz="2400" dirty="0"/>
          </a:p>
          <a:p>
            <a:pPr algn="l" indent="0" marL="0">
              <a:buNone/>
            </a:pPr>
            <a:r>
              <a:rPr lang="en-US" sz="2400" b="1" dirty="0">
                <a:solidFill>
                  <a:srgbClr val="15131A"/>
                </a:solidFill>
                <a:latin typeface="Aptos" pitchFamily="34" charset="0"/>
                <a:ea typeface="Aptos" pitchFamily="34" charset="-122"/>
                <a:cs typeface="Aptos" pitchFamily="34" charset="-120"/>
              </a:rPr>
              <a:t>same session</a:t>
            </a:r>
            <a:endParaRPr lang="en-US" sz="2400" dirty="0"/>
          </a:p>
        </p:txBody>
      </p:sp>
      <p:sp>
        <p:nvSpPr>
          <p:cNvPr id="16" name="Shape 13"/>
          <p:cNvSpPr/>
          <p:nvPr/>
        </p:nvSpPr>
        <p:spPr>
          <a:xfrm>
            <a:off x="4206240" y="2276856"/>
            <a:ext cx="2011680" cy="0"/>
          </a:xfrm>
          <a:prstGeom prst="line">
            <a:avLst/>
          </a:prstGeom>
          <a:noFill/>
          <a:ln w="25400">
            <a:solidFill>
              <a:srgbClr val="D9D3DD"/>
            </a:solidFill>
            <a:prstDash val="solid"/>
            <a:tailEnd type="triangle"/>
          </a:ln>
        </p:spPr>
      </p:sp>
      <p:sp>
        <p:nvSpPr>
          <p:cNvPr id="17" name="Shape 14"/>
          <p:cNvSpPr/>
          <p:nvPr/>
        </p:nvSpPr>
        <p:spPr>
          <a:xfrm>
            <a:off x="6382512" y="1993392"/>
            <a:ext cx="566928" cy="566928"/>
          </a:xfrm>
          <a:prstGeom prst="ellipse">
            <a:avLst/>
          </a:prstGeom>
          <a:solidFill>
            <a:srgbClr val="FCE6F4"/>
          </a:solidFill>
          <a:ln w="12700">
            <a:solidFill>
              <a:srgbClr val="FCE6F4"/>
            </a:solidFill>
            <a:prstDash val="solid"/>
          </a:ln>
        </p:spPr>
      </p:sp>
      <p:sp>
        <p:nvSpPr>
          <p:cNvPr id="18" name="Text 15"/>
          <p:cNvSpPr/>
          <p:nvPr/>
        </p:nvSpPr>
        <p:spPr>
          <a:xfrm>
            <a:off x="6382512" y="2167128"/>
            <a:ext cx="566928" cy="164592"/>
          </a:xfrm>
          <a:prstGeom prst="rect">
            <a:avLst/>
          </a:prstGeom>
          <a:noFill/>
          <a:ln/>
        </p:spPr>
        <p:txBody>
          <a:bodyPr wrap="square" lIns="0" tIns="0" rIns="0" bIns="0" rtlCol="0" anchor="ctr">
            <a:normAutofit/>
          </a:bodyPr>
          <a:lstStyle/>
          <a:p>
            <a:pPr algn="ctr" indent="0" marL="0">
              <a:buNone/>
            </a:pPr>
            <a:r>
              <a:rPr lang="en-US" sz="1300" b="1" dirty="0">
                <a:solidFill>
                  <a:srgbClr val="AD0C72"/>
                </a:solidFill>
                <a:latin typeface="Aptos Mono" pitchFamily="34" charset="0"/>
                <a:ea typeface="Aptos Mono" pitchFamily="34" charset="-122"/>
                <a:cs typeface="Aptos Mono" pitchFamily="34" charset="-120"/>
              </a:rPr>
              <a:t>3</a:t>
            </a:r>
            <a:endParaRPr lang="en-US" sz="1300" dirty="0"/>
          </a:p>
        </p:txBody>
      </p:sp>
      <p:sp>
        <p:nvSpPr>
          <p:cNvPr id="19" name="Text 16"/>
          <p:cNvSpPr/>
          <p:nvPr/>
        </p:nvSpPr>
        <p:spPr>
          <a:xfrm>
            <a:off x="6217920" y="2834640"/>
            <a:ext cx="2560320" cy="804672"/>
          </a:xfrm>
          <a:prstGeom prst="rect">
            <a:avLst/>
          </a:prstGeom>
          <a:noFill/>
          <a:ln/>
        </p:spPr>
        <p:txBody>
          <a:bodyPr wrap="square" lIns="0" tIns="0" rIns="0" bIns="0" rtlCol="0" anchor="ctr">
            <a:normAutofit/>
          </a:bodyPr>
          <a:lstStyle/>
          <a:p>
            <a:pPr algn="l" indent="0" marL="0">
              <a:buNone/>
            </a:pPr>
            <a:r>
              <a:rPr lang="en-US" sz="2400" b="1" dirty="0">
                <a:solidFill>
                  <a:srgbClr val="15131A"/>
                </a:solidFill>
                <a:latin typeface="Aptos" pitchFamily="34" charset="0"/>
                <a:ea typeface="Aptos" pitchFamily="34" charset="-122"/>
                <a:cs typeface="Aptos" pitchFamily="34" charset="-120"/>
              </a:rPr>
              <a:t>Usage records</a:t>
            </a:r>
            <a:endParaRPr lang="en-US" sz="2400" dirty="0"/>
          </a:p>
          <a:p>
            <a:pPr algn="l" indent="0" marL="0">
              <a:buNone/>
            </a:pPr>
            <a:r>
              <a:rPr lang="en-US" sz="2400" b="1" dirty="0">
                <a:solidFill>
                  <a:srgbClr val="15131A"/>
                </a:solidFill>
                <a:latin typeface="Aptos" pitchFamily="34" charset="0"/>
                <a:ea typeface="Aptos" pitchFamily="34" charset="-122"/>
                <a:cs typeface="Aptos" pitchFamily="34" charset="-120"/>
              </a:rPr>
              <a:t>evidence</a:t>
            </a:r>
            <a:endParaRPr lang="en-US" sz="2400" dirty="0"/>
          </a:p>
        </p:txBody>
      </p:sp>
      <p:sp>
        <p:nvSpPr>
          <p:cNvPr id="20" name="Shape 17"/>
          <p:cNvSpPr/>
          <p:nvPr/>
        </p:nvSpPr>
        <p:spPr>
          <a:xfrm>
            <a:off x="7068312" y="2276856"/>
            <a:ext cx="2011680" cy="0"/>
          </a:xfrm>
          <a:prstGeom prst="line">
            <a:avLst/>
          </a:prstGeom>
          <a:noFill/>
          <a:ln w="25400">
            <a:solidFill>
              <a:srgbClr val="D9D3DD"/>
            </a:solidFill>
            <a:prstDash val="solid"/>
            <a:tailEnd type="triangle"/>
          </a:ln>
        </p:spPr>
      </p:sp>
      <p:sp>
        <p:nvSpPr>
          <p:cNvPr id="21" name="Shape 18"/>
          <p:cNvSpPr/>
          <p:nvPr/>
        </p:nvSpPr>
        <p:spPr>
          <a:xfrm>
            <a:off x="9244584" y="1993392"/>
            <a:ext cx="566928" cy="566928"/>
          </a:xfrm>
          <a:prstGeom prst="ellipse">
            <a:avLst/>
          </a:prstGeom>
          <a:solidFill>
            <a:srgbClr val="FCE6F4"/>
          </a:solidFill>
          <a:ln w="12700">
            <a:solidFill>
              <a:srgbClr val="FCE6F4"/>
            </a:solidFill>
            <a:prstDash val="solid"/>
          </a:ln>
        </p:spPr>
      </p:sp>
      <p:sp>
        <p:nvSpPr>
          <p:cNvPr id="22" name="Text 19"/>
          <p:cNvSpPr/>
          <p:nvPr/>
        </p:nvSpPr>
        <p:spPr>
          <a:xfrm>
            <a:off x="9244584" y="2167128"/>
            <a:ext cx="566928" cy="164592"/>
          </a:xfrm>
          <a:prstGeom prst="rect">
            <a:avLst/>
          </a:prstGeom>
          <a:noFill/>
          <a:ln/>
        </p:spPr>
        <p:txBody>
          <a:bodyPr wrap="square" lIns="0" tIns="0" rIns="0" bIns="0" rtlCol="0" anchor="ctr">
            <a:normAutofit/>
          </a:bodyPr>
          <a:lstStyle/>
          <a:p>
            <a:pPr algn="ctr" indent="0" marL="0">
              <a:buNone/>
            </a:pPr>
            <a:r>
              <a:rPr lang="en-US" sz="1300" b="1" dirty="0">
                <a:solidFill>
                  <a:srgbClr val="AD0C72"/>
                </a:solidFill>
                <a:latin typeface="Aptos Mono" pitchFamily="34" charset="0"/>
                <a:ea typeface="Aptos Mono" pitchFamily="34" charset="-122"/>
                <a:cs typeface="Aptos Mono" pitchFamily="34" charset="-120"/>
              </a:rPr>
              <a:t>4</a:t>
            </a:r>
            <a:endParaRPr lang="en-US" sz="1300" dirty="0"/>
          </a:p>
        </p:txBody>
      </p:sp>
      <p:sp>
        <p:nvSpPr>
          <p:cNvPr id="23" name="Text 20"/>
          <p:cNvSpPr/>
          <p:nvPr/>
        </p:nvSpPr>
        <p:spPr>
          <a:xfrm>
            <a:off x="9079992" y="2834640"/>
            <a:ext cx="2560320" cy="804672"/>
          </a:xfrm>
          <a:prstGeom prst="rect">
            <a:avLst/>
          </a:prstGeom>
          <a:noFill/>
          <a:ln/>
        </p:spPr>
        <p:txBody>
          <a:bodyPr wrap="square" lIns="0" tIns="0" rIns="0" bIns="0" rtlCol="0" anchor="ctr">
            <a:normAutofit/>
          </a:bodyPr>
          <a:lstStyle/>
          <a:p>
            <a:pPr algn="l" indent="0" marL="0">
              <a:buNone/>
            </a:pPr>
            <a:r>
              <a:rPr lang="en-US" sz="2400" b="1" dirty="0">
                <a:solidFill>
                  <a:srgbClr val="15131A"/>
                </a:solidFill>
                <a:latin typeface="Aptos" pitchFamily="34" charset="0"/>
                <a:ea typeface="Aptos" pitchFamily="34" charset="-122"/>
                <a:cs typeface="Aptos" pitchFamily="34" charset="-120"/>
              </a:rPr>
              <a:t>Codex reviews</a:t>
            </a:r>
            <a:endParaRPr lang="en-US" sz="2400" dirty="0"/>
          </a:p>
          <a:p>
            <a:pPr algn="l" indent="0" marL="0">
              <a:buNone/>
            </a:pPr>
            <a:r>
              <a:rPr lang="en-US" sz="2400" b="1" dirty="0">
                <a:solidFill>
                  <a:srgbClr val="15131A"/>
                </a:solidFill>
                <a:latin typeface="Aptos" pitchFamily="34" charset="0"/>
                <a:ea typeface="Aptos" pitchFamily="34" charset="-122"/>
                <a:cs typeface="Aptos" pitchFamily="34" charset="-120"/>
              </a:rPr>
              <a:t>the fork</a:t>
            </a:r>
            <a:endParaRPr lang="en-US" sz="2400" dirty="0"/>
          </a:p>
        </p:txBody>
      </p:sp>
      <p:sp>
        <p:nvSpPr>
          <p:cNvPr id="24" name="Text 21"/>
          <p:cNvSpPr/>
          <p:nvPr/>
        </p:nvSpPr>
        <p:spPr>
          <a:xfrm>
            <a:off x="914400" y="4846320"/>
            <a:ext cx="10058400" cy="530352"/>
          </a:xfrm>
          <a:prstGeom prst="rect">
            <a:avLst/>
          </a:prstGeom>
          <a:noFill/>
          <a:ln/>
        </p:spPr>
        <p:txBody>
          <a:bodyPr wrap="square" lIns="0" tIns="0" rIns="0" bIns="0" rtlCol="0" anchor="ctr">
            <a:normAutofit/>
          </a:bodyPr>
          <a:lstStyle/>
          <a:p>
            <a:pPr algn="ctr" indent="0" marL="0">
              <a:buNone/>
            </a:pPr>
            <a:r>
              <a:rPr lang="en-US" sz="2500" b="1" dirty="0">
                <a:solidFill>
                  <a:srgbClr val="15131A"/>
                </a:solidFill>
                <a:latin typeface="Aptos" pitchFamily="34" charset="0"/>
                <a:ea typeface="Aptos" pitchFamily="34" charset="-122"/>
                <a:cs typeface="Aptos" pitchFamily="34" charset="-120"/>
              </a:rPr>
              <a:t>Track the session ID, active harness, host, workspace, and test evidence.</a:t>
            </a:r>
            <a:endParaRPr lang="en-US" sz="2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5131A"/>
        </a:solidFill>
      </p:bgPr>
    </p:bg>
    <p:spTree>
      <p:nvGrpSpPr>
        <p:cNvPr id="1" name=""/>
        <p:cNvGrpSpPr/>
        <p:nvPr/>
      </p:nvGrpSpPr>
      <p:grpSpPr>
        <a:xfrm>
          <a:off x="0" y="0"/>
          <a:ext cx="0" cy="0"/>
          <a:chOff x="0" y="0"/>
          <a:chExt cx="0" cy="0"/>
        </a:xfrm>
      </p:grpSpPr>
      <p:sp>
        <p:nvSpPr>
          <p:cNvPr id="2" name="Text 0"/>
          <p:cNvSpPr/>
          <p:nvPr/>
        </p:nvSpPr>
        <p:spPr>
          <a:xfrm>
            <a:off x="566928" y="256032"/>
            <a:ext cx="411480" cy="201168"/>
          </a:xfrm>
          <a:prstGeom prst="rect">
            <a:avLst/>
          </a:prstGeom>
          <a:noFill/>
          <a:ln/>
        </p:spPr>
        <p:txBody>
          <a:bodyPr wrap="square" lIns="0" tIns="0" rIns="0" bIns="0" rtlCol="0" anchor="ctr">
            <a:normAutofit/>
          </a:bodyPr>
          <a:lstStyle/>
          <a:p>
            <a:pPr algn="l" indent="0" marL="0">
              <a:buNone/>
            </a:pPr>
            <a:r>
              <a:rPr lang="en-US" sz="1100" b="1" dirty="0">
                <a:solidFill>
                  <a:srgbClr val="AD0C72"/>
                </a:solidFill>
                <a:latin typeface="Aptos Mono" pitchFamily="34" charset="0"/>
                <a:ea typeface="Aptos Mono" pitchFamily="34" charset="-122"/>
                <a:cs typeface="Aptos Mono" pitchFamily="34" charset="-120"/>
              </a:rPr>
              <a:t>11</a:t>
            </a:r>
            <a:endParaRPr lang="en-US" sz="1100" dirty="0"/>
          </a:p>
        </p:txBody>
      </p:sp>
      <p:sp>
        <p:nvSpPr>
          <p:cNvPr id="3" name="Text 1"/>
          <p:cNvSpPr/>
          <p:nvPr/>
        </p:nvSpPr>
        <p:spPr>
          <a:xfrm>
            <a:off x="8961120" y="256032"/>
            <a:ext cx="2606040" cy="201168"/>
          </a:xfrm>
          <a:prstGeom prst="rect">
            <a:avLst/>
          </a:prstGeom>
          <a:noFill/>
          <a:ln/>
        </p:spPr>
        <p:txBody>
          <a:bodyPr wrap="square" lIns="0" tIns="0" rIns="0" bIns="0" rtlCol="0" anchor="ctr">
            <a:normAutofit/>
          </a:bodyPr>
          <a:lstStyle/>
          <a:p>
            <a:pPr algn="r" indent="0" marL="0">
              <a:buNone/>
            </a:pPr>
            <a:r>
              <a:rPr lang="en-US" sz="1000" b="1" dirty="0">
                <a:solidFill>
                  <a:srgbClr val="BDB5C4"/>
                </a:solidFill>
                <a:latin typeface="Aptos" pitchFamily="34" charset="0"/>
                <a:ea typeface="Aptos" pitchFamily="34" charset="-122"/>
                <a:cs typeface="Aptos" pitchFamily="34" charset="-120"/>
              </a:rPr>
              <a:t>Live workflow</a:t>
            </a:r>
            <a:endParaRPr lang="en-US" sz="1000" dirty="0"/>
          </a:p>
        </p:txBody>
      </p:sp>
      <p:sp>
        <p:nvSpPr>
          <p:cNvPr id="4" name="Shape 2"/>
          <p:cNvSpPr/>
          <p:nvPr/>
        </p:nvSpPr>
        <p:spPr>
          <a:xfrm>
            <a:off x="566928" y="566928"/>
            <a:ext cx="11045952" cy="0"/>
          </a:xfrm>
          <a:prstGeom prst="line">
            <a:avLst/>
          </a:prstGeom>
          <a:noFill/>
          <a:ln w="12700">
            <a:solidFill>
              <a:srgbClr val="3A3441"/>
            </a:solidFill>
            <a:prstDash val="solid"/>
          </a:ln>
        </p:spPr>
      </p:sp>
      <p:sp>
        <p:nvSpPr>
          <p:cNvPr id="5" name="Text 3"/>
          <p:cNvSpPr/>
          <p:nvPr/>
        </p:nvSpPr>
        <p:spPr>
          <a:xfrm>
            <a:off x="658368" y="786384"/>
            <a:ext cx="10881360" cy="566928"/>
          </a:xfrm>
          <a:prstGeom prst="rect">
            <a:avLst/>
          </a:prstGeom>
          <a:noFill/>
          <a:ln/>
        </p:spPr>
        <p:txBody>
          <a:bodyPr wrap="square" lIns="0" tIns="0" rIns="0" bIns="0" rtlCol="0" anchor="ctr">
            <a:normAutofit/>
          </a:bodyPr>
          <a:lstStyle/>
          <a:p>
            <a:pPr algn="l" indent="0" marL="0">
              <a:buNone/>
            </a:pPr>
            <a:r>
              <a:rPr lang="en-US" sz="3100" b="1" dirty="0">
                <a:solidFill>
                  <a:srgbClr val="F4EEF2"/>
                </a:solidFill>
                <a:latin typeface="Aptos Display" pitchFamily="34" charset="0"/>
                <a:ea typeface="Aptos Display" pitchFamily="34" charset="-122"/>
                <a:cs typeface="Aptos Display" pitchFamily="34" charset="-120"/>
              </a:rPr>
              <a:t>Live demo</a:t>
            </a:r>
            <a:endParaRPr lang="en-US" sz="3100" dirty="0"/>
          </a:p>
        </p:txBody>
      </p:sp>
      <p:sp>
        <p:nvSpPr>
          <p:cNvPr id="6" name="Text 4"/>
          <p:cNvSpPr/>
          <p:nvPr/>
        </p:nvSpPr>
        <p:spPr>
          <a:xfrm>
            <a:off x="658368" y="6400800"/>
            <a:ext cx="10469880" cy="219456"/>
          </a:xfrm>
          <a:prstGeom prst="rect">
            <a:avLst/>
          </a:prstGeom>
          <a:noFill/>
          <a:ln/>
        </p:spPr>
        <p:txBody>
          <a:bodyPr wrap="square" lIns="0" tIns="0" rIns="0" bIns="0" rtlCol="0" anchor="ctr">
            <a:normAutofit/>
          </a:bodyPr>
          <a:lstStyle/>
          <a:p>
            <a:pPr algn="l" indent="0" marL="0">
              <a:buNone/>
            </a:pPr>
            <a:r>
              <a:rPr lang="en-US" sz="1450" b="1" dirty="0">
                <a:solidFill>
                  <a:srgbClr val="AD0C72"/>
                </a:solidFill>
                <a:latin typeface="Aptos" pitchFamily="34" charset="0"/>
                <a:ea typeface="Aptos" pitchFamily="34" charset="-122"/>
                <a:cs typeface="Aptos" pitchFamily="34" charset="-120"/>
              </a:rPr>
              <a:t>@anxkhn</a:t>
            </a:r>
            <a:pPr algn="l" indent="0" marL="0">
              <a:buNone/>
            </a:pPr>
            <a:r>
              <a:rPr lang="en-US" sz="1450" b="1" dirty="0">
                <a:solidFill>
                  <a:srgbClr val="F4EEF2"/>
                </a:solidFill>
                <a:latin typeface="Aptos" pitchFamily="34" charset="0"/>
                <a:ea typeface="Aptos" pitchFamily="34" charset="-122"/>
                <a:cs typeface="Aptos" pitchFamily="34" charset="-120"/>
              </a:rPr>
              <a:t>  ·  #DevDays  ·  #DevDaysMumbai  ·  #mumtechup</a:t>
            </a:r>
            <a:endParaRPr lang="en-US" sz="1450" dirty="0"/>
          </a:p>
        </p:txBody>
      </p:sp>
      <p:sp>
        <p:nvSpPr>
          <p:cNvPr id="7" name="Text 5"/>
          <p:cNvSpPr/>
          <p:nvPr/>
        </p:nvSpPr>
        <p:spPr>
          <a:xfrm>
            <a:off x="11064240" y="6419088"/>
            <a:ext cx="438912" cy="182880"/>
          </a:xfrm>
          <a:prstGeom prst="rect">
            <a:avLst/>
          </a:prstGeom>
          <a:noFill/>
          <a:ln/>
        </p:spPr>
        <p:txBody>
          <a:bodyPr wrap="square" lIns="0" tIns="0" rIns="0" bIns="0" rtlCol="0" anchor="ctr">
            <a:normAutofit/>
          </a:bodyPr>
          <a:lstStyle/>
          <a:p>
            <a:pPr algn="r" indent="0" marL="0">
              <a:buNone/>
            </a:pPr>
            <a:r>
              <a:rPr lang="en-US" sz="1200" b="1" dirty="0">
                <a:solidFill>
                  <a:srgbClr val="BDB5C4"/>
                </a:solidFill>
                <a:latin typeface="Aptos Mono" pitchFamily="34" charset="0"/>
                <a:ea typeface="Aptos Mono" pitchFamily="34" charset="-122"/>
                <a:cs typeface="Aptos Mono" pitchFamily="34" charset="-120"/>
              </a:rPr>
              <a:t>11</a:t>
            </a:r>
            <a:endParaRPr lang="en-US" sz="1200" dirty="0"/>
          </a:p>
        </p:txBody>
      </p:sp>
      <p:sp>
        <p:nvSpPr>
          <p:cNvPr id="9" name="Text 6"/>
          <p:cNvSpPr/>
          <p:nvPr/>
        </p:nvSpPr>
        <p:spPr>
          <a:xfrm>
            <a:off x="841248" y="1920240"/>
            <a:ext cx="10332720" cy="566928"/>
          </a:xfrm>
          <a:prstGeom prst="rect">
            <a:avLst/>
          </a:prstGeom>
          <a:noFill/>
          <a:ln/>
        </p:spPr>
        <p:txBody>
          <a:bodyPr wrap="square" lIns="0" tIns="0" rIns="0" bIns="0" rtlCol="0" anchor="ctr">
            <a:normAutofit/>
          </a:bodyPr>
          <a:lstStyle/>
          <a:p>
            <a:pPr algn="l" indent="0" marL="0">
              <a:buNone/>
            </a:pPr>
            <a:r>
              <a:rPr lang="en-US" sz="3000" b="1" dirty="0">
                <a:solidFill>
                  <a:srgbClr val="4DC5A0"/>
                </a:solidFill>
                <a:latin typeface="Aptos Mono" pitchFamily="34" charset="0"/>
                <a:ea typeface="Aptos Mono" pitchFamily="34" charset="-122"/>
                <a:cs typeface="Aptos Mono" pitchFamily="34" charset="-120"/>
              </a:rPr>
              <a:t>$ omnigent run --harness copilot</a:t>
            </a:r>
            <a:endParaRPr lang="en-US" sz="3000" dirty="0"/>
          </a:p>
        </p:txBody>
      </p:sp>
      <p:sp>
        <p:nvSpPr>
          <p:cNvPr id="10" name="Shape 7"/>
          <p:cNvSpPr/>
          <p:nvPr/>
        </p:nvSpPr>
        <p:spPr>
          <a:xfrm>
            <a:off x="841248" y="3154680"/>
            <a:ext cx="2212848" cy="109728"/>
          </a:xfrm>
          <a:prstGeom prst="rect">
            <a:avLst/>
          </a:prstGeom>
          <a:solidFill>
            <a:srgbClr val="AD0C72"/>
          </a:solidFill>
          <a:ln w="12700">
            <a:solidFill>
              <a:srgbClr val="AD0C72"/>
            </a:solidFill>
            <a:prstDash val="solid"/>
          </a:ln>
        </p:spPr>
      </p:sp>
      <p:sp>
        <p:nvSpPr>
          <p:cNvPr id="11" name="Text 8"/>
          <p:cNvSpPr/>
          <p:nvPr/>
        </p:nvSpPr>
        <p:spPr>
          <a:xfrm>
            <a:off x="841248" y="3456432"/>
            <a:ext cx="2212848" cy="292608"/>
          </a:xfrm>
          <a:prstGeom prst="rect">
            <a:avLst/>
          </a:prstGeom>
          <a:noFill/>
          <a:ln/>
        </p:spPr>
        <p:txBody>
          <a:bodyPr wrap="square" lIns="0" tIns="0" rIns="0" bIns="0" rtlCol="0" anchor="ctr">
            <a:normAutofit/>
          </a:bodyPr>
          <a:lstStyle/>
          <a:p>
            <a:pPr algn="ctr" indent="0" marL="0">
              <a:buNone/>
            </a:pPr>
            <a:r>
              <a:rPr lang="en-US" sz="1500" b="1" dirty="0">
                <a:solidFill>
                  <a:srgbClr val="F4EEF2"/>
                </a:solidFill>
                <a:latin typeface="Aptos Mono" pitchFamily="34" charset="0"/>
                <a:ea typeface="Aptos Mono" pitchFamily="34" charset="-122"/>
                <a:cs typeface="Aptos Mono" pitchFamily="34" charset="-120"/>
              </a:rPr>
              <a:t>FIX</a:t>
            </a:r>
            <a:endParaRPr lang="en-US" sz="1500" dirty="0"/>
          </a:p>
        </p:txBody>
      </p:sp>
      <p:sp>
        <p:nvSpPr>
          <p:cNvPr id="12" name="Shape 9"/>
          <p:cNvSpPr/>
          <p:nvPr/>
        </p:nvSpPr>
        <p:spPr>
          <a:xfrm>
            <a:off x="3538728" y="3154680"/>
            <a:ext cx="2212848" cy="109728"/>
          </a:xfrm>
          <a:prstGeom prst="rect">
            <a:avLst/>
          </a:prstGeom>
          <a:solidFill>
            <a:srgbClr val="4A4351"/>
          </a:solidFill>
          <a:ln w="12700">
            <a:solidFill>
              <a:srgbClr val="4A4351"/>
            </a:solidFill>
            <a:prstDash val="solid"/>
          </a:ln>
        </p:spPr>
      </p:sp>
      <p:sp>
        <p:nvSpPr>
          <p:cNvPr id="13" name="Text 10"/>
          <p:cNvSpPr/>
          <p:nvPr/>
        </p:nvSpPr>
        <p:spPr>
          <a:xfrm>
            <a:off x="3538728" y="3456432"/>
            <a:ext cx="2212848" cy="292608"/>
          </a:xfrm>
          <a:prstGeom prst="rect">
            <a:avLst/>
          </a:prstGeom>
          <a:noFill/>
          <a:ln/>
        </p:spPr>
        <p:txBody>
          <a:bodyPr wrap="square" lIns="0" tIns="0" rIns="0" bIns="0" rtlCol="0" anchor="ctr">
            <a:normAutofit/>
          </a:bodyPr>
          <a:lstStyle/>
          <a:p>
            <a:pPr algn="ctr" indent="0" marL="0">
              <a:buNone/>
            </a:pPr>
            <a:r>
              <a:rPr lang="en-US" sz="1500" b="1" dirty="0">
                <a:solidFill>
                  <a:srgbClr val="BDB5C4"/>
                </a:solidFill>
                <a:latin typeface="Aptos Mono" pitchFamily="34" charset="0"/>
                <a:ea typeface="Aptos Mono" pitchFamily="34" charset="-122"/>
                <a:cs typeface="Aptos Mono" pitchFamily="34" charset="-120"/>
              </a:rPr>
              <a:t>SAME SESSION</a:t>
            </a:r>
            <a:endParaRPr lang="en-US" sz="1500" dirty="0"/>
          </a:p>
        </p:txBody>
      </p:sp>
      <p:sp>
        <p:nvSpPr>
          <p:cNvPr id="14" name="Shape 11"/>
          <p:cNvSpPr/>
          <p:nvPr/>
        </p:nvSpPr>
        <p:spPr>
          <a:xfrm>
            <a:off x="6236208" y="3154680"/>
            <a:ext cx="2212848" cy="109728"/>
          </a:xfrm>
          <a:prstGeom prst="rect">
            <a:avLst/>
          </a:prstGeom>
          <a:solidFill>
            <a:srgbClr val="4A4351"/>
          </a:solidFill>
          <a:ln w="12700">
            <a:solidFill>
              <a:srgbClr val="4A4351"/>
            </a:solidFill>
            <a:prstDash val="solid"/>
          </a:ln>
        </p:spPr>
      </p:sp>
      <p:sp>
        <p:nvSpPr>
          <p:cNvPr id="15" name="Text 12"/>
          <p:cNvSpPr/>
          <p:nvPr/>
        </p:nvSpPr>
        <p:spPr>
          <a:xfrm>
            <a:off x="6236208" y="3456432"/>
            <a:ext cx="2212848" cy="292608"/>
          </a:xfrm>
          <a:prstGeom prst="rect">
            <a:avLst/>
          </a:prstGeom>
          <a:noFill/>
          <a:ln/>
        </p:spPr>
        <p:txBody>
          <a:bodyPr wrap="square" lIns="0" tIns="0" rIns="0" bIns="0" rtlCol="0" anchor="ctr">
            <a:normAutofit/>
          </a:bodyPr>
          <a:lstStyle/>
          <a:p>
            <a:pPr algn="ctr" indent="0" marL="0">
              <a:buNone/>
            </a:pPr>
            <a:r>
              <a:rPr lang="en-US" sz="1500" b="1" dirty="0">
                <a:solidFill>
                  <a:srgbClr val="BDB5C4"/>
                </a:solidFill>
                <a:latin typeface="Aptos Mono" pitchFamily="34" charset="0"/>
                <a:ea typeface="Aptos Mono" pitchFamily="34" charset="-122"/>
                <a:cs typeface="Aptos Mono" pitchFamily="34" charset="-120"/>
              </a:rPr>
              <a:t>USAGE</a:t>
            </a:r>
            <a:endParaRPr lang="en-US" sz="1500" dirty="0"/>
          </a:p>
        </p:txBody>
      </p:sp>
      <p:sp>
        <p:nvSpPr>
          <p:cNvPr id="16" name="Shape 13"/>
          <p:cNvSpPr/>
          <p:nvPr/>
        </p:nvSpPr>
        <p:spPr>
          <a:xfrm>
            <a:off x="8933688" y="3154680"/>
            <a:ext cx="2212848" cy="109728"/>
          </a:xfrm>
          <a:prstGeom prst="rect">
            <a:avLst/>
          </a:prstGeom>
          <a:solidFill>
            <a:srgbClr val="4A4351"/>
          </a:solidFill>
          <a:ln w="12700">
            <a:solidFill>
              <a:srgbClr val="4A4351"/>
            </a:solidFill>
            <a:prstDash val="solid"/>
          </a:ln>
        </p:spPr>
      </p:sp>
      <p:sp>
        <p:nvSpPr>
          <p:cNvPr id="17" name="Text 14"/>
          <p:cNvSpPr/>
          <p:nvPr/>
        </p:nvSpPr>
        <p:spPr>
          <a:xfrm>
            <a:off x="8933688" y="3456432"/>
            <a:ext cx="2212848" cy="292608"/>
          </a:xfrm>
          <a:prstGeom prst="rect">
            <a:avLst/>
          </a:prstGeom>
          <a:noFill/>
          <a:ln/>
        </p:spPr>
        <p:txBody>
          <a:bodyPr wrap="square" lIns="0" tIns="0" rIns="0" bIns="0" rtlCol="0" anchor="ctr">
            <a:normAutofit/>
          </a:bodyPr>
          <a:lstStyle/>
          <a:p>
            <a:pPr algn="ctr" indent="0" marL="0">
              <a:buNone/>
            </a:pPr>
            <a:r>
              <a:rPr lang="en-US" sz="1500" b="1" dirty="0">
                <a:solidFill>
                  <a:srgbClr val="BDB5C4"/>
                </a:solidFill>
                <a:latin typeface="Aptos Mono" pitchFamily="34" charset="0"/>
                <a:ea typeface="Aptos Mono" pitchFamily="34" charset="-122"/>
                <a:cs typeface="Aptos Mono" pitchFamily="34" charset="-120"/>
              </a:rPr>
              <a:t>REVIEW FORK</a:t>
            </a:r>
            <a:endParaRPr lang="en-US" sz="1500" dirty="0"/>
          </a:p>
        </p:txBody>
      </p:sp>
      <p:sp>
        <p:nvSpPr>
          <p:cNvPr id="18" name="Text 15"/>
          <p:cNvSpPr/>
          <p:nvPr/>
        </p:nvSpPr>
        <p:spPr>
          <a:xfrm>
            <a:off x="868680" y="4709160"/>
            <a:ext cx="10241280" cy="502920"/>
          </a:xfrm>
          <a:prstGeom prst="rect">
            <a:avLst/>
          </a:prstGeom>
          <a:noFill/>
          <a:ln/>
        </p:spPr>
        <p:txBody>
          <a:bodyPr wrap="square" lIns="0" tIns="0" rIns="0" bIns="0" rtlCol="0" anchor="ctr">
            <a:normAutofit/>
          </a:bodyPr>
          <a:lstStyle/>
          <a:p>
            <a:pPr algn="ctr" indent="0" marL="0">
              <a:buNone/>
            </a:pPr>
            <a:r>
              <a:rPr lang="en-US" sz="2500" dirty="0">
                <a:solidFill>
                  <a:srgbClr val="BDB5C4"/>
                </a:solidFill>
                <a:latin typeface="Aptos" pitchFamily="34" charset="0"/>
                <a:ea typeface="Aptos" pitchFamily="34" charset="-122"/>
                <a:cs typeface="Aptos" pitchFamily="34" charset="-120"/>
              </a:rPr>
              <a:t>Switching to the prepared terminal and browser</a:t>
            </a:r>
            <a:endParaRPr lang="en-US" sz="2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56032"/>
            <a:ext cx="411480" cy="201168"/>
          </a:xfrm>
          <a:prstGeom prst="rect">
            <a:avLst/>
          </a:prstGeom>
          <a:noFill/>
          <a:ln/>
        </p:spPr>
        <p:txBody>
          <a:bodyPr wrap="square" lIns="0" tIns="0" rIns="0" bIns="0" rtlCol="0" anchor="ctr">
            <a:normAutofit/>
          </a:bodyPr>
          <a:lstStyle/>
          <a:p>
            <a:pPr algn="l" indent="0" marL="0">
              <a:buNone/>
            </a:pPr>
            <a:r>
              <a:rPr lang="en-US" sz="1100" b="1" dirty="0">
                <a:solidFill>
                  <a:srgbClr val="AD0C72"/>
                </a:solidFill>
                <a:latin typeface="Aptos Mono" pitchFamily="34" charset="0"/>
                <a:ea typeface="Aptos Mono" pitchFamily="34" charset="-122"/>
                <a:cs typeface="Aptos Mono" pitchFamily="34" charset="-120"/>
              </a:rPr>
              <a:t>12</a:t>
            </a:r>
            <a:endParaRPr lang="en-US" sz="1100" dirty="0"/>
          </a:p>
        </p:txBody>
      </p:sp>
      <p:sp>
        <p:nvSpPr>
          <p:cNvPr id="3" name="Text 1"/>
          <p:cNvSpPr/>
          <p:nvPr/>
        </p:nvSpPr>
        <p:spPr>
          <a:xfrm>
            <a:off x="8961120" y="256032"/>
            <a:ext cx="2606040" cy="201168"/>
          </a:xfrm>
          <a:prstGeom prst="rect">
            <a:avLst/>
          </a:prstGeom>
          <a:noFill/>
          <a:ln/>
        </p:spPr>
        <p:txBody>
          <a:bodyPr wrap="square" lIns="0" tIns="0" rIns="0" bIns="0" rtlCol="0" anchor="ctr">
            <a:normAutofit/>
          </a:bodyPr>
          <a:lstStyle/>
          <a:p>
            <a:pPr algn="r" indent="0" marL="0">
              <a:buNone/>
            </a:pPr>
            <a:r>
              <a:rPr lang="en-US" sz="1000" b="1" dirty="0">
                <a:solidFill>
                  <a:srgbClr val="5C5765"/>
                </a:solidFill>
                <a:latin typeface="Aptos" pitchFamily="34" charset="0"/>
                <a:ea typeface="Aptos" pitchFamily="34" charset="-122"/>
                <a:cs typeface="Aptos" pitchFamily="34" charset="-120"/>
              </a:rPr>
              <a:t>Boundary ledger</a:t>
            </a:r>
            <a:endParaRPr lang="en-US" sz="1000" dirty="0"/>
          </a:p>
        </p:txBody>
      </p:sp>
      <p:sp>
        <p:nvSpPr>
          <p:cNvPr id="4" name="Shape 2"/>
          <p:cNvSpPr/>
          <p:nvPr/>
        </p:nvSpPr>
        <p:spPr>
          <a:xfrm>
            <a:off x="566928" y="566928"/>
            <a:ext cx="11045952" cy="0"/>
          </a:xfrm>
          <a:prstGeom prst="line">
            <a:avLst/>
          </a:prstGeom>
          <a:noFill/>
          <a:ln w="12700">
            <a:solidFill>
              <a:srgbClr val="ECE8EE"/>
            </a:solidFill>
            <a:prstDash val="solid"/>
          </a:ln>
        </p:spPr>
      </p:sp>
      <p:sp>
        <p:nvSpPr>
          <p:cNvPr id="5" name="Text 3"/>
          <p:cNvSpPr/>
          <p:nvPr/>
        </p:nvSpPr>
        <p:spPr>
          <a:xfrm>
            <a:off x="658368" y="786384"/>
            <a:ext cx="10881360" cy="566928"/>
          </a:xfrm>
          <a:prstGeom prst="rect">
            <a:avLst/>
          </a:prstGeom>
          <a:noFill/>
          <a:ln/>
        </p:spPr>
        <p:txBody>
          <a:bodyPr wrap="square" lIns="0" tIns="0" rIns="0" bIns="0" rtlCol="0" anchor="ctr">
            <a:normAutofit/>
          </a:bodyPr>
          <a:lstStyle/>
          <a:p>
            <a:pPr algn="l" indent="0" marL="0">
              <a:buNone/>
            </a:pPr>
            <a:r>
              <a:rPr lang="en-US" sz="3100" b="1" dirty="0">
                <a:solidFill>
                  <a:srgbClr val="15131A"/>
                </a:solidFill>
                <a:latin typeface="Aptos Display" pitchFamily="34" charset="0"/>
                <a:ea typeface="Aptos Display" pitchFamily="34" charset="-122"/>
                <a:cs typeface="Aptos Display" pitchFamily="34" charset="-120"/>
              </a:rPr>
              <a:t>What crossed the boundary?</a:t>
            </a:r>
            <a:endParaRPr lang="en-US" sz="3100" dirty="0"/>
          </a:p>
        </p:txBody>
      </p:sp>
      <p:sp>
        <p:nvSpPr>
          <p:cNvPr id="6" name="Text 4"/>
          <p:cNvSpPr/>
          <p:nvPr/>
        </p:nvSpPr>
        <p:spPr>
          <a:xfrm>
            <a:off x="658368" y="6144768"/>
            <a:ext cx="10789920" cy="182880"/>
          </a:xfrm>
          <a:prstGeom prst="rect">
            <a:avLst/>
          </a:prstGeom>
          <a:noFill/>
          <a:ln/>
        </p:spPr>
        <p:txBody>
          <a:bodyPr wrap="square" lIns="0" tIns="0" rIns="0" bIns="0" rtlCol="0" anchor="ctr">
            <a:normAutofit/>
          </a:bodyPr>
          <a:lstStyle/>
          <a:p>
            <a:pPr algn="l" indent="0" marL="0">
              <a:buNone/>
            </a:pPr>
            <a:r>
              <a:rPr lang="en-US" sz="1100" dirty="0">
                <a:solidFill>
                  <a:srgbClr val="5C5765"/>
                </a:solidFill>
                <a:latin typeface="Aptos" pitchFamily="34" charset="0"/>
                <a:ea typeface="Aptos" pitchFamily="34" charset="-122"/>
                <a:cs typeface="Aptos" pitchFamily="34" charset="-120"/>
              </a:rPr>
              <a:t>Source: Omnigent collaboration docs · prepared demo evidence</a:t>
            </a:r>
            <a:endParaRPr lang="en-US" sz="1100" dirty="0"/>
          </a:p>
        </p:txBody>
      </p:sp>
      <p:sp>
        <p:nvSpPr>
          <p:cNvPr id="7" name="Text 5"/>
          <p:cNvSpPr/>
          <p:nvPr/>
        </p:nvSpPr>
        <p:spPr>
          <a:xfrm>
            <a:off x="658368" y="6400800"/>
            <a:ext cx="10469880" cy="219456"/>
          </a:xfrm>
          <a:prstGeom prst="rect">
            <a:avLst/>
          </a:prstGeom>
          <a:noFill/>
          <a:ln/>
        </p:spPr>
        <p:txBody>
          <a:bodyPr wrap="square" lIns="0" tIns="0" rIns="0" bIns="0" rtlCol="0" anchor="ctr">
            <a:normAutofit/>
          </a:bodyPr>
          <a:lstStyle/>
          <a:p>
            <a:pPr algn="l" indent="0" marL="0">
              <a:buNone/>
            </a:pPr>
            <a:r>
              <a:rPr lang="en-US" sz="1450" b="1" dirty="0">
                <a:solidFill>
                  <a:srgbClr val="AD0C72"/>
                </a:solidFill>
                <a:latin typeface="Aptos" pitchFamily="34" charset="0"/>
                <a:ea typeface="Aptos" pitchFamily="34" charset="-122"/>
                <a:cs typeface="Aptos" pitchFamily="34" charset="-120"/>
              </a:rPr>
              <a:t>@anxkhn</a:t>
            </a:r>
            <a:pPr algn="l" indent="0" marL="0">
              <a:buNone/>
            </a:pPr>
            <a:r>
              <a:rPr lang="en-US" sz="1450" b="1" dirty="0">
                <a:solidFill>
                  <a:srgbClr val="5C5765"/>
                </a:solidFill>
                <a:latin typeface="Aptos" pitchFamily="34" charset="0"/>
                <a:ea typeface="Aptos" pitchFamily="34" charset="-122"/>
                <a:cs typeface="Aptos" pitchFamily="34" charset="-120"/>
              </a:rPr>
              <a:t>  ·  #DevDays  ·  #DevDaysMumbai  ·  #mumtechup</a:t>
            </a:r>
            <a:endParaRPr lang="en-US" sz="1450" dirty="0"/>
          </a:p>
        </p:txBody>
      </p:sp>
      <p:sp>
        <p:nvSpPr>
          <p:cNvPr id="8" name="Text 6"/>
          <p:cNvSpPr/>
          <p:nvPr/>
        </p:nvSpPr>
        <p:spPr>
          <a:xfrm>
            <a:off x="11064240" y="6419088"/>
            <a:ext cx="438912" cy="182880"/>
          </a:xfrm>
          <a:prstGeom prst="rect">
            <a:avLst/>
          </a:prstGeom>
          <a:noFill/>
          <a:ln/>
        </p:spPr>
        <p:txBody>
          <a:bodyPr wrap="square" lIns="0" tIns="0" rIns="0" bIns="0" rtlCol="0" anchor="ctr">
            <a:normAutofit/>
          </a:bodyPr>
          <a:lstStyle/>
          <a:p>
            <a:pPr algn="r" indent="0" marL="0">
              <a:buNone/>
            </a:pPr>
            <a:r>
              <a:rPr lang="en-US" sz="1200" b="1" dirty="0">
                <a:solidFill>
                  <a:srgbClr val="5C5765"/>
                </a:solidFill>
                <a:latin typeface="Aptos Mono" pitchFamily="34" charset="0"/>
                <a:ea typeface="Aptos Mono" pitchFamily="34" charset="-122"/>
                <a:cs typeface="Aptos Mono" pitchFamily="34" charset="-120"/>
              </a:rPr>
              <a:t>12</a:t>
            </a:r>
            <a:endParaRPr lang="en-US" sz="1200" dirty="0"/>
          </a:p>
        </p:txBody>
      </p:sp>
      <p:sp>
        <p:nvSpPr>
          <p:cNvPr id="10" name="Text 7"/>
          <p:cNvSpPr/>
          <p:nvPr/>
        </p:nvSpPr>
        <p:spPr>
          <a:xfrm>
            <a:off x="713232" y="1572768"/>
            <a:ext cx="5120640" cy="384048"/>
          </a:xfrm>
          <a:prstGeom prst="rect">
            <a:avLst/>
          </a:prstGeom>
          <a:noFill/>
          <a:ln/>
        </p:spPr>
        <p:txBody>
          <a:bodyPr wrap="square" lIns="0" tIns="0" rIns="0" bIns="0" rtlCol="0" anchor="ctr">
            <a:normAutofit/>
          </a:bodyPr>
          <a:lstStyle/>
          <a:p>
            <a:pPr algn="l" indent="0" marL="0">
              <a:buNone/>
            </a:pPr>
            <a:r>
              <a:rPr lang="en-US" sz="2000" b="1" dirty="0">
                <a:solidFill>
                  <a:srgbClr val="267D63"/>
                </a:solidFill>
                <a:latin typeface="Aptos" pitchFamily="34" charset="0"/>
                <a:ea typeface="Aptos" pitchFamily="34" charset="-122"/>
                <a:cs typeface="Aptos" pitchFamily="34" charset="-120"/>
              </a:rPr>
              <a:t>✓  AVAILABLE TO CODEX</a:t>
            </a:r>
            <a:endParaRPr lang="en-US" sz="2000" dirty="0"/>
          </a:p>
        </p:txBody>
      </p:sp>
      <p:sp>
        <p:nvSpPr>
          <p:cNvPr id="11" name="Shape 8"/>
          <p:cNvSpPr/>
          <p:nvPr/>
        </p:nvSpPr>
        <p:spPr>
          <a:xfrm>
            <a:off x="713232" y="2139696"/>
            <a:ext cx="5074920" cy="530352"/>
          </a:xfrm>
          <a:prstGeom prst="rect">
            <a:avLst/>
          </a:prstGeom>
          <a:solidFill>
            <a:srgbClr val="E4F7F1"/>
          </a:solidFill>
          <a:ln w="12700">
            <a:solidFill>
              <a:srgbClr val="E4F7F1">
                <a:alpha val="0"/>
              </a:srgbClr>
            </a:solidFill>
            <a:prstDash val="solid"/>
          </a:ln>
        </p:spPr>
      </p:sp>
      <p:sp>
        <p:nvSpPr>
          <p:cNvPr id="12" name="Text 9"/>
          <p:cNvSpPr/>
          <p:nvPr/>
        </p:nvSpPr>
        <p:spPr>
          <a:xfrm>
            <a:off x="914400" y="2231136"/>
            <a:ext cx="4663440" cy="292608"/>
          </a:xfrm>
          <a:prstGeom prst="rect">
            <a:avLst/>
          </a:prstGeom>
          <a:noFill/>
          <a:ln/>
        </p:spPr>
        <p:txBody>
          <a:bodyPr wrap="square" lIns="0" tIns="0" rIns="0" bIns="0" rtlCol="0" anchor="ctr">
            <a:normAutofit/>
          </a:bodyPr>
          <a:lstStyle/>
          <a:p>
            <a:pPr algn="l" indent="0" marL="0">
              <a:buNone/>
            </a:pPr>
            <a:r>
              <a:rPr lang="en-US" sz="2100" dirty="0">
                <a:solidFill>
                  <a:srgbClr val="15131A"/>
                </a:solidFill>
                <a:latin typeface="Aptos" pitchFamily="34" charset="0"/>
                <a:ea typeface="Aptos" pitchFamily="34" charset="-122"/>
                <a:cs typeface="Aptos" pitchFamily="34" charset="-120"/>
              </a:rPr>
              <a:t>Persisted conversation history</a:t>
            </a:r>
            <a:endParaRPr lang="en-US" sz="2100" dirty="0"/>
          </a:p>
        </p:txBody>
      </p:sp>
      <p:sp>
        <p:nvSpPr>
          <p:cNvPr id="13" name="Shape 10"/>
          <p:cNvSpPr/>
          <p:nvPr/>
        </p:nvSpPr>
        <p:spPr>
          <a:xfrm>
            <a:off x="713232" y="2798064"/>
            <a:ext cx="5074920" cy="530352"/>
          </a:xfrm>
          <a:prstGeom prst="rect">
            <a:avLst/>
          </a:prstGeom>
          <a:solidFill>
            <a:srgbClr val="E4F7F1"/>
          </a:solidFill>
          <a:ln w="12700">
            <a:solidFill>
              <a:srgbClr val="E4F7F1">
                <a:alpha val="0"/>
              </a:srgbClr>
            </a:solidFill>
            <a:prstDash val="solid"/>
          </a:ln>
        </p:spPr>
      </p:sp>
      <p:sp>
        <p:nvSpPr>
          <p:cNvPr id="14" name="Text 11"/>
          <p:cNvSpPr/>
          <p:nvPr/>
        </p:nvSpPr>
        <p:spPr>
          <a:xfrm>
            <a:off x="914400" y="2889504"/>
            <a:ext cx="4663440" cy="292608"/>
          </a:xfrm>
          <a:prstGeom prst="rect">
            <a:avLst/>
          </a:prstGeom>
          <a:noFill/>
          <a:ln/>
        </p:spPr>
        <p:txBody>
          <a:bodyPr wrap="square" lIns="0" tIns="0" rIns="0" bIns="0" rtlCol="0" anchor="ctr">
            <a:normAutofit/>
          </a:bodyPr>
          <a:lstStyle/>
          <a:p>
            <a:pPr algn="l" indent="0" marL="0">
              <a:buNone/>
            </a:pPr>
            <a:r>
              <a:rPr lang="en-US" sz="2100" dirty="0">
                <a:solidFill>
                  <a:srgbClr val="15131A"/>
                </a:solidFill>
                <a:latin typeface="Aptos" pitchFamily="34" charset="0"/>
                <a:ea typeface="Aptos" pitchFamily="34" charset="-122"/>
                <a:cs typeface="Aptos" pitchFamily="34" charset="-120"/>
              </a:rPr>
              <a:t>Explicit commands and tool outputs</a:t>
            </a:r>
            <a:endParaRPr lang="en-US" sz="2100" dirty="0"/>
          </a:p>
        </p:txBody>
      </p:sp>
      <p:sp>
        <p:nvSpPr>
          <p:cNvPr id="15" name="Shape 12"/>
          <p:cNvSpPr/>
          <p:nvPr/>
        </p:nvSpPr>
        <p:spPr>
          <a:xfrm>
            <a:off x="713232" y="3456432"/>
            <a:ext cx="5074920" cy="530352"/>
          </a:xfrm>
          <a:prstGeom prst="rect">
            <a:avLst/>
          </a:prstGeom>
          <a:solidFill>
            <a:srgbClr val="E4F7F1"/>
          </a:solidFill>
          <a:ln w="12700">
            <a:solidFill>
              <a:srgbClr val="E4F7F1">
                <a:alpha val="0"/>
              </a:srgbClr>
            </a:solidFill>
            <a:prstDash val="solid"/>
          </a:ln>
        </p:spPr>
      </p:sp>
      <p:sp>
        <p:nvSpPr>
          <p:cNvPr id="16" name="Text 13"/>
          <p:cNvSpPr/>
          <p:nvPr/>
        </p:nvSpPr>
        <p:spPr>
          <a:xfrm>
            <a:off x="914400" y="3547872"/>
            <a:ext cx="4663440" cy="292608"/>
          </a:xfrm>
          <a:prstGeom prst="rect">
            <a:avLst/>
          </a:prstGeom>
          <a:noFill/>
          <a:ln/>
        </p:spPr>
        <p:txBody>
          <a:bodyPr wrap="square" lIns="0" tIns="0" rIns="0" bIns="0" rtlCol="0" anchor="ctr">
            <a:normAutofit/>
          </a:bodyPr>
          <a:lstStyle/>
          <a:p>
            <a:pPr algn="l" indent="0" marL="0">
              <a:buNone/>
            </a:pPr>
            <a:r>
              <a:rPr lang="en-US" sz="2100" dirty="0">
                <a:solidFill>
                  <a:srgbClr val="15131A"/>
                </a:solidFill>
                <a:latin typeface="Aptos" pitchFamily="34" charset="0"/>
                <a:ea typeface="Aptos" pitchFamily="34" charset="-122"/>
                <a:cs typeface="Aptos" pitchFamily="34" charset="-120"/>
              </a:rPr>
              <a:t>Workspace files on bound host</a:t>
            </a:r>
            <a:endParaRPr lang="en-US" sz="2100" dirty="0"/>
          </a:p>
        </p:txBody>
      </p:sp>
      <p:sp>
        <p:nvSpPr>
          <p:cNvPr id="17" name="Shape 14"/>
          <p:cNvSpPr/>
          <p:nvPr/>
        </p:nvSpPr>
        <p:spPr>
          <a:xfrm>
            <a:off x="713232" y="4114800"/>
            <a:ext cx="5074920" cy="530352"/>
          </a:xfrm>
          <a:prstGeom prst="rect">
            <a:avLst/>
          </a:prstGeom>
          <a:solidFill>
            <a:srgbClr val="E4F7F1"/>
          </a:solidFill>
          <a:ln w="12700">
            <a:solidFill>
              <a:srgbClr val="E4F7F1">
                <a:alpha val="0"/>
              </a:srgbClr>
            </a:solidFill>
            <a:prstDash val="solid"/>
          </a:ln>
        </p:spPr>
      </p:sp>
      <p:sp>
        <p:nvSpPr>
          <p:cNvPr id="18" name="Text 15"/>
          <p:cNvSpPr/>
          <p:nvPr/>
        </p:nvSpPr>
        <p:spPr>
          <a:xfrm>
            <a:off x="914400" y="4206240"/>
            <a:ext cx="4663440" cy="292608"/>
          </a:xfrm>
          <a:prstGeom prst="rect">
            <a:avLst/>
          </a:prstGeom>
          <a:noFill/>
          <a:ln/>
        </p:spPr>
        <p:txBody>
          <a:bodyPr wrap="square" lIns="0" tIns="0" rIns="0" bIns="0" rtlCol="0" anchor="ctr">
            <a:normAutofit/>
          </a:bodyPr>
          <a:lstStyle/>
          <a:p>
            <a:pPr algn="l" indent="0" marL="0">
              <a:buNone/>
            </a:pPr>
            <a:r>
              <a:rPr lang="en-US" sz="2100" dirty="0">
                <a:solidFill>
                  <a:srgbClr val="15131A"/>
                </a:solidFill>
                <a:latin typeface="Aptos" pitchFamily="34" charset="0"/>
                <a:ea typeface="Aptos" pitchFamily="34" charset="-122"/>
                <a:cs typeface="Aptos" pitchFamily="34" charset="-120"/>
              </a:rPr>
              <a:t>Session lineage parentage</a:t>
            </a:r>
            <a:endParaRPr lang="en-US" sz="2100" dirty="0"/>
          </a:p>
        </p:txBody>
      </p:sp>
      <p:sp>
        <p:nvSpPr>
          <p:cNvPr id="19" name="Shape 16"/>
          <p:cNvSpPr/>
          <p:nvPr/>
        </p:nvSpPr>
        <p:spPr>
          <a:xfrm>
            <a:off x="713232" y="4773168"/>
            <a:ext cx="5074920" cy="530352"/>
          </a:xfrm>
          <a:prstGeom prst="rect">
            <a:avLst/>
          </a:prstGeom>
          <a:solidFill>
            <a:srgbClr val="E4F7F1"/>
          </a:solidFill>
          <a:ln w="12700">
            <a:solidFill>
              <a:srgbClr val="E4F7F1">
                <a:alpha val="0"/>
              </a:srgbClr>
            </a:solidFill>
            <a:prstDash val="solid"/>
          </a:ln>
        </p:spPr>
      </p:sp>
      <p:sp>
        <p:nvSpPr>
          <p:cNvPr id="20" name="Text 17"/>
          <p:cNvSpPr/>
          <p:nvPr/>
        </p:nvSpPr>
        <p:spPr>
          <a:xfrm>
            <a:off x="914400" y="4864608"/>
            <a:ext cx="4663440" cy="292608"/>
          </a:xfrm>
          <a:prstGeom prst="rect">
            <a:avLst/>
          </a:prstGeom>
          <a:noFill/>
          <a:ln/>
        </p:spPr>
        <p:txBody>
          <a:bodyPr wrap="square" lIns="0" tIns="0" rIns="0" bIns="0" rtlCol="0" anchor="ctr">
            <a:normAutofit/>
          </a:bodyPr>
          <a:lstStyle/>
          <a:p>
            <a:pPr algn="l" indent="0" marL="0">
              <a:buNone/>
            </a:pPr>
            <a:r>
              <a:rPr lang="en-US" sz="2100" dirty="0">
                <a:solidFill>
                  <a:srgbClr val="15131A"/>
                </a:solidFill>
                <a:latin typeface="Aptos" pitchFamily="34" charset="0"/>
                <a:ea typeface="Aptos" pitchFamily="34" charset="-122"/>
                <a:cs typeface="Aptos" pitchFamily="34" charset="-120"/>
              </a:rPr>
              <a:t>Recorded usage telemetry</a:t>
            </a:r>
            <a:endParaRPr lang="en-US" sz="2100" dirty="0"/>
          </a:p>
        </p:txBody>
      </p:sp>
      <p:sp>
        <p:nvSpPr>
          <p:cNvPr id="21" name="Text 18"/>
          <p:cNvSpPr/>
          <p:nvPr/>
        </p:nvSpPr>
        <p:spPr>
          <a:xfrm>
            <a:off x="6172200" y="1572768"/>
            <a:ext cx="5120640" cy="384048"/>
          </a:xfrm>
          <a:prstGeom prst="rect">
            <a:avLst/>
          </a:prstGeom>
          <a:noFill/>
          <a:ln/>
        </p:spPr>
        <p:txBody>
          <a:bodyPr wrap="square" lIns="0" tIns="0" rIns="0" bIns="0" rtlCol="0" anchor="ctr">
            <a:normAutofit/>
          </a:bodyPr>
          <a:lstStyle/>
          <a:p>
            <a:pPr algn="l" indent="0" marL="0">
              <a:buNone/>
            </a:pPr>
            <a:r>
              <a:rPr lang="en-US" sz="2000" b="1" dirty="0">
                <a:solidFill>
                  <a:srgbClr val="A65A00"/>
                </a:solidFill>
                <a:latin typeface="Aptos" pitchFamily="34" charset="0"/>
                <a:ea typeface="Aptos" pitchFamily="34" charset="-122"/>
                <a:cs typeface="Aptos" pitchFamily="34" charset="-120"/>
              </a:rPr>
              <a:t>△  NOT PROMISED</a:t>
            </a:r>
            <a:endParaRPr lang="en-US" sz="2000" dirty="0"/>
          </a:p>
        </p:txBody>
      </p:sp>
      <p:sp>
        <p:nvSpPr>
          <p:cNvPr id="22" name="Shape 19"/>
          <p:cNvSpPr/>
          <p:nvPr/>
        </p:nvSpPr>
        <p:spPr>
          <a:xfrm>
            <a:off x="6172200" y="2139696"/>
            <a:ext cx="5074920" cy="530352"/>
          </a:xfrm>
          <a:prstGeom prst="rect">
            <a:avLst/>
          </a:prstGeom>
          <a:solidFill>
            <a:srgbClr val="FFF1DB"/>
          </a:solidFill>
          <a:ln w="12700">
            <a:solidFill>
              <a:srgbClr val="FFF1DB">
                <a:alpha val="0"/>
              </a:srgbClr>
            </a:solidFill>
            <a:prstDash val="solid"/>
          </a:ln>
        </p:spPr>
      </p:sp>
      <p:sp>
        <p:nvSpPr>
          <p:cNvPr id="23" name="Text 20"/>
          <p:cNvSpPr/>
          <p:nvPr/>
        </p:nvSpPr>
        <p:spPr>
          <a:xfrm>
            <a:off x="6373368" y="2231136"/>
            <a:ext cx="4663440" cy="292608"/>
          </a:xfrm>
          <a:prstGeom prst="rect">
            <a:avLst/>
          </a:prstGeom>
          <a:noFill/>
          <a:ln/>
        </p:spPr>
        <p:txBody>
          <a:bodyPr wrap="square" lIns="0" tIns="0" rIns="0" bIns="0" rtlCol="0" anchor="ctr">
            <a:normAutofit/>
          </a:bodyPr>
          <a:lstStyle/>
          <a:p>
            <a:pPr algn="l" indent="0" marL="0">
              <a:buNone/>
            </a:pPr>
            <a:r>
              <a:rPr lang="en-US" sz="2100" dirty="0">
                <a:solidFill>
                  <a:srgbClr val="15131A"/>
                </a:solidFill>
                <a:latin typeface="Aptos" pitchFamily="34" charset="0"/>
                <a:ea typeface="Aptos" pitchFamily="34" charset="-122"/>
                <a:cs typeface="Aptos" pitchFamily="34" charset="-120"/>
              </a:rPr>
              <a:t>Hidden reasoning tokens</a:t>
            </a:r>
            <a:endParaRPr lang="en-US" sz="2100" dirty="0"/>
          </a:p>
        </p:txBody>
      </p:sp>
      <p:sp>
        <p:nvSpPr>
          <p:cNvPr id="24" name="Shape 21"/>
          <p:cNvSpPr/>
          <p:nvPr/>
        </p:nvSpPr>
        <p:spPr>
          <a:xfrm>
            <a:off x="6172200" y="2798064"/>
            <a:ext cx="5074920" cy="530352"/>
          </a:xfrm>
          <a:prstGeom prst="rect">
            <a:avLst/>
          </a:prstGeom>
          <a:solidFill>
            <a:srgbClr val="FFF1DB"/>
          </a:solidFill>
          <a:ln w="12700">
            <a:solidFill>
              <a:srgbClr val="FFF1DB">
                <a:alpha val="0"/>
              </a:srgbClr>
            </a:solidFill>
            <a:prstDash val="solid"/>
          </a:ln>
        </p:spPr>
      </p:sp>
      <p:sp>
        <p:nvSpPr>
          <p:cNvPr id="25" name="Text 22"/>
          <p:cNvSpPr/>
          <p:nvPr/>
        </p:nvSpPr>
        <p:spPr>
          <a:xfrm>
            <a:off x="6373368" y="2889504"/>
            <a:ext cx="4663440" cy="292608"/>
          </a:xfrm>
          <a:prstGeom prst="rect">
            <a:avLst/>
          </a:prstGeom>
          <a:noFill/>
          <a:ln/>
        </p:spPr>
        <p:txBody>
          <a:bodyPr wrap="square" lIns="0" tIns="0" rIns="0" bIns="0" rtlCol="0" anchor="ctr">
            <a:normAutofit/>
          </a:bodyPr>
          <a:lstStyle/>
          <a:p>
            <a:pPr algn="l" indent="0" marL="0">
              <a:buNone/>
            </a:pPr>
            <a:r>
              <a:rPr lang="en-US" sz="2100" dirty="0">
                <a:solidFill>
                  <a:srgbClr val="15131A"/>
                </a:solidFill>
                <a:latin typeface="Aptos" pitchFamily="34" charset="0"/>
                <a:ea typeface="Aptos" pitchFamily="34" charset="-122"/>
                <a:cs typeface="Aptos" pitchFamily="34" charset="-120"/>
              </a:rPr>
              <a:t>Provider prompt cache</a:t>
            </a:r>
            <a:endParaRPr lang="en-US" sz="2100" dirty="0"/>
          </a:p>
        </p:txBody>
      </p:sp>
      <p:sp>
        <p:nvSpPr>
          <p:cNvPr id="26" name="Shape 23"/>
          <p:cNvSpPr/>
          <p:nvPr/>
        </p:nvSpPr>
        <p:spPr>
          <a:xfrm>
            <a:off x="6172200" y="3456432"/>
            <a:ext cx="5074920" cy="530352"/>
          </a:xfrm>
          <a:prstGeom prst="rect">
            <a:avLst/>
          </a:prstGeom>
          <a:solidFill>
            <a:srgbClr val="FFF1DB"/>
          </a:solidFill>
          <a:ln w="12700">
            <a:solidFill>
              <a:srgbClr val="FFF1DB">
                <a:alpha val="0"/>
              </a:srgbClr>
            </a:solidFill>
            <a:prstDash val="solid"/>
          </a:ln>
        </p:spPr>
      </p:sp>
      <p:sp>
        <p:nvSpPr>
          <p:cNvPr id="27" name="Text 24"/>
          <p:cNvSpPr/>
          <p:nvPr/>
        </p:nvSpPr>
        <p:spPr>
          <a:xfrm>
            <a:off x="6373368" y="3547872"/>
            <a:ext cx="4663440" cy="292608"/>
          </a:xfrm>
          <a:prstGeom prst="rect">
            <a:avLst/>
          </a:prstGeom>
          <a:noFill/>
          <a:ln/>
        </p:spPr>
        <p:txBody>
          <a:bodyPr wrap="square" lIns="0" tIns="0" rIns="0" bIns="0" rtlCol="0" anchor="ctr">
            <a:normAutofit/>
          </a:bodyPr>
          <a:lstStyle/>
          <a:p>
            <a:pPr algn="l" indent="0" marL="0">
              <a:buNone/>
            </a:pPr>
            <a:r>
              <a:rPr lang="en-US" sz="2100" dirty="0">
                <a:solidFill>
                  <a:srgbClr val="15131A"/>
                </a:solidFill>
                <a:latin typeface="Aptos" pitchFamily="34" charset="0"/>
                <a:ea typeface="Aptos" pitchFamily="34" charset="-122"/>
                <a:cs typeface="Aptos" pitchFamily="34" charset="-120"/>
              </a:rPr>
              <a:t>Files on unbound machines</a:t>
            </a:r>
            <a:endParaRPr lang="en-US" sz="2100" dirty="0"/>
          </a:p>
        </p:txBody>
      </p:sp>
      <p:sp>
        <p:nvSpPr>
          <p:cNvPr id="28" name="Shape 25"/>
          <p:cNvSpPr/>
          <p:nvPr/>
        </p:nvSpPr>
        <p:spPr>
          <a:xfrm>
            <a:off x="6172200" y="4114800"/>
            <a:ext cx="5074920" cy="530352"/>
          </a:xfrm>
          <a:prstGeom prst="rect">
            <a:avLst/>
          </a:prstGeom>
          <a:solidFill>
            <a:srgbClr val="FFF1DB"/>
          </a:solidFill>
          <a:ln w="12700">
            <a:solidFill>
              <a:srgbClr val="FFF1DB">
                <a:alpha val="0"/>
              </a:srgbClr>
            </a:solidFill>
            <a:prstDash val="solid"/>
          </a:ln>
        </p:spPr>
      </p:sp>
      <p:sp>
        <p:nvSpPr>
          <p:cNvPr id="29" name="Text 26"/>
          <p:cNvSpPr/>
          <p:nvPr/>
        </p:nvSpPr>
        <p:spPr>
          <a:xfrm>
            <a:off x="6373368" y="4206240"/>
            <a:ext cx="4663440" cy="292608"/>
          </a:xfrm>
          <a:prstGeom prst="rect">
            <a:avLst/>
          </a:prstGeom>
          <a:noFill/>
          <a:ln/>
        </p:spPr>
        <p:txBody>
          <a:bodyPr wrap="square" lIns="0" tIns="0" rIns="0" bIns="0" rtlCol="0" anchor="ctr">
            <a:normAutofit/>
          </a:bodyPr>
          <a:lstStyle/>
          <a:p>
            <a:pPr algn="l" indent="0" marL="0">
              <a:buNone/>
            </a:pPr>
            <a:r>
              <a:rPr lang="en-US" sz="2100" dirty="0">
                <a:solidFill>
                  <a:srgbClr val="15131A"/>
                </a:solidFill>
                <a:latin typeface="Aptos" pitchFamily="34" charset="0"/>
                <a:ea typeface="Aptos" pitchFamily="34" charset="-122"/>
                <a:cs typeface="Aptos" pitchFamily="34" charset="-120"/>
              </a:rPr>
              <a:t>Same tool permissions</a:t>
            </a:r>
            <a:endParaRPr lang="en-US" sz="2100" dirty="0"/>
          </a:p>
        </p:txBody>
      </p:sp>
      <p:sp>
        <p:nvSpPr>
          <p:cNvPr id="30" name="Shape 27"/>
          <p:cNvSpPr/>
          <p:nvPr/>
        </p:nvSpPr>
        <p:spPr>
          <a:xfrm>
            <a:off x="6172200" y="4773168"/>
            <a:ext cx="5074920" cy="530352"/>
          </a:xfrm>
          <a:prstGeom prst="rect">
            <a:avLst/>
          </a:prstGeom>
          <a:solidFill>
            <a:srgbClr val="FFF1DB"/>
          </a:solidFill>
          <a:ln w="12700">
            <a:solidFill>
              <a:srgbClr val="FFF1DB">
                <a:alpha val="0"/>
              </a:srgbClr>
            </a:solidFill>
            <a:prstDash val="solid"/>
          </a:ln>
        </p:spPr>
      </p:sp>
      <p:sp>
        <p:nvSpPr>
          <p:cNvPr id="31" name="Text 28"/>
          <p:cNvSpPr/>
          <p:nvPr/>
        </p:nvSpPr>
        <p:spPr>
          <a:xfrm>
            <a:off x="6373368" y="4864608"/>
            <a:ext cx="4663440" cy="292608"/>
          </a:xfrm>
          <a:prstGeom prst="rect">
            <a:avLst/>
          </a:prstGeom>
          <a:noFill/>
          <a:ln/>
        </p:spPr>
        <p:txBody>
          <a:bodyPr wrap="square" lIns="0" tIns="0" rIns="0" bIns="0" rtlCol="0" anchor="ctr">
            <a:normAutofit/>
          </a:bodyPr>
          <a:lstStyle/>
          <a:p>
            <a:pPr algn="l" indent="0" marL="0">
              <a:buNone/>
            </a:pPr>
            <a:r>
              <a:rPr lang="en-US" sz="2100" dirty="0">
                <a:solidFill>
                  <a:srgbClr val="15131A"/>
                </a:solidFill>
                <a:latin typeface="Aptos" pitchFamily="34" charset="0"/>
                <a:ea typeface="Aptos" pitchFamily="34" charset="-122"/>
                <a:cs typeface="Aptos" pitchFamily="34" charset="-120"/>
              </a:rPr>
              <a:t>Combined billing accounts</a:t>
            </a:r>
            <a:endParaRPr lang="en-US" sz="2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56032"/>
            <a:ext cx="411480" cy="201168"/>
          </a:xfrm>
          <a:prstGeom prst="rect">
            <a:avLst/>
          </a:prstGeom>
          <a:noFill/>
          <a:ln/>
        </p:spPr>
        <p:txBody>
          <a:bodyPr wrap="square" lIns="0" tIns="0" rIns="0" bIns="0" rtlCol="0" anchor="ctr">
            <a:normAutofit/>
          </a:bodyPr>
          <a:lstStyle/>
          <a:p>
            <a:pPr algn="l" indent="0" marL="0">
              <a:buNone/>
            </a:pPr>
            <a:r>
              <a:rPr lang="en-US" sz="1100" b="1" dirty="0">
                <a:solidFill>
                  <a:srgbClr val="AD0C72"/>
                </a:solidFill>
                <a:latin typeface="Aptos Mono" pitchFamily="34" charset="0"/>
                <a:ea typeface="Aptos Mono" pitchFamily="34" charset="-122"/>
                <a:cs typeface="Aptos Mono" pitchFamily="34" charset="-120"/>
              </a:rPr>
              <a:t>13</a:t>
            </a:r>
            <a:endParaRPr lang="en-US" sz="1100" dirty="0"/>
          </a:p>
        </p:txBody>
      </p:sp>
      <p:sp>
        <p:nvSpPr>
          <p:cNvPr id="3" name="Text 1"/>
          <p:cNvSpPr/>
          <p:nvPr/>
        </p:nvSpPr>
        <p:spPr>
          <a:xfrm>
            <a:off x="8961120" y="256032"/>
            <a:ext cx="2606040" cy="201168"/>
          </a:xfrm>
          <a:prstGeom prst="rect">
            <a:avLst/>
          </a:prstGeom>
          <a:noFill/>
          <a:ln/>
        </p:spPr>
        <p:txBody>
          <a:bodyPr wrap="square" lIns="0" tIns="0" rIns="0" bIns="0" rtlCol="0" anchor="ctr">
            <a:normAutofit/>
          </a:bodyPr>
          <a:lstStyle/>
          <a:p>
            <a:pPr algn="r" indent="0" marL="0">
              <a:buNone/>
            </a:pPr>
            <a:r>
              <a:rPr lang="en-US" sz="1000" b="1" dirty="0">
                <a:solidFill>
                  <a:srgbClr val="5C5765"/>
                </a:solidFill>
                <a:latin typeface="Aptos" pitchFamily="34" charset="0"/>
                <a:ea typeface="Aptos" pitchFamily="34" charset="-122"/>
                <a:cs typeface="Aptos" pitchFamily="34" charset="-120"/>
              </a:rPr>
              <a:t>Security architecture</a:t>
            </a:r>
            <a:endParaRPr lang="en-US" sz="1000" dirty="0"/>
          </a:p>
        </p:txBody>
      </p:sp>
      <p:sp>
        <p:nvSpPr>
          <p:cNvPr id="4" name="Shape 2"/>
          <p:cNvSpPr/>
          <p:nvPr/>
        </p:nvSpPr>
        <p:spPr>
          <a:xfrm>
            <a:off x="566928" y="566928"/>
            <a:ext cx="11045952" cy="0"/>
          </a:xfrm>
          <a:prstGeom prst="line">
            <a:avLst/>
          </a:prstGeom>
          <a:noFill/>
          <a:ln w="12700">
            <a:solidFill>
              <a:srgbClr val="ECE8EE"/>
            </a:solidFill>
            <a:prstDash val="solid"/>
          </a:ln>
        </p:spPr>
      </p:sp>
      <p:sp>
        <p:nvSpPr>
          <p:cNvPr id="5" name="Text 3"/>
          <p:cNvSpPr/>
          <p:nvPr/>
        </p:nvSpPr>
        <p:spPr>
          <a:xfrm>
            <a:off x="658368" y="786384"/>
            <a:ext cx="10881360" cy="566928"/>
          </a:xfrm>
          <a:prstGeom prst="rect">
            <a:avLst/>
          </a:prstGeom>
          <a:noFill/>
          <a:ln/>
        </p:spPr>
        <p:txBody>
          <a:bodyPr wrap="square" lIns="0" tIns="0" rIns="0" bIns="0" rtlCol="0" anchor="ctr">
            <a:normAutofit/>
          </a:bodyPr>
          <a:lstStyle/>
          <a:p>
            <a:pPr algn="l" indent="0" marL="0">
              <a:buNone/>
            </a:pPr>
            <a:r>
              <a:rPr lang="en-US" sz="3100" b="1" dirty="0">
                <a:solidFill>
                  <a:srgbClr val="15131A"/>
                </a:solidFill>
                <a:latin typeface="Aptos Display" pitchFamily="34" charset="0"/>
                <a:ea typeface="Aptos Display" pitchFamily="34" charset="-122"/>
                <a:cs typeface="Aptos Display" pitchFamily="34" charset="-120"/>
              </a:rPr>
              <a:t>Wire security and payload encryption</a:t>
            </a:r>
            <a:endParaRPr lang="en-US" sz="3100" dirty="0"/>
          </a:p>
        </p:txBody>
      </p:sp>
      <p:sp>
        <p:nvSpPr>
          <p:cNvPr id="6" name="Text 4"/>
          <p:cNvSpPr/>
          <p:nvPr/>
        </p:nvSpPr>
        <p:spPr>
          <a:xfrm>
            <a:off x="658368" y="6144768"/>
            <a:ext cx="10789920" cy="182880"/>
          </a:xfrm>
          <a:prstGeom prst="rect">
            <a:avLst/>
          </a:prstGeom>
          <a:noFill/>
          <a:ln/>
        </p:spPr>
        <p:txBody>
          <a:bodyPr wrap="square" lIns="0" tIns="0" rIns="0" bIns="0" rtlCol="0" anchor="ctr">
            <a:normAutofit/>
          </a:bodyPr>
          <a:lstStyle/>
          <a:p>
            <a:pPr algn="l" indent="0" marL="0">
              <a:buNone/>
            </a:pPr>
            <a:r>
              <a:rPr lang="en-US" sz="1100" dirty="0">
                <a:solidFill>
                  <a:srgbClr val="5C5765"/>
                </a:solidFill>
                <a:latin typeface="Aptos" pitchFamily="34" charset="0"/>
                <a:ea typeface="Aptos" pitchFamily="34" charset="-122"/>
                <a:cs typeface="Aptos" pitchFamily="34" charset="-120"/>
              </a:rPr>
              <a:t>Source: Omnigent security architecture &amp; reasoning specs</a:t>
            </a:r>
            <a:endParaRPr lang="en-US" sz="1100" dirty="0"/>
          </a:p>
        </p:txBody>
      </p:sp>
      <p:sp>
        <p:nvSpPr>
          <p:cNvPr id="7" name="Text 5"/>
          <p:cNvSpPr/>
          <p:nvPr/>
        </p:nvSpPr>
        <p:spPr>
          <a:xfrm>
            <a:off x="658368" y="6400800"/>
            <a:ext cx="10469880" cy="219456"/>
          </a:xfrm>
          <a:prstGeom prst="rect">
            <a:avLst/>
          </a:prstGeom>
          <a:noFill/>
          <a:ln/>
        </p:spPr>
        <p:txBody>
          <a:bodyPr wrap="square" lIns="0" tIns="0" rIns="0" bIns="0" rtlCol="0" anchor="ctr">
            <a:normAutofit/>
          </a:bodyPr>
          <a:lstStyle/>
          <a:p>
            <a:pPr algn="l" indent="0" marL="0">
              <a:buNone/>
            </a:pPr>
            <a:r>
              <a:rPr lang="en-US" sz="1450" b="1" dirty="0">
                <a:solidFill>
                  <a:srgbClr val="AD0C72"/>
                </a:solidFill>
                <a:latin typeface="Aptos" pitchFamily="34" charset="0"/>
                <a:ea typeface="Aptos" pitchFamily="34" charset="-122"/>
                <a:cs typeface="Aptos" pitchFamily="34" charset="-120"/>
              </a:rPr>
              <a:t>@anxkhn</a:t>
            </a:r>
            <a:pPr algn="l" indent="0" marL="0">
              <a:buNone/>
            </a:pPr>
            <a:r>
              <a:rPr lang="en-US" sz="1450" b="1" dirty="0">
                <a:solidFill>
                  <a:srgbClr val="5C5765"/>
                </a:solidFill>
                <a:latin typeface="Aptos" pitchFamily="34" charset="0"/>
                <a:ea typeface="Aptos" pitchFamily="34" charset="-122"/>
                <a:cs typeface="Aptos" pitchFamily="34" charset="-120"/>
              </a:rPr>
              <a:t>  ·  #DevDays  ·  #DevDaysMumbai  ·  #mumtechup</a:t>
            </a:r>
            <a:endParaRPr lang="en-US" sz="1450" dirty="0"/>
          </a:p>
        </p:txBody>
      </p:sp>
      <p:sp>
        <p:nvSpPr>
          <p:cNvPr id="8" name="Text 6"/>
          <p:cNvSpPr/>
          <p:nvPr/>
        </p:nvSpPr>
        <p:spPr>
          <a:xfrm>
            <a:off x="11064240" y="6419088"/>
            <a:ext cx="438912" cy="182880"/>
          </a:xfrm>
          <a:prstGeom prst="rect">
            <a:avLst/>
          </a:prstGeom>
          <a:noFill/>
          <a:ln/>
        </p:spPr>
        <p:txBody>
          <a:bodyPr wrap="square" lIns="0" tIns="0" rIns="0" bIns="0" rtlCol="0" anchor="ctr">
            <a:normAutofit/>
          </a:bodyPr>
          <a:lstStyle/>
          <a:p>
            <a:pPr algn="r" indent="0" marL="0">
              <a:buNone/>
            </a:pPr>
            <a:r>
              <a:rPr lang="en-US" sz="1200" b="1" dirty="0">
                <a:solidFill>
                  <a:srgbClr val="5C5765"/>
                </a:solidFill>
                <a:latin typeface="Aptos Mono" pitchFamily="34" charset="0"/>
                <a:ea typeface="Aptos Mono" pitchFamily="34" charset="-122"/>
                <a:cs typeface="Aptos Mono" pitchFamily="34" charset="-120"/>
              </a:rPr>
              <a:t>13</a:t>
            </a:r>
            <a:endParaRPr lang="en-US" sz="1200" dirty="0"/>
          </a:p>
        </p:txBody>
      </p:sp>
      <p:sp>
        <p:nvSpPr>
          <p:cNvPr id="10" name="Shape 7"/>
          <p:cNvSpPr/>
          <p:nvPr/>
        </p:nvSpPr>
        <p:spPr>
          <a:xfrm>
            <a:off x="658368" y="1600200"/>
            <a:ext cx="5669280" cy="3749040"/>
          </a:xfrm>
          <a:prstGeom prst="rect">
            <a:avLst/>
          </a:prstGeom>
          <a:solidFill>
            <a:srgbClr val="FCE6F4"/>
          </a:solidFill>
          <a:ln w="12700">
            <a:solidFill>
              <a:srgbClr val="FCE6F4"/>
            </a:solidFill>
            <a:prstDash val="solid"/>
          </a:ln>
        </p:spPr>
      </p:sp>
      <p:sp>
        <p:nvSpPr>
          <p:cNvPr id="11" name="Text 8"/>
          <p:cNvSpPr/>
          <p:nvPr/>
        </p:nvSpPr>
        <p:spPr>
          <a:xfrm>
            <a:off x="896112" y="1828800"/>
            <a:ext cx="3474720" cy="320040"/>
          </a:xfrm>
          <a:prstGeom prst="rect">
            <a:avLst/>
          </a:prstGeom>
          <a:noFill/>
          <a:ln/>
        </p:spPr>
        <p:txBody>
          <a:bodyPr wrap="square" lIns="0" tIns="0" rIns="0" bIns="0" rtlCol="0" anchor="ctr">
            <a:normAutofit/>
          </a:bodyPr>
          <a:lstStyle/>
          <a:p>
            <a:pPr algn="l" indent="0" marL="0">
              <a:buNone/>
            </a:pPr>
            <a:r>
              <a:rPr lang="en-US" sz="1800" b="1" dirty="0">
                <a:solidFill>
                  <a:srgbClr val="AD0C72"/>
                </a:solidFill>
                <a:latin typeface="Aptos Mono" pitchFamily="34" charset="0"/>
                <a:ea typeface="Aptos Mono" pitchFamily="34" charset="-122"/>
                <a:cs typeface="Aptos Mono" pitchFamily="34" charset="-120"/>
              </a:rPr>
              <a:t>ENCRYPTED REASONING</a:t>
            </a:r>
            <a:endParaRPr lang="en-US" sz="1800" dirty="0"/>
          </a:p>
        </p:txBody>
      </p:sp>
      <p:sp>
        <p:nvSpPr>
          <p:cNvPr id="12" name="Shape 9"/>
          <p:cNvSpPr/>
          <p:nvPr/>
        </p:nvSpPr>
        <p:spPr>
          <a:xfrm>
            <a:off x="4526280" y="1810512"/>
            <a:ext cx="1554480" cy="310896"/>
          </a:xfrm>
          <a:prstGeom prst="roundRect">
            <a:avLst>
              <a:gd name="adj" fmla="val 50000"/>
            </a:avLst>
          </a:prstGeom>
          <a:solidFill>
            <a:srgbClr val="FFFFFF"/>
          </a:solidFill>
          <a:ln w="12700">
            <a:solidFill>
              <a:srgbClr val="FFFFFF">
                <a:alpha val="0"/>
              </a:srgbClr>
            </a:solidFill>
            <a:prstDash val="solid"/>
          </a:ln>
        </p:spPr>
      </p:sp>
      <p:sp>
        <p:nvSpPr>
          <p:cNvPr id="13" name="Text 10"/>
          <p:cNvSpPr/>
          <p:nvPr/>
        </p:nvSpPr>
        <p:spPr>
          <a:xfrm>
            <a:off x="4599432" y="1847088"/>
            <a:ext cx="1408176" cy="210312"/>
          </a:xfrm>
          <a:prstGeom prst="rect">
            <a:avLst/>
          </a:prstGeom>
          <a:noFill/>
          <a:ln/>
        </p:spPr>
        <p:txBody>
          <a:bodyPr wrap="square" lIns="0" tIns="0" rIns="0" bIns="0" rtlCol="0" anchor="ctr">
            <a:normAutofit/>
          </a:bodyPr>
          <a:lstStyle/>
          <a:p>
            <a:pPr algn="ctr" indent="0" marL="0">
              <a:buNone/>
            </a:pPr>
            <a:r>
              <a:rPr lang="en-US" sz="1300" b="1" dirty="0">
                <a:solidFill>
                  <a:srgbClr val="AD0C72"/>
                </a:solidFill>
                <a:latin typeface="Aptos Mono" pitchFamily="34" charset="0"/>
                <a:ea typeface="Aptos Mono" pitchFamily="34" charset="-122"/>
                <a:cs typeface="Aptos Mono" pitchFamily="34" charset="-120"/>
              </a:rPr>
              <a:t>encrypted_content</a:t>
            </a:r>
            <a:endParaRPr lang="en-US" sz="1300" dirty="0"/>
          </a:p>
        </p:txBody>
      </p:sp>
      <p:sp>
        <p:nvSpPr>
          <p:cNvPr id="14" name="Text 11"/>
          <p:cNvSpPr/>
          <p:nvPr/>
        </p:nvSpPr>
        <p:spPr>
          <a:xfrm>
            <a:off x="896112" y="2331720"/>
            <a:ext cx="5212080" cy="822960"/>
          </a:xfrm>
          <a:prstGeom prst="rect">
            <a:avLst/>
          </a:prstGeom>
          <a:noFill/>
          <a:ln/>
        </p:spPr>
        <p:txBody>
          <a:bodyPr wrap="square" lIns="0" tIns="0" rIns="0" bIns="0" rtlCol="0" anchor="ctr">
            <a:normAutofit/>
          </a:bodyPr>
          <a:lstStyle/>
          <a:p>
            <a:pPr algn="l" indent="0" marL="0">
              <a:buNone/>
            </a:pPr>
            <a:r>
              <a:rPr lang="en-US" sz="1800" dirty="0">
                <a:solidFill>
                  <a:srgbClr val="15131A"/>
                </a:solidFill>
                <a:latin typeface="Aptos" pitchFamily="34" charset="0"/>
                <a:ea typeface="Aptos" pitchFamily="34" charset="-122"/>
                <a:cs typeface="Aptos" pitchFamily="34" charset="-120"/>
              </a:rPr>
              <a:t>Frontier chain-of-thought tokens arrive sealed.</a:t>
            </a:r>
            <a:endParaRPr lang="en-US" sz="1800" dirty="0"/>
          </a:p>
          <a:p>
            <a:pPr algn="l" indent="0" marL="0">
              <a:buNone/>
            </a:pPr>
            <a:r>
              <a:rPr lang="en-US" sz="1800" dirty="0">
                <a:solidFill>
                  <a:srgbClr val="15131A"/>
                </a:solidFill>
                <a:latin typeface="Aptos" pitchFamily="34" charset="0"/>
                <a:ea typeface="Aptos" pitchFamily="34" charset="-122"/>
                <a:cs typeface="Aptos" pitchFamily="34" charset="-120"/>
              </a:rPr>
              <a:t>Omnigent preserves these encrypted payloads in the</a:t>
            </a:r>
            <a:endParaRPr lang="en-US" sz="1800" dirty="0"/>
          </a:p>
          <a:p>
            <a:pPr algn="l" indent="0" marL="0">
              <a:buNone/>
            </a:pPr>
            <a:r>
              <a:rPr lang="en-US" sz="1800" dirty="0">
                <a:solidFill>
                  <a:srgbClr val="15131A"/>
                </a:solidFill>
                <a:latin typeface="Aptos" pitchFamily="34" charset="0"/>
                <a:ea typeface="Aptos" pitchFamily="34" charset="-122"/>
                <a:cs typeface="Aptos" pitchFamily="34" charset="-120"/>
              </a:rPr>
              <a:t>session DAG for upstream cryptographic verification.</a:t>
            </a:r>
            <a:endParaRPr lang="en-US" sz="1800" dirty="0"/>
          </a:p>
        </p:txBody>
      </p:sp>
      <p:sp>
        <p:nvSpPr>
          <p:cNvPr id="15" name="Shape 12"/>
          <p:cNvSpPr/>
          <p:nvPr/>
        </p:nvSpPr>
        <p:spPr>
          <a:xfrm>
            <a:off x="896112" y="3383280"/>
            <a:ext cx="5193792" cy="1645920"/>
          </a:xfrm>
          <a:prstGeom prst="rect">
            <a:avLst/>
          </a:prstGeom>
          <a:solidFill>
            <a:srgbClr val="FFFFFF"/>
          </a:solidFill>
          <a:ln w="12700">
            <a:solidFill>
              <a:srgbClr val="D9D3DD"/>
            </a:solidFill>
            <a:prstDash val="solid"/>
          </a:ln>
        </p:spPr>
      </p:sp>
      <p:sp>
        <p:nvSpPr>
          <p:cNvPr id="16" name="Text 13"/>
          <p:cNvSpPr/>
          <p:nvPr/>
        </p:nvSpPr>
        <p:spPr>
          <a:xfrm>
            <a:off x="1051560" y="3520440"/>
            <a:ext cx="4846320" cy="228600"/>
          </a:xfrm>
          <a:prstGeom prst="rect">
            <a:avLst/>
          </a:prstGeom>
          <a:noFill/>
          <a:ln/>
        </p:spPr>
        <p:txBody>
          <a:bodyPr wrap="square" lIns="0" tIns="0" rIns="0" bIns="0" rtlCol="0" anchor="ctr">
            <a:normAutofit/>
          </a:bodyPr>
          <a:lstStyle/>
          <a:p>
            <a:pPr algn="l" indent="0" marL="0">
              <a:buNone/>
            </a:pPr>
            <a:r>
              <a:rPr lang="en-US" sz="1200" b="1" dirty="0">
                <a:solidFill>
                  <a:srgbClr val="5C5765"/>
                </a:solidFill>
                <a:latin typeface="Aptos Mono" pitchFamily="34" charset="0"/>
                <a:ea typeface="Aptos Mono" pitchFamily="34" charset="-122"/>
                <a:cs typeface="Aptos Mono" pitchFamily="34" charset="-120"/>
              </a:rPr>
              <a:t>HOW IT WORKS UNDER THE HOOD</a:t>
            </a:r>
            <a:endParaRPr lang="en-US" sz="1200" dirty="0"/>
          </a:p>
        </p:txBody>
      </p:sp>
      <p:sp>
        <p:nvSpPr>
          <p:cNvPr id="17" name="Text 14"/>
          <p:cNvSpPr/>
          <p:nvPr/>
        </p:nvSpPr>
        <p:spPr>
          <a:xfrm>
            <a:off x="1051560" y="3840480"/>
            <a:ext cx="4846320" cy="320040"/>
          </a:xfrm>
          <a:prstGeom prst="rect">
            <a:avLst/>
          </a:prstGeom>
          <a:noFill/>
          <a:ln/>
        </p:spPr>
        <p:txBody>
          <a:bodyPr wrap="square" lIns="0" tIns="0" rIns="0" bIns="0" rtlCol="0" anchor="ctr">
            <a:normAutofit/>
          </a:bodyPr>
          <a:lstStyle/>
          <a:p>
            <a:pPr algn="l" indent="0" marL="0">
              <a:buNone/>
            </a:pPr>
            <a:r>
              <a:rPr lang="en-US" sz="1500" dirty="0">
                <a:solidFill>
                  <a:srgbClr val="15131A"/>
                </a:solidFill>
                <a:latin typeface="Aptos Mono" pitchFamily="34" charset="0"/>
                <a:ea typeface="Aptos Mono" pitchFamily="34" charset="-122"/>
                <a:cs typeface="Aptos Mono" pitchFamily="34" charset="-120"/>
              </a:rPr>
              <a:t>1. Model emits sealed reasoning payload (encrypted_content)</a:t>
            </a:r>
            <a:endParaRPr lang="en-US" sz="1500" dirty="0"/>
          </a:p>
        </p:txBody>
      </p:sp>
      <p:sp>
        <p:nvSpPr>
          <p:cNvPr id="18" name="Text 15"/>
          <p:cNvSpPr/>
          <p:nvPr/>
        </p:nvSpPr>
        <p:spPr>
          <a:xfrm>
            <a:off x="1051560" y="4206240"/>
            <a:ext cx="4846320" cy="320040"/>
          </a:xfrm>
          <a:prstGeom prst="rect">
            <a:avLst/>
          </a:prstGeom>
          <a:noFill/>
          <a:ln/>
        </p:spPr>
        <p:txBody>
          <a:bodyPr wrap="square" lIns="0" tIns="0" rIns="0" bIns="0" rtlCol="0" anchor="ctr">
            <a:normAutofit/>
          </a:bodyPr>
          <a:lstStyle/>
          <a:p>
            <a:pPr algn="l" indent="0" marL="0">
              <a:buNone/>
            </a:pPr>
            <a:r>
              <a:rPr lang="en-US" sz="1500" dirty="0">
                <a:solidFill>
                  <a:srgbClr val="15131A"/>
                </a:solidFill>
                <a:latin typeface="Aptos" pitchFamily="34" charset="0"/>
                <a:ea typeface="Aptos" pitchFamily="34" charset="-122"/>
                <a:cs typeface="Aptos" pitchFamily="34" charset="-120"/>
              </a:rPr>
              <a:t>2. Omnigent stores opaque blob untouched in Postgres DAG</a:t>
            </a:r>
            <a:endParaRPr lang="en-US" sz="1500" dirty="0"/>
          </a:p>
        </p:txBody>
      </p:sp>
      <p:sp>
        <p:nvSpPr>
          <p:cNvPr id="19" name="Text 16"/>
          <p:cNvSpPr/>
          <p:nvPr/>
        </p:nvSpPr>
        <p:spPr>
          <a:xfrm>
            <a:off x="1051560" y="4572000"/>
            <a:ext cx="4846320" cy="320040"/>
          </a:xfrm>
          <a:prstGeom prst="rect">
            <a:avLst/>
          </a:prstGeom>
          <a:noFill/>
          <a:ln/>
        </p:spPr>
        <p:txBody>
          <a:bodyPr wrap="square" lIns="0" tIns="0" rIns="0" bIns="0" rtlCol="0" anchor="ctr">
            <a:normAutofit/>
          </a:bodyPr>
          <a:lstStyle/>
          <a:p>
            <a:pPr algn="l" indent="0" marL="0">
              <a:buNone/>
            </a:pPr>
            <a:r>
              <a:rPr lang="en-US" sz="1500" dirty="0">
                <a:solidFill>
                  <a:srgbClr val="15131A"/>
                </a:solidFill>
                <a:latin typeface="Aptos" pitchFamily="34" charset="0"/>
                <a:ea typeface="Aptos" pitchFamily="34" charset="-122"/>
                <a:cs typeface="Aptos" pitchFamily="34" charset="-120"/>
              </a:rPr>
              <a:t>3. Subsequent turns pass blob back to verify reasoning state</a:t>
            </a:r>
            <a:endParaRPr lang="en-US" sz="1500" dirty="0"/>
          </a:p>
        </p:txBody>
      </p:sp>
      <p:sp>
        <p:nvSpPr>
          <p:cNvPr id="20" name="Shape 17"/>
          <p:cNvSpPr/>
          <p:nvPr/>
        </p:nvSpPr>
        <p:spPr>
          <a:xfrm>
            <a:off x="6583680" y="1600200"/>
            <a:ext cx="4846320" cy="2103120"/>
          </a:xfrm>
          <a:prstGeom prst="rect">
            <a:avLst/>
          </a:prstGeom>
          <a:solidFill>
            <a:srgbClr val="E4F7F1"/>
          </a:solidFill>
          <a:ln w="12700">
            <a:solidFill>
              <a:srgbClr val="E4F7F1"/>
            </a:solidFill>
            <a:prstDash val="solid"/>
          </a:ln>
        </p:spPr>
      </p:sp>
      <p:sp>
        <p:nvSpPr>
          <p:cNvPr id="21" name="Text 18"/>
          <p:cNvSpPr/>
          <p:nvPr/>
        </p:nvSpPr>
        <p:spPr>
          <a:xfrm>
            <a:off x="6812280" y="1783080"/>
            <a:ext cx="4389120" cy="228600"/>
          </a:xfrm>
          <a:prstGeom prst="rect">
            <a:avLst/>
          </a:prstGeom>
          <a:noFill/>
          <a:ln/>
        </p:spPr>
        <p:txBody>
          <a:bodyPr wrap="square" lIns="0" tIns="0" rIns="0" bIns="0" rtlCol="0" anchor="ctr">
            <a:normAutofit/>
          </a:bodyPr>
          <a:lstStyle/>
          <a:p>
            <a:pPr algn="l" indent="0" marL="0">
              <a:buNone/>
            </a:pPr>
            <a:r>
              <a:rPr lang="en-US" sz="1400" b="1" dirty="0">
                <a:solidFill>
                  <a:srgbClr val="267D63"/>
                </a:solidFill>
                <a:latin typeface="Aptos Mono" pitchFamily="34" charset="0"/>
                <a:ea typeface="Aptos Mono" pitchFamily="34" charset="-122"/>
                <a:cs typeface="Aptos Mono" pitchFamily="34" charset="-120"/>
              </a:rPr>
              <a:t>BENEFITS</a:t>
            </a:r>
            <a:endParaRPr lang="en-US" sz="1400" dirty="0"/>
          </a:p>
        </p:txBody>
      </p:sp>
      <p:sp>
        <p:nvSpPr>
          <p:cNvPr id="22" name="Text 19"/>
          <p:cNvSpPr/>
          <p:nvPr/>
        </p:nvSpPr>
        <p:spPr>
          <a:xfrm>
            <a:off x="6812280" y="2103120"/>
            <a:ext cx="4389120" cy="1371600"/>
          </a:xfrm>
          <a:prstGeom prst="rect">
            <a:avLst/>
          </a:prstGeom>
          <a:noFill/>
          <a:ln/>
        </p:spPr>
        <p:txBody>
          <a:bodyPr wrap="square" lIns="0" tIns="0" rIns="0" bIns="0" rtlCol="0" anchor="ctr">
            <a:normAutofit/>
          </a:bodyPr>
          <a:lstStyle/>
          <a:p>
            <a:pPr algn="l" indent="0" marL="0">
              <a:buNone/>
            </a:pPr>
            <a:r>
              <a:rPr lang="en-US" sz="1700" dirty="0">
                <a:solidFill>
                  <a:srgbClr val="15131A"/>
                </a:solidFill>
                <a:latin typeface="Aptos" pitchFamily="34" charset="0"/>
                <a:ea typeface="Aptos" pitchFamily="34" charset="-122"/>
                <a:cs typeface="Aptos" pitchFamily="34" charset="-120"/>
              </a:rPr>
              <a:t>• Cryptographically proves reasoning integrity</a:t>
            </a:r>
            <a:endParaRPr lang="en-US" sz="1700" dirty="0"/>
          </a:p>
          <a:p>
            <a:pPr algn="l" indent="0" marL="0">
              <a:buNone/>
            </a:pPr>
            <a:r>
              <a:rPr lang="en-US" sz="1700" dirty="0">
                <a:solidFill>
                  <a:srgbClr val="15131A"/>
                </a:solidFill>
                <a:latin typeface="Aptos" pitchFamily="34" charset="0"/>
                <a:ea typeface="Aptos" pitchFamily="34" charset="-122"/>
                <a:cs typeface="Aptos" pitchFamily="34" charset="-120"/>
              </a:rPr>
              <a:t>• Preserves multi-turn context without plaintext leaks</a:t>
            </a:r>
            <a:endParaRPr lang="en-US" sz="1700" dirty="0"/>
          </a:p>
          <a:p>
            <a:pPr algn="l" indent="0" marL="0">
              <a:buNone/>
            </a:pPr>
            <a:r>
              <a:rPr lang="en-US" sz="1700" dirty="0">
                <a:solidFill>
                  <a:srgbClr val="15131A"/>
                </a:solidFill>
                <a:latin typeface="Aptos" pitchFamily="34" charset="0"/>
                <a:ea typeface="Aptos" pitchFamily="34" charset="-122"/>
                <a:cs typeface="Aptos" pitchFamily="34" charset="-120"/>
              </a:rPr>
              <a:t>• Protects proprietary model scratchpads</a:t>
            </a:r>
            <a:endParaRPr lang="en-US" sz="1700" dirty="0"/>
          </a:p>
        </p:txBody>
      </p:sp>
      <p:sp>
        <p:nvSpPr>
          <p:cNvPr id="23" name="Shape 20"/>
          <p:cNvSpPr/>
          <p:nvPr/>
        </p:nvSpPr>
        <p:spPr>
          <a:xfrm>
            <a:off x="6583680" y="3886200"/>
            <a:ext cx="4846320" cy="1463040"/>
          </a:xfrm>
          <a:prstGeom prst="rect">
            <a:avLst/>
          </a:prstGeom>
          <a:solidFill>
            <a:srgbClr val="FFF1DB"/>
          </a:solidFill>
          <a:ln w="12700">
            <a:solidFill>
              <a:srgbClr val="FFF1DB"/>
            </a:solidFill>
            <a:prstDash val="solid"/>
          </a:ln>
        </p:spPr>
      </p:sp>
      <p:sp>
        <p:nvSpPr>
          <p:cNvPr id="24" name="Text 21"/>
          <p:cNvSpPr/>
          <p:nvPr/>
        </p:nvSpPr>
        <p:spPr>
          <a:xfrm>
            <a:off x="6812280" y="4069080"/>
            <a:ext cx="4389120" cy="228600"/>
          </a:xfrm>
          <a:prstGeom prst="rect">
            <a:avLst/>
          </a:prstGeom>
          <a:noFill/>
          <a:ln/>
        </p:spPr>
        <p:txBody>
          <a:bodyPr wrap="square" lIns="0" tIns="0" rIns="0" bIns="0" rtlCol="0" anchor="ctr">
            <a:normAutofit/>
          </a:bodyPr>
          <a:lstStyle/>
          <a:p>
            <a:pPr algn="l" indent="0" marL="0">
              <a:buNone/>
            </a:pPr>
            <a:r>
              <a:rPr lang="en-US" sz="1400" b="1" dirty="0">
                <a:solidFill>
                  <a:srgbClr val="A65A00"/>
                </a:solidFill>
                <a:latin typeface="Aptos Mono" pitchFamily="34" charset="0"/>
                <a:ea typeface="Aptos Mono" pitchFamily="34" charset="-122"/>
                <a:cs typeface="Aptos Mono" pitchFamily="34" charset="-120"/>
              </a:rPr>
              <a:t>TRADE-OFFS</a:t>
            </a:r>
            <a:endParaRPr lang="en-US" sz="1400" dirty="0"/>
          </a:p>
        </p:txBody>
      </p:sp>
      <p:sp>
        <p:nvSpPr>
          <p:cNvPr id="25" name="Text 22"/>
          <p:cNvSpPr/>
          <p:nvPr/>
        </p:nvSpPr>
        <p:spPr>
          <a:xfrm>
            <a:off x="6812280" y="4389120"/>
            <a:ext cx="4389120" cy="822960"/>
          </a:xfrm>
          <a:prstGeom prst="rect">
            <a:avLst/>
          </a:prstGeom>
          <a:noFill/>
          <a:ln/>
        </p:spPr>
        <p:txBody>
          <a:bodyPr wrap="square" lIns="0" tIns="0" rIns="0" bIns="0" rtlCol="0" anchor="ctr">
            <a:normAutofit/>
          </a:bodyPr>
          <a:lstStyle/>
          <a:p>
            <a:pPr algn="l" indent="0" marL="0">
              <a:buNone/>
            </a:pPr>
            <a:r>
              <a:rPr lang="en-US" sz="1700" dirty="0">
                <a:solidFill>
                  <a:srgbClr val="15131A"/>
                </a:solidFill>
                <a:latin typeface="Aptos" pitchFamily="34" charset="0"/>
                <a:ea typeface="Aptos" pitchFamily="34" charset="-122"/>
                <a:cs typeface="Aptos" pitchFamily="34" charset="-120"/>
              </a:rPr>
              <a:t>• Opaque in client UI (renders 'Thinking…' indicator)</a:t>
            </a:r>
            <a:endParaRPr lang="en-US" sz="1700" dirty="0"/>
          </a:p>
          <a:p>
            <a:pPr algn="l" indent="0" marL="0">
              <a:buNone/>
            </a:pPr>
            <a:r>
              <a:rPr lang="en-US" sz="1700" dirty="0">
                <a:solidFill>
                  <a:srgbClr val="15131A"/>
                </a:solidFill>
                <a:latin typeface="Aptos" pitchFamily="34" charset="0"/>
                <a:ea typeface="Aptos" pitchFamily="34" charset="-122"/>
                <a:cs typeface="Aptos" pitchFamily="34" charset="-120"/>
              </a:rPr>
              <a:t>• Cannot inspect raw chain-of-thought tokens locally</a:t>
            </a:r>
            <a:endParaRPr lang="en-US" sz="1700" dirty="0"/>
          </a:p>
        </p:txBody>
      </p:sp>
      <p:sp>
        <p:nvSpPr>
          <p:cNvPr id="26" name="Text 23"/>
          <p:cNvSpPr/>
          <p:nvPr/>
        </p:nvSpPr>
        <p:spPr>
          <a:xfrm>
            <a:off x="731520" y="5623560"/>
            <a:ext cx="10515600" cy="365760"/>
          </a:xfrm>
          <a:prstGeom prst="rect">
            <a:avLst/>
          </a:prstGeom>
          <a:noFill/>
          <a:ln/>
        </p:spPr>
        <p:txBody>
          <a:bodyPr wrap="square" lIns="0" tIns="0" rIns="0" bIns="0" rtlCol="0" anchor="ctr">
            <a:normAutofit/>
          </a:bodyPr>
          <a:lstStyle/>
          <a:p>
            <a:pPr algn="ctr" indent="0" marL="0">
              <a:buNone/>
            </a:pPr>
            <a:r>
              <a:rPr lang="en-US" sz="2200" b="1" dirty="0">
                <a:solidFill>
                  <a:srgbClr val="15131A"/>
                </a:solidFill>
                <a:latin typeface="Aptos" pitchFamily="34" charset="0"/>
                <a:ea typeface="Aptos" pitchFamily="34" charset="-122"/>
                <a:cs typeface="Aptos" pitchFamily="34" charset="-120"/>
              </a:rPr>
              <a:t>Sealed payloads preserve cryptographic verification without exposing internal scratchpads.</a:t>
            </a:r>
            <a:endParaRPr lang="en-US" sz="2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56032"/>
            <a:ext cx="411480" cy="201168"/>
          </a:xfrm>
          <a:prstGeom prst="rect">
            <a:avLst/>
          </a:prstGeom>
          <a:noFill/>
          <a:ln/>
        </p:spPr>
        <p:txBody>
          <a:bodyPr wrap="square" lIns="0" tIns="0" rIns="0" bIns="0" rtlCol="0" anchor="ctr">
            <a:normAutofit/>
          </a:bodyPr>
          <a:lstStyle/>
          <a:p>
            <a:pPr algn="l" indent="0" marL="0">
              <a:buNone/>
            </a:pPr>
            <a:r>
              <a:rPr lang="en-US" sz="1100" b="1" dirty="0">
                <a:solidFill>
                  <a:srgbClr val="AD0C72"/>
                </a:solidFill>
                <a:latin typeface="Aptos Mono" pitchFamily="34" charset="0"/>
                <a:ea typeface="Aptos Mono" pitchFamily="34" charset="-122"/>
                <a:cs typeface="Aptos Mono" pitchFamily="34" charset="-120"/>
              </a:rPr>
              <a:t>14</a:t>
            </a:r>
            <a:endParaRPr lang="en-US" sz="1100" dirty="0"/>
          </a:p>
        </p:txBody>
      </p:sp>
      <p:sp>
        <p:nvSpPr>
          <p:cNvPr id="3" name="Text 1"/>
          <p:cNvSpPr/>
          <p:nvPr/>
        </p:nvSpPr>
        <p:spPr>
          <a:xfrm>
            <a:off x="8961120" y="256032"/>
            <a:ext cx="2606040" cy="201168"/>
          </a:xfrm>
          <a:prstGeom prst="rect">
            <a:avLst/>
          </a:prstGeom>
          <a:noFill/>
          <a:ln/>
        </p:spPr>
        <p:txBody>
          <a:bodyPr wrap="square" lIns="0" tIns="0" rIns="0" bIns="0" rtlCol="0" anchor="ctr">
            <a:normAutofit/>
          </a:bodyPr>
          <a:lstStyle/>
          <a:p>
            <a:pPr algn="r" indent="0" marL="0">
              <a:buNone/>
            </a:pPr>
            <a:r>
              <a:rPr lang="en-US" sz="1000" b="1" dirty="0">
                <a:solidFill>
                  <a:srgbClr val="5C5765"/>
                </a:solidFill>
                <a:latin typeface="Aptos" pitchFamily="34" charset="0"/>
                <a:ea typeface="Aptos" pitchFamily="34" charset="-122"/>
                <a:cs typeface="Aptos" pitchFamily="34" charset="-120"/>
              </a:rPr>
              <a:t>Portable work record</a:t>
            </a:r>
            <a:endParaRPr lang="en-US" sz="1000" dirty="0"/>
          </a:p>
        </p:txBody>
      </p:sp>
      <p:sp>
        <p:nvSpPr>
          <p:cNvPr id="4" name="Shape 2"/>
          <p:cNvSpPr/>
          <p:nvPr/>
        </p:nvSpPr>
        <p:spPr>
          <a:xfrm>
            <a:off x="566928" y="566928"/>
            <a:ext cx="11045952" cy="0"/>
          </a:xfrm>
          <a:prstGeom prst="line">
            <a:avLst/>
          </a:prstGeom>
          <a:noFill/>
          <a:ln w="12700">
            <a:solidFill>
              <a:srgbClr val="ECE8EE"/>
            </a:solidFill>
            <a:prstDash val="solid"/>
          </a:ln>
        </p:spPr>
      </p:sp>
      <p:sp>
        <p:nvSpPr>
          <p:cNvPr id="5" name="Text 3"/>
          <p:cNvSpPr/>
          <p:nvPr/>
        </p:nvSpPr>
        <p:spPr>
          <a:xfrm>
            <a:off x="658368" y="786384"/>
            <a:ext cx="10881360" cy="566928"/>
          </a:xfrm>
          <a:prstGeom prst="rect">
            <a:avLst/>
          </a:prstGeom>
          <a:noFill/>
          <a:ln/>
        </p:spPr>
        <p:txBody>
          <a:bodyPr wrap="square" lIns="0" tIns="0" rIns="0" bIns="0" rtlCol="0" anchor="ctr">
            <a:normAutofit/>
          </a:bodyPr>
          <a:lstStyle/>
          <a:p>
            <a:pPr algn="l" indent="0" marL="0">
              <a:buNone/>
            </a:pPr>
            <a:r>
              <a:rPr lang="en-US" sz="3100" b="1" dirty="0">
                <a:solidFill>
                  <a:srgbClr val="15131A"/>
                </a:solidFill>
                <a:latin typeface="Aptos Display" pitchFamily="34" charset="0"/>
                <a:ea typeface="Aptos Display" pitchFamily="34" charset="-122"/>
                <a:cs typeface="Aptos Display" pitchFamily="34" charset="-120"/>
              </a:rPr>
              <a:t>Evidence the next agent can check</a:t>
            </a:r>
            <a:endParaRPr lang="en-US" sz="3100" dirty="0"/>
          </a:p>
        </p:txBody>
      </p:sp>
      <p:sp>
        <p:nvSpPr>
          <p:cNvPr id="6" name="Text 4"/>
          <p:cNvSpPr/>
          <p:nvPr/>
        </p:nvSpPr>
        <p:spPr>
          <a:xfrm>
            <a:off x="658368" y="6400800"/>
            <a:ext cx="10469880" cy="219456"/>
          </a:xfrm>
          <a:prstGeom prst="rect">
            <a:avLst/>
          </a:prstGeom>
          <a:noFill/>
          <a:ln/>
        </p:spPr>
        <p:txBody>
          <a:bodyPr wrap="square" lIns="0" tIns="0" rIns="0" bIns="0" rtlCol="0" anchor="ctr">
            <a:normAutofit/>
          </a:bodyPr>
          <a:lstStyle/>
          <a:p>
            <a:pPr algn="l" indent="0" marL="0">
              <a:buNone/>
            </a:pPr>
            <a:r>
              <a:rPr lang="en-US" sz="1450" b="1" dirty="0">
                <a:solidFill>
                  <a:srgbClr val="AD0C72"/>
                </a:solidFill>
                <a:latin typeface="Aptos" pitchFamily="34" charset="0"/>
                <a:ea typeface="Aptos" pitchFamily="34" charset="-122"/>
                <a:cs typeface="Aptos" pitchFamily="34" charset="-120"/>
              </a:rPr>
              <a:t>@anxkhn</a:t>
            </a:r>
            <a:pPr algn="l" indent="0" marL="0">
              <a:buNone/>
            </a:pPr>
            <a:r>
              <a:rPr lang="en-US" sz="1450" b="1" dirty="0">
                <a:solidFill>
                  <a:srgbClr val="5C5765"/>
                </a:solidFill>
                <a:latin typeface="Aptos" pitchFamily="34" charset="0"/>
                <a:ea typeface="Aptos" pitchFamily="34" charset="-122"/>
                <a:cs typeface="Aptos" pitchFamily="34" charset="-120"/>
              </a:rPr>
              <a:t>  ·  #DevDays  ·  #DevDaysMumbai  ·  #mumtechup</a:t>
            </a:r>
            <a:endParaRPr lang="en-US" sz="1450" dirty="0"/>
          </a:p>
        </p:txBody>
      </p:sp>
      <p:sp>
        <p:nvSpPr>
          <p:cNvPr id="7" name="Text 5"/>
          <p:cNvSpPr/>
          <p:nvPr/>
        </p:nvSpPr>
        <p:spPr>
          <a:xfrm>
            <a:off x="11064240" y="6419088"/>
            <a:ext cx="438912" cy="182880"/>
          </a:xfrm>
          <a:prstGeom prst="rect">
            <a:avLst/>
          </a:prstGeom>
          <a:noFill/>
          <a:ln/>
        </p:spPr>
        <p:txBody>
          <a:bodyPr wrap="square" lIns="0" tIns="0" rIns="0" bIns="0" rtlCol="0" anchor="ctr">
            <a:normAutofit/>
          </a:bodyPr>
          <a:lstStyle/>
          <a:p>
            <a:pPr algn="r" indent="0" marL="0">
              <a:buNone/>
            </a:pPr>
            <a:r>
              <a:rPr lang="en-US" sz="1200" b="1" dirty="0">
                <a:solidFill>
                  <a:srgbClr val="5C5765"/>
                </a:solidFill>
                <a:latin typeface="Aptos Mono" pitchFamily="34" charset="0"/>
                <a:ea typeface="Aptos Mono" pitchFamily="34" charset="-122"/>
                <a:cs typeface="Aptos Mono" pitchFamily="34" charset="-120"/>
              </a:rPr>
              <a:t>14</a:t>
            </a:r>
            <a:endParaRPr lang="en-US" sz="1200" dirty="0"/>
          </a:p>
        </p:txBody>
      </p:sp>
      <p:sp>
        <p:nvSpPr>
          <p:cNvPr id="9" name="Shape 6"/>
          <p:cNvSpPr/>
          <p:nvPr/>
        </p:nvSpPr>
        <p:spPr>
          <a:xfrm>
            <a:off x="749808" y="1481328"/>
            <a:ext cx="10652760" cy="521208"/>
          </a:xfrm>
          <a:prstGeom prst="rect">
            <a:avLst/>
          </a:prstGeom>
          <a:solidFill>
            <a:srgbClr val="FFFFFF"/>
          </a:solidFill>
          <a:ln w="12700">
            <a:solidFill>
              <a:srgbClr val="FFFFFF">
                <a:alpha val="0"/>
              </a:srgbClr>
            </a:solidFill>
            <a:prstDash val="solid"/>
          </a:ln>
        </p:spPr>
      </p:sp>
      <p:sp>
        <p:nvSpPr>
          <p:cNvPr id="10" name="Text 7"/>
          <p:cNvSpPr/>
          <p:nvPr/>
        </p:nvSpPr>
        <p:spPr>
          <a:xfrm>
            <a:off x="960120" y="1517904"/>
            <a:ext cx="2057400" cy="384048"/>
          </a:xfrm>
          <a:prstGeom prst="rect">
            <a:avLst/>
          </a:prstGeom>
          <a:noFill/>
          <a:ln/>
        </p:spPr>
        <p:txBody>
          <a:bodyPr wrap="square" lIns="0" tIns="0" rIns="0" bIns="0" rtlCol="0" anchor="ctr">
            <a:normAutofit/>
          </a:bodyPr>
          <a:lstStyle/>
          <a:p>
            <a:pPr algn="l" indent="0" marL="0">
              <a:buNone/>
            </a:pPr>
            <a:r>
              <a:rPr lang="en-US" sz="2100" b="1" dirty="0">
                <a:solidFill>
                  <a:srgbClr val="AD0C72"/>
                </a:solidFill>
                <a:latin typeface="Aptos Mono" pitchFamily="34" charset="0"/>
                <a:ea typeface="Aptos Mono" pitchFamily="34" charset="-122"/>
                <a:cs typeface="Aptos Mono" pitchFamily="34" charset="-120"/>
              </a:rPr>
              <a:t>GOAL</a:t>
            </a:r>
            <a:endParaRPr lang="en-US" sz="2100" dirty="0"/>
          </a:p>
        </p:txBody>
      </p:sp>
      <p:sp>
        <p:nvSpPr>
          <p:cNvPr id="11" name="Text 8"/>
          <p:cNvSpPr/>
          <p:nvPr/>
        </p:nvSpPr>
        <p:spPr>
          <a:xfrm>
            <a:off x="3154680" y="1536192"/>
            <a:ext cx="7772400" cy="347472"/>
          </a:xfrm>
          <a:prstGeom prst="rect">
            <a:avLst/>
          </a:prstGeom>
          <a:noFill/>
          <a:ln/>
        </p:spPr>
        <p:txBody>
          <a:bodyPr wrap="square" lIns="0" tIns="0" rIns="0" bIns="0" rtlCol="0" anchor="ctr">
            <a:normAutofit/>
          </a:bodyPr>
          <a:lstStyle/>
          <a:p>
            <a:pPr algn="l" indent="0" marL="0">
              <a:buNone/>
            </a:pPr>
            <a:r>
              <a:rPr lang="en-US" sz="2300" dirty="0">
                <a:solidFill>
                  <a:srgbClr val="15131A"/>
                </a:solidFill>
                <a:latin typeface="Aptos" pitchFamily="34" charset="0"/>
                <a:ea typeface="Aptos" pitchFamily="34" charset="-122"/>
                <a:cs typeface="Aptos" pitchFamily="34" charset="-120"/>
              </a:rPr>
              <a:t>Fix cart total calculation</a:t>
            </a:r>
            <a:endParaRPr lang="en-US" sz="2300" dirty="0"/>
          </a:p>
        </p:txBody>
      </p:sp>
      <p:sp>
        <p:nvSpPr>
          <p:cNvPr id="12" name="Shape 9"/>
          <p:cNvSpPr/>
          <p:nvPr/>
        </p:nvSpPr>
        <p:spPr>
          <a:xfrm>
            <a:off x="749808" y="2093976"/>
            <a:ext cx="10652760" cy="521208"/>
          </a:xfrm>
          <a:prstGeom prst="rect">
            <a:avLst/>
          </a:prstGeom>
          <a:solidFill>
            <a:srgbClr val="FAF7F9"/>
          </a:solidFill>
          <a:ln w="12700">
            <a:solidFill>
              <a:srgbClr val="FAF7F9">
                <a:alpha val="0"/>
              </a:srgbClr>
            </a:solidFill>
            <a:prstDash val="solid"/>
          </a:ln>
        </p:spPr>
      </p:sp>
      <p:sp>
        <p:nvSpPr>
          <p:cNvPr id="13" name="Text 10"/>
          <p:cNvSpPr/>
          <p:nvPr/>
        </p:nvSpPr>
        <p:spPr>
          <a:xfrm>
            <a:off x="960120" y="2130552"/>
            <a:ext cx="2057400" cy="384048"/>
          </a:xfrm>
          <a:prstGeom prst="rect">
            <a:avLst/>
          </a:prstGeom>
          <a:noFill/>
          <a:ln/>
        </p:spPr>
        <p:txBody>
          <a:bodyPr wrap="square" lIns="0" tIns="0" rIns="0" bIns="0" rtlCol="0" anchor="ctr">
            <a:normAutofit/>
          </a:bodyPr>
          <a:lstStyle/>
          <a:p>
            <a:pPr algn="l" indent="0" marL="0">
              <a:buNone/>
            </a:pPr>
            <a:r>
              <a:rPr lang="en-US" sz="2100" b="1" dirty="0">
                <a:solidFill>
                  <a:srgbClr val="AD0C72"/>
                </a:solidFill>
                <a:latin typeface="Aptos Mono" pitchFamily="34" charset="0"/>
                <a:ea typeface="Aptos Mono" pitchFamily="34" charset="-122"/>
                <a:cs typeface="Aptos Mono" pitchFamily="34" charset="-120"/>
              </a:rPr>
              <a:t>CONSTRAINT</a:t>
            </a:r>
            <a:endParaRPr lang="en-US" sz="2100" dirty="0"/>
          </a:p>
        </p:txBody>
      </p:sp>
      <p:sp>
        <p:nvSpPr>
          <p:cNvPr id="14" name="Text 11"/>
          <p:cNvSpPr/>
          <p:nvPr/>
        </p:nvSpPr>
        <p:spPr>
          <a:xfrm>
            <a:off x="3154680" y="2148840"/>
            <a:ext cx="7772400" cy="347472"/>
          </a:xfrm>
          <a:prstGeom prst="rect">
            <a:avLst/>
          </a:prstGeom>
          <a:noFill/>
          <a:ln/>
        </p:spPr>
        <p:txBody>
          <a:bodyPr wrap="square" lIns="0" tIns="0" rIns="0" bIns="0" rtlCol="0" anchor="ctr">
            <a:normAutofit/>
          </a:bodyPr>
          <a:lstStyle/>
          <a:p>
            <a:pPr algn="l" indent="0" marL="0">
              <a:buNone/>
            </a:pPr>
            <a:r>
              <a:rPr lang="en-US" sz="2300" dirty="0">
                <a:solidFill>
                  <a:srgbClr val="15131A"/>
                </a:solidFill>
                <a:latin typeface="Aptos" pitchFamily="34" charset="0"/>
                <a:ea typeface="Aptos" pitchFamily="34" charset="-122"/>
                <a:cs typeface="Aptos" pitchFamily="34" charset="-120"/>
              </a:rPr>
              <a:t>Change src/cart.js only</a:t>
            </a:r>
            <a:endParaRPr lang="en-US" sz="2300" dirty="0"/>
          </a:p>
        </p:txBody>
      </p:sp>
      <p:sp>
        <p:nvSpPr>
          <p:cNvPr id="15" name="Shape 12"/>
          <p:cNvSpPr/>
          <p:nvPr/>
        </p:nvSpPr>
        <p:spPr>
          <a:xfrm>
            <a:off x="749808" y="2706624"/>
            <a:ext cx="10652760" cy="521208"/>
          </a:xfrm>
          <a:prstGeom prst="rect">
            <a:avLst/>
          </a:prstGeom>
          <a:solidFill>
            <a:srgbClr val="FFFFFF"/>
          </a:solidFill>
          <a:ln w="12700">
            <a:solidFill>
              <a:srgbClr val="FFFFFF">
                <a:alpha val="0"/>
              </a:srgbClr>
            </a:solidFill>
            <a:prstDash val="solid"/>
          </a:ln>
        </p:spPr>
      </p:sp>
      <p:sp>
        <p:nvSpPr>
          <p:cNvPr id="16" name="Text 13"/>
          <p:cNvSpPr/>
          <p:nvPr/>
        </p:nvSpPr>
        <p:spPr>
          <a:xfrm>
            <a:off x="960120" y="2743200"/>
            <a:ext cx="2057400" cy="384048"/>
          </a:xfrm>
          <a:prstGeom prst="rect">
            <a:avLst/>
          </a:prstGeom>
          <a:noFill/>
          <a:ln/>
        </p:spPr>
        <p:txBody>
          <a:bodyPr wrap="square" lIns="0" tIns="0" rIns="0" bIns="0" rtlCol="0" anchor="ctr">
            <a:normAutofit/>
          </a:bodyPr>
          <a:lstStyle/>
          <a:p>
            <a:pPr algn="l" indent="0" marL="0">
              <a:buNone/>
            </a:pPr>
            <a:r>
              <a:rPr lang="en-US" sz="2100" b="1" dirty="0">
                <a:solidFill>
                  <a:srgbClr val="AD0C72"/>
                </a:solidFill>
                <a:latin typeface="Aptos Mono" pitchFamily="34" charset="0"/>
                <a:ea typeface="Aptos Mono" pitchFamily="34" charset="-122"/>
                <a:cs typeface="Aptos Mono" pitchFamily="34" charset="-120"/>
              </a:rPr>
              <a:t>FILE CHANGED</a:t>
            </a:r>
            <a:endParaRPr lang="en-US" sz="2100" dirty="0"/>
          </a:p>
        </p:txBody>
      </p:sp>
      <p:sp>
        <p:nvSpPr>
          <p:cNvPr id="17" name="Text 14"/>
          <p:cNvSpPr/>
          <p:nvPr/>
        </p:nvSpPr>
        <p:spPr>
          <a:xfrm>
            <a:off x="3154680" y="2761488"/>
            <a:ext cx="7772400" cy="347472"/>
          </a:xfrm>
          <a:prstGeom prst="rect">
            <a:avLst/>
          </a:prstGeom>
          <a:noFill/>
          <a:ln/>
        </p:spPr>
        <p:txBody>
          <a:bodyPr wrap="square" lIns="0" tIns="0" rIns="0" bIns="0" rtlCol="0" anchor="ctr">
            <a:normAutofit/>
          </a:bodyPr>
          <a:lstStyle/>
          <a:p>
            <a:pPr algn="l" indent="0" marL="0">
              <a:buNone/>
            </a:pPr>
            <a:r>
              <a:rPr lang="en-US" sz="2300" dirty="0">
                <a:solidFill>
                  <a:srgbClr val="15131A"/>
                </a:solidFill>
                <a:latin typeface="Aptos Mono" pitchFamily="34" charset="0"/>
                <a:ea typeface="Aptos Mono" pitchFamily="34" charset="-122"/>
                <a:cs typeface="Aptos Mono" pitchFamily="34" charset="-120"/>
              </a:rPr>
              <a:t>src/cart.js</a:t>
            </a:r>
            <a:endParaRPr lang="en-US" sz="2300" dirty="0"/>
          </a:p>
        </p:txBody>
      </p:sp>
      <p:sp>
        <p:nvSpPr>
          <p:cNvPr id="18" name="Shape 15"/>
          <p:cNvSpPr/>
          <p:nvPr/>
        </p:nvSpPr>
        <p:spPr>
          <a:xfrm>
            <a:off x="749808" y="3319272"/>
            <a:ext cx="10652760" cy="521208"/>
          </a:xfrm>
          <a:prstGeom prst="rect">
            <a:avLst/>
          </a:prstGeom>
          <a:solidFill>
            <a:srgbClr val="FAF7F9"/>
          </a:solidFill>
          <a:ln w="12700">
            <a:solidFill>
              <a:srgbClr val="FAF7F9">
                <a:alpha val="0"/>
              </a:srgbClr>
            </a:solidFill>
            <a:prstDash val="solid"/>
          </a:ln>
        </p:spPr>
      </p:sp>
      <p:sp>
        <p:nvSpPr>
          <p:cNvPr id="19" name="Text 16"/>
          <p:cNvSpPr/>
          <p:nvPr/>
        </p:nvSpPr>
        <p:spPr>
          <a:xfrm>
            <a:off x="960120" y="3355848"/>
            <a:ext cx="2057400" cy="384048"/>
          </a:xfrm>
          <a:prstGeom prst="rect">
            <a:avLst/>
          </a:prstGeom>
          <a:noFill/>
          <a:ln/>
        </p:spPr>
        <p:txBody>
          <a:bodyPr wrap="square" lIns="0" tIns="0" rIns="0" bIns="0" rtlCol="0" anchor="ctr">
            <a:normAutofit/>
          </a:bodyPr>
          <a:lstStyle/>
          <a:p>
            <a:pPr algn="l" indent="0" marL="0">
              <a:buNone/>
            </a:pPr>
            <a:r>
              <a:rPr lang="en-US" sz="2100" b="1" dirty="0">
                <a:solidFill>
                  <a:srgbClr val="AD0C72"/>
                </a:solidFill>
                <a:latin typeface="Aptos Mono" pitchFamily="34" charset="0"/>
                <a:ea typeface="Aptos Mono" pitchFamily="34" charset="-122"/>
                <a:cs typeface="Aptos Mono" pitchFamily="34" charset="-120"/>
              </a:rPr>
              <a:t>DIFF</a:t>
            </a:r>
            <a:endParaRPr lang="en-US" sz="2100" dirty="0"/>
          </a:p>
        </p:txBody>
      </p:sp>
      <p:sp>
        <p:nvSpPr>
          <p:cNvPr id="20" name="Text 17"/>
          <p:cNvSpPr/>
          <p:nvPr/>
        </p:nvSpPr>
        <p:spPr>
          <a:xfrm>
            <a:off x="3154680" y="3374136"/>
            <a:ext cx="7772400" cy="347472"/>
          </a:xfrm>
          <a:prstGeom prst="rect">
            <a:avLst/>
          </a:prstGeom>
          <a:noFill/>
          <a:ln/>
        </p:spPr>
        <p:txBody>
          <a:bodyPr wrap="square" lIns="0" tIns="0" rIns="0" bIns="0" rtlCol="0" anchor="ctr">
            <a:normAutofit/>
          </a:bodyPr>
          <a:lstStyle/>
          <a:p>
            <a:pPr algn="l" indent="0" marL="0">
              <a:buNone/>
            </a:pPr>
            <a:r>
              <a:rPr lang="en-US" sz="2300" dirty="0">
                <a:solidFill>
                  <a:srgbClr val="15131A"/>
                </a:solidFill>
                <a:latin typeface="Aptos" pitchFamily="34" charset="0"/>
                <a:ea typeface="Aptos" pitchFamily="34" charset="-122"/>
                <a:cs typeface="Aptos" pitchFamily="34" charset="-120"/>
              </a:rPr>
              <a:t>subtotal - discount + shipping</a:t>
            </a:r>
            <a:endParaRPr lang="en-US" sz="2300" dirty="0"/>
          </a:p>
        </p:txBody>
      </p:sp>
      <p:sp>
        <p:nvSpPr>
          <p:cNvPr id="21" name="Shape 18"/>
          <p:cNvSpPr/>
          <p:nvPr/>
        </p:nvSpPr>
        <p:spPr>
          <a:xfrm>
            <a:off x="749808" y="3931920"/>
            <a:ext cx="10652760" cy="521208"/>
          </a:xfrm>
          <a:prstGeom prst="rect">
            <a:avLst/>
          </a:prstGeom>
          <a:solidFill>
            <a:srgbClr val="FFFFFF"/>
          </a:solidFill>
          <a:ln w="12700">
            <a:solidFill>
              <a:srgbClr val="FFFFFF">
                <a:alpha val="0"/>
              </a:srgbClr>
            </a:solidFill>
            <a:prstDash val="solid"/>
          </a:ln>
        </p:spPr>
      </p:sp>
      <p:sp>
        <p:nvSpPr>
          <p:cNvPr id="22" name="Text 19"/>
          <p:cNvSpPr/>
          <p:nvPr/>
        </p:nvSpPr>
        <p:spPr>
          <a:xfrm>
            <a:off x="960120" y="3968496"/>
            <a:ext cx="2057400" cy="384048"/>
          </a:xfrm>
          <a:prstGeom prst="rect">
            <a:avLst/>
          </a:prstGeom>
          <a:noFill/>
          <a:ln/>
        </p:spPr>
        <p:txBody>
          <a:bodyPr wrap="square" lIns="0" tIns="0" rIns="0" bIns="0" rtlCol="0" anchor="ctr">
            <a:normAutofit/>
          </a:bodyPr>
          <a:lstStyle/>
          <a:p>
            <a:pPr algn="l" indent="0" marL="0">
              <a:buNone/>
            </a:pPr>
            <a:r>
              <a:rPr lang="en-US" sz="2100" b="1" dirty="0">
                <a:solidFill>
                  <a:srgbClr val="AD0C72"/>
                </a:solidFill>
                <a:latin typeface="Aptos Mono" pitchFamily="34" charset="0"/>
                <a:ea typeface="Aptos Mono" pitchFamily="34" charset="-122"/>
                <a:cs typeface="Aptos Mono" pitchFamily="34" charset="-120"/>
              </a:rPr>
              <a:t>COMMAND</a:t>
            </a:r>
            <a:endParaRPr lang="en-US" sz="2100" dirty="0"/>
          </a:p>
        </p:txBody>
      </p:sp>
      <p:sp>
        <p:nvSpPr>
          <p:cNvPr id="23" name="Text 20"/>
          <p:cNvSpPr/>
          <p:nvPr/>
        </p:nvSpPr>
        <p:spPr>
          <a:xfrm>
            <a:off x="3154680" y="3986784"/>
            <a:ext cx="7772400" cy="347472"/>
          </a:xfrm>
          <a:prstGeom prst="rect">
            <a:avLst/>
          </a:prstGeom>
          <a:noFill/>
          <a:ln/>
        </p:spPr>
        <p:txBody>
          <a:bodyPr wrap="square" lIns="0" tIns="0" rIns="0" bIns="0" rtlCol="0" anchor="ctr">
            <a:normAutofit/>
          </a:bodyPr>
          <a:lstStyle/>
          <a:p>
            <a:pPr algn="l" indent="0" marL="0">
              <a:buNone/>
            </a:pPr>
            <a:r>
              <a:rPr lang="en-US" sz="2300" dirty="0">
                <a:solidFill>
                  <a:srgbClr val="15131A"/>
                </a:solidFill>
                <a:latin typeface="Aptos Mono" pitchFamily="34" charset="0"/>
                <a:ea typeface="Aptos Mono" pitchFamily="34" charset="-122"/>
                <a:cs typeface="Aptos Mono" pitchFamily="34" charset="-120"/>
              </a:rPr>
              <a:t>node --test</a:t>
            </a:r>
            <a:endParaRPr lang="en-US" sz="2300" dirty="0"/>
          </a:p>
        </p:txBody>
      </p:sp>
      <p:sp>
        <p:nvSpPr>
          <p:cNvPr id="24" name="Shape 21"/>
          <p:cNvSpPr/>
          <p:nvPr/>
        </p:nvSpPr>
        <p:spPr>
          <a:xfrm>
            <a:off x="749808" y="4544568"/>
            <a:ext cx="10652760" cy="521208"/>
          </a:xfrm>
          <a:prstGeom prst="rect">
            <a:avLst/>
          </a:prstGeom>
          <a:solidFill>
            <a:srgbClr val="E4F7F1"/>
          </a:solidFill>
          <a:ln w="12700">
            <a:solidFill>
              <a:srgbClr val="E4F7F1">
                <a:alpha val="0"/>
              </a:srgbClr>
            </a:solidFill>
            <a:prstDash val="solid"/>
          </a:ln>
        </p:spPr>
      </p:sp>
      <p:sp>
        <p:nvSpPr>
          <p:cNvPr id="25" name="Text 22"/>
          <p:cNvSpPr/>
          <p:nvPr/>
        </p:nvSpPr>
        <p:spPr>
          <a:xfrm>
            <a:off x="960120" y="4581144"/>
            <a:ext cx="2057400" cy="384048"/>
          </a:xfrm>
          <a:prstGeom prst="rect">
            <a:avLst/>
          </a:prstGeom>
          <a:noFill/>
          <a:ln/>
        </p:spPr>
        <p:txBody>
          <a:bodyPr wrap="square" lIns="0" tIns="0" rIns="0" bIns="0" rtlCol="0" anchor="ctr">
            <a:normAutofit/>
          </a:bodyPr>
          <a:lstStyle/>
          <a:p>
            <a:pPr algn="l" indent="0" marL="0">
              <a:buNone/>
            </a:pPr>
            <a:r>
              <a:rPr lang="en-US" sz="2100" b="1" dirty="0">
                <a:solidFill>
                  <a:srgbClr val="267D63"/>
                </a:solidFill>
                <a:latin typeface="Aptos Mono" pitchFamily="34" charset="0"/>
                <a:ea typeface="Aptos Mono" pitchFamily="34" charset="-122"/>
                <a:cs typeface="Aptos Mono" pitchFamily="34" charset="-120"/>
              </a:rPr>
              <a:t>OBSERVED RESULT</a:t>
            </a:r>
            <a:endParaRPr lang="en-US" sz="2100" dirty="0"/>
          </a:p>
        </p:txBody>
      </p:sp>
      <p:sp>
        <p:nvSpPr>
          <p:cNvPr id="26" name="Text 23"/>
          <p:cNvSpPr/>
          <p:nvPr/>
        </p:nvSpPr>
        <p:spPr>
          <a:xfrm>
            <a:off x="3154680" y="4599432"/>
            <a:ext cx="7772400" cy="347472"/>
          </a:xfrm>
          <a:prstGeom prst="rect">
            <a:avLst/>
          </a:prstGeom>
          <a:noFill/>
          <a:ln/>
        </p:spPr>
        <p:txBody>
          <a:bodyPr wrap="square" lIns="0" tIns="0" rIns="0" bIns="0" rtlCol="0" anchor="ctr">
            <a:normAutofit/>
          </a:bodyPr>
          <a:lstStyle/>
          <a:p>
            <a:pPr algn="l" indent="0" marL="0">
              <a:buNone/>
            </a:pPr>
            <a:r>
              <a:rPr lang="en-US" sz="2300" dirty="0">
                <a:solidFill>
                  <a:srgbClr val="15131A"/>
                </a:solidFill>
                <a:latin typeface="Aptos" pitchFamily="34" charset="0"/>
                <a:ea typeface="Aptos" pitchFamily="34" charset="-122"/>
                <a:cs typeface="Aptos" pitchFamily="34" charset="-120"/>
              </a:rPr>
              <a:t>1 pass · 0 fail</a:t>
            </a:r>
            <a:endParaRPr lang="en-US" sz="2300" dirty="0"/>
          </a:p>
        </p:txBody>
      </p:sp>
      <p:sp>
        <p:nvSpPr>
          <p:cNvPr id="27" name="Shape 24"/>
          <p:cNvSpPr/>
          <p:nvPr/>
        </p:nvSpPr>
        <p:spPr>
          <a:xfrm>
            <a:off x="749808" y="5157216"/>
            <a:ext cx="10652760" cy="521208"/>
          </a:xfrm>
          <a:prstGeom prst="rect">
            <a:avLst/>
          </a:prstGeom>
          <a:solidFill>
            <a:srgbClr val="FFF1DB"/>
          </a:solidFill>
          <a:ln w="12700">
            <a:solidFill>
              <a:srgbClr val="FFF1DB">
                <a:alpha val="0"/>
              </a:srgbClr>
            </a:solidFill>
            <a:prstDash val="solid"/>
          </a:ln>
        </p:spPr>
      </p:sp>
      <p:sp>
        <p:nvSpPr>
          <p:cNvPr id="28" name="Text 25"/>
          <p:cNvSpPr/>
          <p:nvPr/>
        </p:nvSpPr>
        <p:spPr>
          <a:xfrm>
            <a:off x="960120" y="5193792"/>
            <a:ext cx="2057400" cy="384048"/>
          </a:xfrm>
          <a:prstGeom prst="rect">
            <a:avLst/>
          </a:prstGeom>
          <a:noFill/>
          <a:ln/>
        </p:spPr>
        <p:txBody>
          <a:bodyPr wrap="square" lIns="0" tIns="0" rIns="0" bIns="0" rtlCol="0" anchor="ctr">
            <a:normAutofit/>
          </a:bodyPr>
          <a:lstStyle/>
          <a:p>
            <a:pPr algn="l" indent="0" marL="0">
              <a:buNone/>
            </a:pPr>
            <a:r>
              <a:rPr lang="en-US" sz="2100" b="1" dirty="0">
                <a:solidFill>
                  <a:srgbClr val="A65A00"/>
                </a:solidFill>
                <a:latin typeface="Aptos Mono" pitchFamily="34" charset="0"/>
                <a:ea typeface="Aptos Mono" pitchFamily="34" charset="-122"/>
                <a:cs typeface="Aptos Mono" pitchFamily="34" charset="-120"/>
              </a:rPr>
              <a:t>UNRESOLVED RISK</a:t>
            </a:r>
            <a:endParaRPr lang="en-US" sz="2100" dirty="0"/>
          </a:p>
        </p:txBody>
      </p:sp>
      <p:sp>
        <p:nvSpPr>
          <p:cNvPr id="29" name="Text 26"/>
          <p:cNvSpPr/>
          <p:nvPr/>
        </p:nvSpPr>
        <p:spPr>
          <a:xfrm>
            <a:off x="3154680" y="5212080"/>
            <a:ext cx="7772400" cy="347472"/>
          </a:xfrm>
          <a:prstGeom prst="rect">
            <a:avLst/>
          </a:prstGeom>
          <a:noFill/>
          <a:ln/>
        </p:spPr>
        <p:txBody>
          <a:bodyPr wrap="square" lIns="0" tIns="0" rIns="0" bIns="0" rtlCol="0" anchor="ctr">
            <a:normAutofit/>
          </a:bodyPr>
          <a:lstStyle/>
          <a:p>
            <a:pPr algn="l" indent="0" marL="0">
              <a:buNone/>
            </a:pPr>
            <a:r>
              <a:rPr lang="en-US" sz="2300" dirty="0">
                <a:solidFill>
                  <a:srgbClr val="15131A"/>
                </a:solidFill>
                <a:latin typeface="Aptos" pitchFamily="34" charset="0"/>
                <a:ea typeface="Aptos" pitchFamily="34" charset="-122"/>
                <a:cs typeface="Aptos" pitchFamily="34" charset="-120"/>
              </a:rPr>
              <a:t>Invalid discounts are not covered</a:t>
            </a:r>
            <a:endParaRPr lang="en-US" sz="2300" dirty="0"/>
          </a:p>
        </p:txBody>
      </p:sp>
      <p:sp>
        <p:nvSpPr>
          <p:cNvPr id="30" name="Text 27"/>
          <p:cNvSpPr/>
          <p:nvPr/>
        </p:nvSpPr>
        <p:spPr>
          <a:xfrm>
            <a:off x="777240" y="5943600"/>
            <a:ext cx="10515600" cy="292608"/>
          </a:xfrm>
          <a:prstGeom prst="rect">
            <a:avLst/>
          </a:prstGeom>
          <a:noFill/>
          <a:ln/>
        </p:spPr>
        <p:txBody>
          <a:bodyPr wrap="square" lIns="0" tIns="0" rIns="0" bIns="0" rtlCol="0" anchor="ctr">
            <a:normAutofit/>
          </a:bodyPr>
          <a:lstStyle/>
          <a:p>
            <a:pPr algn="ctr" indent="0" marL="0">
              <a:buNone/>
            </a:pPr>
            <a:r>
              <a:rPr lang="en-US" sz="1900" b="1" dirty="0">
                <a:solidFill>
                  <a:srgbClr val="5C5765"/>
                </a:solidFill>
                <a:latin typeface="Aptos" pitchFamily="34" charset="0"/>
                <a:ea typeface="Aptos" pitchFamily="34" charset="-122"/>
                <a:cs typeface="Aptos" pitchFamily="34" charset="-120"/>
              </a:rPr>
              <a:t>Claims the next agent can independently verify.</a:t>
            </a:r>
            <a:endParaRPr lang="en-US" sz="1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56032"/>
            <a:ext cx="411480" cy="201168"/>
          </a:xfrm>
          <a:prstGeom prst="rect">
            <a:avLst/>
          </a:prstGeom>
          <a:noFill/>
          <a:ln/>
        </p:spPr>
        <p:txBody>
          <a:bodyPr wrap="square" lIns="0" tIns="0" rIns="0" bIns="0" rtlCol="0" anchor="ctr">
            <a:normAutofit/>
          </a:bodyPr>
          <a:lstStyle/>
          <a:p>
            <a:pPr algn="l" indent="0" marL="0">
              <a:buNone/>
            </a:pPr>
            <a:r>
              <a:rPr lang="en-US" sz="1100" b="1" dirty="0">
                <a:solidFill>
                  <a:srgbClr val="AD0C72"/>
                </a:solidFill>
                <a:latin typeface="Aptos Mono" pitchFamily="34" charset="0"/>
                <a:ea typeface="Aptos Mono" pitchFamily="34" charset="-122"/>
                <a:cs typeface="Aptos Mono" pitchFamily="34" charset="-120"/>
              </a:rPr>
              <a:t>15</a:t>
            </a:r>
            <a:endParaRPr lang="en-US" sz="1100" dirty="0"/>
          </a:p>
        </p:txBody>
      </p:sp>
      <p:sp>
        <p:nvSpPr>
          <p:cNvPr id="3" name="Text 1"/>
          <p:cNvSpPr/>
          <p:nvPr/>
        </p:nvSpPr>
        <p:spPr>
          <a:xfrm>
            <a:off x="8961120" y="256032"/>
            <a:ext cx="2606040" cy="201168"/>
          </a:xfrm>
          <a:prstGeom prst="rect">
            <a:avLst/>
          </a:prstGeom>
          <a:noFill/>
          <a:ln/>
        </p:spPr>
        <p:txBody>
          <a:bodyPr wrap="square" lIns="0" tIns="0" rIns="0" bIns="0" rtlCol="0" anchor="ctr">
            <a:normAutofit/>
          </a:bodyPr>
          <a:lstStyle/>
          <a:p>
            <a:pPr algn="r" indent="0" marL="0">
              <a:buNone/>
            </a:pPr>
            <a:r>
              <a:rPr lang="en-US" sz="1000" b="1" dirty="0">
                <a:solidFill>
                  <a:srgbClr val="5C5765"/>
                </a:solidFill>
                <a:latin typeface="Aptos" pitchFamily="34" charset="0"/>
                <a:ea typeface="Aptos" pitchFamily="34" charset="-122"/>
                <a:cs typeface="Aptos" pitchFamily="34" charset="-120"/>
              </a:rPr>
              <a:t>Execution safety</a:t>
            </a:r>
            <a:endParaRPr lang="en-US" sz="1000" dirty="0"/>
          </a:p>
        </p:txBody>
      </p:sp>
      <p:sp>
        <p:nvSpPr>
          <p:cNvPr id="4" name="Shape 2"/>
          <p:cNvSpPr/>
          <p:nvPr/>
        </p:nvSpPr>
        <p:spPr>
          <a:xfrm>
            <a:off x="566928" y="566928"/>
            <a:ext cx="11045952" cy="0"/>
          </a:xfrm>
          <a:prstGeom prst="line">
            <a:avLst/>
          </a:prstGeom>
          <a:noFill/>
          <a:ln w="12700">
            <a:solidFill>
              <a:srgbClr val="ECE8EE"/>
            </a:solidFill>
            <a:prstDash val="solid"/>
          </a:ln>
        </p:spPr>
      </p:sp>
      <p:sp>
        <p:nvSpPr>
          <p:cNvPr id="5" name="Text 3"/>
          <p:cNvSpPr/>
          <p:nvPr/>
        </p:nvSpPr>
        <p:spPr>
          <a:xfrm>
            <a:off x="658368" y="786384"/>
            <a:ext cx="10881360" cy="566928"/>
          </a:xfrm>
          <a:prstGeom prst="rect">
            <a:avLst/>
          </a:prstGeom>
          <a:noFill/>
          <a:ln/>
        </p:spPr>
        <p:txBody>
          <a:bodyPr wrap="square" lIns="0" tIns="0" rIns="0" bIns="0" rtlCol="0" anchor="ctr">
            <a:normAutofit/>
          </a:bodyPr>
          <a:lstStyle/>
          <a:p>
            <a:pPr algn="l" indent="0" marL="0">
              <a:buNone/>
            </a:pPr>
            <a:r>
              <a:rPr lang="en-US" sz="3100" b="1" dirty="0">
                <a:solidFill>
                  <a:srgbClr val="15131A"/>
                </a:solidFill>
                <a:latin typeface="Aptos Display" pitchFamily="34" charset="0"/>
                <a:ea typeface="Aptos Display" pitchFamily="34" charset="-122"/>
                <a:cs typeface="Aptos Display" pitchFamily="34" charset="-120"/>
              </a:rPr>
              <a:t>Know where it runs and what contains it</a:t>
            </a:r>
            <a:endParaRPr lang="en-US" sz="3100" dirty="0"/>
          </a:p>
        </p:txBody>
      </p:sp>
      <p:sp>
        <p:nvSpPr>
          <p:cNvPr id="6" name="Text 4"/>
          <p:cNvSpPr/>
          <p:nvPr/>
        </p:nvSpPr>
        <p:spPr>
          <a:xfrm>
            <a:off x="658368" y="6144768"/>
            <a:ext cx="10789920" cy="182880"/>
          </a:xfrm>
          <a:prstGeom prst="rect">
            <a:avLst/>
          </a:prstGeom>
          <a:noFill/>
          <a:ln/>
        </p:spPr>
        <p:txBody>
          <a:bodyPr wrap="square" lIns="0" tIns="0" rIns="0" bIns="0" rtlCol="0" anchor="ctr">
            <a:normAutofit/>
          </a:bodyPr>
          <a:lstStyle/>
          <a:p>
            <a:pPr algn="l" indent="0" marL="0">
              <a:buNone/>
            </a:pPr>
            <a:r>
              <a:rPr lang="en-US" sz="1100" dirty="0">
                <a:solidFill>
                  <a:srgbClr val="5C5765"/>
                </a:solidFill>
                <a:latin typeface="Aptos" pitchFamily="34" charset="0"/>
                <a:ea typeface="Aptos" pitchFamily="34" charset="-122"/>
                <a:cs typeface="Aptos" pitchFamily="34" charset="-120"/>
              </a:rPr>
              <a:t>Sources: Omnigent policies · Omnibox · collaboration docs</a:t>
            </a:r>
            <a:endParaRPr lang="en-US" sz="1100" dirty="0"/>
          </a:p>
        </p:txBody>
      </p:sp>
      <p:sp>
        <p:nvSpPr>
          <p:cNvPr id="7" name="Text 5"/>
          <p:cNvSpPr/>
          <p:nvPr/>
        </p:nvSpPr>
        <p:spPr>
          <a:xfrm>
            <a:off x="658368" y="6400800"/>
            <a:ext cx="10469880" cy="219456"/>
          </a:xfrm>
          <a:prstGeom prst="rect">
            <a:avLst/>
          </a:prstGeom>
          <a:noFill/>
          <a:ln/>
        </p:spPr>
        <p:txBody>
          <a:bodyPr wrap="square" lIns="0" tIns="0" rIns="0" bIns="0" rtlCol="0" anchor="ctr">
            <a:normAutofit/>
          </a:bodyPr>
          <a:lstStyle/>
          <a:p>
            <a:pPr algn="l" indent="0" marL="0">
              <a:buNone/>
            </a:pPr>
            <a:r>
              <a:rPr lang="en-US" sz="1450" b="1" dirty="0">
                <a:solidFill>
                  <a:srgbClr val="AD0C72"/>
                </a:solidFill>
                <a:latin typeface="Aptos" pitchFamily="34" charset="0"/>
                <a:ea typeface="Aptos" pitchFamily="34" charset="-122"/>
                <a:cs typeface="Aptos" pitchFamily="34" charset="-120"/>
              </a:rPr>
              <a:t>@anxkhn</a:t>
            </a:r>
            <a:pPr algn="l" indent="0" marL="0">
              <a:buNone/>
            </a:pPr>
            <a:r>
              <a:rPr lang="en-US" sz="1450" b="1" dirty="0">
                <a:solidFill>
                  <a:srgbClr val="5C5765"/>
                </a:solidFill>
                <a:latin typeface="Aptos" pitchFamily="34" charset="0"/>
                <a:ea typeface="Aptos" pitchFamily="34" charset="-122"/>
                <a:cs typeface="Aptos" pitchFamily="34" charset="-120"/>
              </a:rPr>
              <a:t>  ·  #DevDays  ·  #DevDaysMumbai  ·  #mumtechup</a:t>
            </a:r>
            <a:endParaRPr lang="en-US" sz="1450" dirty="0"/>
          </a:p>
        </p:txBody>
      </p:sp>
      <p:sp>
        <p:nvSpPr>
          <p:cNvPr id="8" name="Text 6"/>
          <p:cNvSpPr/>
          <p:nvPr/>
        </p:nvSpPr>
        <p:spPr>
          <a:xfrm>
            <a:off x="11064240" y="6419088"/>
            <a:ext cx="438912" cy="182880"/>
          </a:xfrm>
          <a:prstGeom prst="rect">
            <a:avLst/>
          </a:prstGeom>
          <a:noFill/>
          <a:ln/>
        </p:spPr>
        <p:txBody>
          <a:bodyPr wrap="square" lIns="0" tIns="0" rIns="0" bIns="0" rtlCol="0" anchor="ctr">
            <a:normAutofit/>
          </a:bodyPr>
          <a:lstStyle/>
          <a:p>
            <a:pPr algn="r" indent="0" marL="0">
              <a:buNone/>
            </a:pPr>
            <a:r>
              <a:rPr lang="en-US" sz="1200" b="1" dirty="0">
                <a:solidFill>
                  <a:srgbClr val="5C5765"/>
                </a:solidFill>
                <a:latin typeface="Aptos Mono" pitchFamily="34" charset="0"/>
                <a:ea typeface="Aptos Mono" pitchFamily="34" charset="-122"/>
                <a:cs typeface="Aptos Mono" pitchFamily="34" charset="-120"/>
              </a:rPr>
              <a:t>15</a:t>
            </a:r>
            <a:endParaRPr lang="en-US" sz="1200" dirty="0"/>
          </a:p>
        </p:txBody>
      </p:sp>
      <p:sp>
        <p:nvSpPr>
          <p:cNvPr id="10" name="Shape 7"/>
          <p:cNvSpPr/>
          <p:nvPr/>
        </p:nvSpPr>
        <p:spPr>
          <a:xfrm>
            <a:off x="713232" y="1536192"/>
            <a:ext cx="1965960" cy="804672"/>
          </a:xfrm>
          <a:prstGeom prst="rect">
            <a:avLst/>
          </a:prstGeom>
          <a:solidFill>
            <a:srgbClr val="F6F3F7"/>
          </a:solidFill>
          <a:ln w="12700">
            <a:solidFill>
              <a:srgbClr val="F6F3F7"/>
            </a:solidFill>
            <a:prstDash val="solid"/>
          </a:ln>
        </p:spPr>
      </p:sp>
      <p:sp>
        <p:nvSpPr>
          <p:cNvPr id="11" name="Text 8"/>
          <p:cNvSpPr/>
          <p:nvPr/>
        </p:nvSpPr>
        <p:spPr>
          <a:xfrm>
            <a:off x="841248" y="1737360"/>
            <a:ext cx="1709928" cy="365760"/>
          </a:xfrm>
          <a:prstGeom prst="rect">
            <a:avLst/>
          </a:prstGeom>
          <a:noFill/>
          <a:ln/>
        </p:spPr>
        <p:txBody>
          <a:bodyPr wrap="square" lIns="0" tIns="0" rIns="0" bIns="0" rtlCol="0" anchor="ctr">
            <a:normAutofit/>
          </a:bodyPr>
          <a:lstStyle/>
          <a:p>
            <a:pPr algn="ctr" indent="0" marL="0">
              <a:buNone/>
            </a:pPr>
            <a:r>
              <a:rPr lang="en-US" sz="2200" b="1" dirty="0">
                <a:solidFill>
                  <a:srgbClr val="15131A"/>
                </a:solidFill>
                <a:latin typeface="Aptos Mono" pitchFamily="34" charset="0"/>
                <a:ea typeface="Aptos Mono" pitchFamily="34" charset="-122"/>
                <a:cs typeface="Aptos Mono" pitchFamily="34" charset="-120"/>
              </a:rPr>
              <a:t>TERMINAL · BROWSER</a:t>
            </a:r>
            <a:endParaRPr lang="en-US" sz="2200" dirty="0"/>
          </a:p>
        </p:txBody>
      </p:sp>
      <p:sp>
        <p:nvSpPr>
          <p:cNvPr id="12" name="Shape 9"/>
          <p:cNvSpPr/>
          <p:nvPr/>
        </p:nvSpPr>
        <p:spPr>
          <a:xfrm>
            <a:off x="3218688" y="1536192"/>
            <a:ext cx="2331720" cy="804672"/>
          </a:xfrm>
          <a:prstGeom prst="rect">
            <a:avLst/>
          </a:prstGeom>
          <a:solidFill>
            <a:srgbClr val="FCE6F4"/>
          </a:solidFill>
          <a:ln w="12700">
            <a:solidFill>
              <a:srgbClr val="FCE6F4"/>
            </a:solidFill>
            <a:prstDash val="solid"/>
          </a:ln>
        </p:spPr>
      </p:sp>
      <p:sp>
        <p:nvSpPr>
          <p:cNvPr id="13" name="Text 10"/>
          <p:cNvSpPr/>
          <p:nvPr/>
        </p:nvSpPr>
        <p:spPr>
          <a:xfrm>
            <a:off x="3401568" y="1627632"/>
            <a:ext cx="1965960" cy="347472"/>
          </a:xfrm>
          <a:prstGeom prst="rect">
            <a:avLst/>
          </a:prstGeom>
          <a:noFill/>
          <a:ln/>
        </p:spPr>
        <p:txBody>
          <a:bodyPr wrap="square" lIns="0" tIns="0" rIns="0" bIns="0" rtlCol="0" anchor="ctr">
            <a:normAutofit/>
          </a:bodyPr>
          <a:lstStyle/>
          <a:p>
            <a:pPr algn="ctr" indent="0" marL="0">
              <a:buNone/>
            </a:pPr>
            <a:r>
              <a:rPr lang="en-US" sz="2200" b="1" dirty="0">
                <a:solidFill>
                  <a:srgbClr val="AD0C72"/>
                </a:solidFill>
                <a:latin typeface="Aptos Mono" pitchFamily="34" charset="0"/>
                <a:ea typeface="Aptos Mono" pitchFamily="34" charset="-122"/>
                <a:cs typeface="Aptos Mono" pitchFamily="34" charset="-120"/>
              </a:rPr>
              <a:t>SESSION RECORD</a:t>
            </a:r>
            <a:endParaRPr lang="en-US" sz="2200" dirty="0"/>
          </a:p>
        </p:txBody>
      </p:sp>
      <p:sp>
        <p:nvSpPr>
          <p:cNvPr id="14" name="Text 11"/>
          <p:cNvSpPr/>
          <p:nvPr/>
        </p:nvSpPr>
        <p:spPr>
          <a:xfrm>
            <a:off x="3401568" y="1975104"/>
            <a:ext cx="1965960" cy="237744"/>
          </a:xfrm>
          <a:prstGeom prst="rect">
            <a:avLst/>
          </a:prstGeom>
          <a:noFill/>
          <a:ln/>
        </p:spPr>
        <p:txBody>
          <a:bodyPr wrap="square" lIns="0" tIns="0" rIns="0" bIns="0" rtlCol="0" anchor="ctr">
            <a:normAutofit/>
          </a:bodyPr>
          <a:lstStyle/>
          <a:p>
            <a:pPr algn="ctr" indent="0" marL="0">
              <a:buNone/>
            </a:pPr>
            <a:r>
              <a:rPr lang="en-US" sz="1900" dirty="0">
                <a:solidFill>
                  <a:srgbClr val="5C5765"/>
                </a:solidFill>
                <a:latin typeface="Aptos" pitchFamily="34" charset="0"/>
                <a:ea typeface="Aptos" pitchFamily="34" charset="-122"/>
                <a:cs typeface="Aptos" pitchFamily="34" charset="-120"/>
              </a:rPr>
              <a:t>server-backed</a:t>
            </a:r>
            <a:endParaRPr lang="en-US" sz="1900" dirty="0"/>
          </a:p>
        </p:txBody>
      </p:sp>
      <p:sp>
        <p:nvSpPr>
          <p:cNvPr id="15" name="Shape 12"/>
          <p:cNvSpPr/>
          <p:nvPr/>
        </p:nvSpPr>
        <p:spPr>
          <a:xfrm>
            <a:off x="6400800" y="1536192"/>
            <a:ext cx="2880360" cy="804672"/>
          </a:xfrm>
          <a:prstGeom prst="rect">
            <a:avLst/>
          </a:prstGeom>
          <a:solidFill>
            <a:srgbClr val="F6F3F7"/>
          </a:solidFill>
          <a:ln w="12700">
            <a:solidFill>
              <a:srgbClr val="F6F3F7"/>
            </a:solidFill>
            <a:prstDash val="solid"/>
          </a:ln>
        </p:spPr>
      </p:sp>
      <p:sp>
        <p:nvSpPr>
          <p:cNvPr id="16" name="Text 13"/>
          <p:cNvSpPr/>
          <p:nvPr/>
        </p:nvSpPr>
        <p:spPr>
          <a:xfrm>
            <a:off x="6583680" y="1627632"/>
            <a:ext cx="2514600" cy="347472"/>
          </a:xfrm>
          <a:prstGeom prst="rect">
            <a:avLst/>
          </a:prstGeom>
          <a:noFill/>
          <a:ln/>
        </p:spPr>
        <p:txBody>
          <a:bodyPr wrap="square" lIns="0" tIns="0" rIns="0" bIns="0" rtlCol="0" anchor="ctr">
            <a:normAutofit/>
          </a:bodyPr>
          <a:lstStyle/>
          <a:p>
            <a:pPr algn="ctr" indent="0" marL="0">
              <a:buNone/>
            </a:pPr>
            <a:r>
              <a:rPr lang="en-US" sz="2200" b="1" dirty="0">
                <a:solidFill>
                  <a:srgbClr val="15131A"/>
                </a:solidFill>
                <a:latin typeface="Aptos Mono" pitchFamily="34" charset="0"/>
                <a:ea typeface="Aptos Mono" pitchFamily="34" charset="-122"/>
                <a:cs typeface="Aptos Mono" pitchFamily="34" charset="-120"/>
              </a:rPr>
              <a:t>RUNNER HOST</a:t>
            </a:r>
            <a:endParaRPr lang="en-US" sz="2200" dirty="0"/>
          </a:p>
        </p:txBody>
      </p:sp>
      <p:sp>
        <p:nvSpPr>
          <p:cNvPr id="17" name="Text 14"/>
          <p:cNvSpPr/>
          <p:nvPr/>
        </p:nvSpPr>
        <p:spPr>
          <a:xfrm>
            <a:off x="6510528" y="1975104"/>
            <a:ext cx="2660904" cy="237744"/>
          </a:xfrm>
          <a:prstGeom prst="rect">
            <a:avLst/>
          </a:prstGeom>
          <a:noFill/>
          <a:ln/>
        </p:spPr>
        <p:txBody>
          <a:bodyPr wrap="square" lIns="0" tIns="0" rIns="0" bIns="0" rtlCol="0" anchor="ctr">
            <a:normAutofit/>
          </a:bodyPr>
          <a:lstStyle/>
          <a:p>
            <a:pPr algn="ctr" indent="0" marL="0">
              <a:buNone/>
            </a:pPr>
            <a:r>
              <a:rPr lang="en-US" sz="1900" dirty="0">
                <a:solidFill>
                  <a:srgbClr val="5C5765"/>
                </a:solidFill>
                <a:latin typeface="Aptos" pitchFamily="34" charset="0"/>
                <a:ea typeface="Aptos" pitchFamily="34" charset="-122"/>
                <a:cs typeface="Aptos" pitchFamily="34" charset="-120"/>
              </a:rPr>
              <a:t>workspace · credentials · network</a:t>
            </a:r>
            <a:endParaRPr lang="en-US" sz="1900" dirty="0"/>
          </a:p>
        </p:txBody>
      </p:sp>
      <p:sp>
        <p:nvSpPr>
          <p:cNvPr id="18" name="Shape 15"/>
          <p:cNvSpPr/>
          <p:nvPr/>
        </p:nvSpPr>
        <p:spPr>
          <a:xfrm>
            <a:off x="2724912" y="1901952"/>
            <a:ext cx="438912" cy="0"/>
          </a:xfrm>
          <a:prstGeom prst="line">
            <a:avLst/>
          </a:prstGeom>
          <a:noFill/>
          <a:ln w="19050">
            <a:solidFill>
              <a:srgbClr val="AD0C72"/>
            </a:solidFill>
            <a:prstDash val="solid"/>
            <a:tailEnd type="triangle"/>
          </a:ln>
        </p:spPr>
      </p:sp>
      <p:sp>
        <p:nvSpPr>
          <p:cNvPr id="19" name="Shape 16"/>
          <p:cNvSpPr/>
          <p:nvPr/>
        </p:nvSpPr>
        <p:spPr>
          <a:xfrm>
            <a:off x="5596128" y="1901952"/>
            <a:ext cx="749808" cy="0"/>
          </a:xfrm>
          <a:prstGeom prst="line">
            <a:avLst/>
          </a:prstGeom>
          <a:noFill/>
          <a:ln w="19050">
            <a:solidFill>
              <a:srgbClr val="AD0C72"/>
            </a:solidFill>
            <a:prstDash val="solid"/>
            <a:tailEnd type="triangle"/>
          </a:ln>
        </p:spPr>
      </p:sp>
      <p:sp>
        <p:nvSpPr>
          <p:cNvPr id="20" name="Shape 17"/>
          <p:cNvSpPr/>
          <p:nvPr/>
        </p:nvSpPr>
        <p:spPr>
          <a:xfrm>
            <a:off x="4370832" y="2331720"/>
            <a:ext cx="502920" cy="347472"/>
          </a:xfrm>
          <a:prstGeom prst="line">
            <a:avLst/>
          </a:prstGeom>
          <a:noFill/>
          <a:ln w="19050">
            <a:solidFill>
              <a:srgbClr val="A65A00"/>
            </a:solidFill>
            <a:prstDash val="solid"/>
            <a:tailEnd type="triangle"/>
          </a:ln>
        </p:spPr>
      </p:sp>
      <p:sp>
        <p:nvSpPr>
          <p:cNvPr id="21" name="Text 18"/>
          <p:cNvSpPr/>
          <p:nvPr/>
        </p:nvSpPr>
        <p:spPr>
          <a:xfrm>
            <a:off x="4800600" y="2505456"/>
            <a:ext cx="1234440" cy="182880"/>
          </a:xfrm>
          <a:prstGeom prst="rect">
            <a:avLst/>
          </a:prstGeom>
          <a:noFill/>
          <a:ln/>
        </p:spPr>
        <p:txBody>
          <a:bodyPr wrap="square" lIns="0" tIns="0" rIns="0" bIns="0" rtlCol="0" anchor="ctr">
            <a:normAutofit/>
          </a:bodyPr>
          <a:lstStyle/>
          <a:p>
            <a:pPr algn="l" indent="0" marL="0">
              <a:buNone/>
            </a:pPr>
            <a:r>
              <a:rPr lang="en-US" sz="1200" dirty="0">
                <a:solidFill>
                  <a:srgbClr val="A65A00"/>
                </a:solidFill>
                <a:latin typeface="Aptos Mono" pitchFamily="34" charset="0"/>
                <a:ea typeface="Aptos Mono" pitchFamily="34" charset="-122"/>
                <a:cs typeface="Aptos Mono" pitchFamily="34" charset="-120"/>
              </a:rPr>
              <a:t>fork branch</a:t>
            </a:r>
            <a:endParaRPr lang="en-US" sz="1200" dirty="0"/>
          </a:p>
        </p:txBody>
      </p:sp>
      <p:sp>
        <p:nvSpPr>
          <p:cNvPr id="22" name="Shape 19"/>
          <p:cNvSpPr/>
          <p:nvPr/>
        </p:nvSpPr>
        <p:spPr>
          <a:xfrm>
            <a:off x="713232" y="2697480"/>
            <a:ext cx="2971800" cy="1417320"/>
          </a:xfrm>
          <a:prstGeom prst="rect">
            <a:avLst/>
          </a:prstGeom>
          <a:solidFill>
            <a:srgbClr val="F6F3F7"/>
          </a:solidFill>
          <a:ln w="12700">
            <a:solidFill>
              <a:srgbClr val="F6F3F7"/>
            </a:solidFill>
            <a:prstDash val="solid"/>
          </a:ln>
        </p:spPr>
      </p:sp>
      <p:sp>
        <p:nvSpPr>
          <p:cNvPr id="23" name="Text 20"/>
          <p:cNvSpPr/>
          <p:nvPr/>
        </p:nvSpPr>
        <p:spPr>
          <a:xfrm>
            <a:off x="941832" y="2816352"/>
            <a:ext cx="2514600" cy="310896"/>
          </a:xfrm>
          <a:prstGeom prst="rect">
            <a:avLst/>
          </a:prstGeom>
          <a:noFill/>
          <a:ln/>
        </p:spPr>
        <p:txBody>
          <a:bodyPr wrap="square" lIns="0" tIns="0" rIns="0" bIns="0" rtlCol="0" anchor="ctr">
            <a:normAutofit/>
          </a:bodyPr>
          <a:lstStyle/>
          <a:p>
            <a:pPr algn="ctr" indent="0" marL="0">
              <a:buNone/>
            </a:pPr>
            <a:r>
              <a:rPr lang="en-US" sz="2000" b="1" dirty="0">
                <a:solidFill>
                  <a:srgbClr val="15131A"/>
                </a:solidFill>
                <a:latin typeface="Aptos Mono" pitchFamily="34" charset="0"/>
                <a:ea typeface="Aptos Mono" pitchFamily="34" charset="-122"/>
                <a:cs typeface="Aptos Mono" pitchFamily="34" charset="-120"/>
              </a:rPr>
              <a:t>PROMPT</a:t>
            </a:r>
            <a:endParaRPr lang="en-US" sz="2000" dirty="0"/>
          </a:p>
        </p:txBody>
      </p:sp>
      <p:sp>
        <p:nvSpPr>
          <p:cNvPr id="24" name="Text 21"/>
          <p:cNvSpPr/>
          <p:nvPr/>
        </p:nvSpPr>
        <p:spPr>
          <a:xfrm>
            <a:off x="896112" y="3182112"/>
            <a:ext cx="2606040" cy="384048"/>
          </a:xfrm>
          <a:prstGeom prst="rect">
            <a:avLst/>
          </a:prstGeom>
          <a:noFill/>
          <a:ln/>
        </p:spPr>
        <p:txBody>
          <a:bodyPr wrap="square" lIns="0" tIns="0" rIns="0" bIns="0" rtlCol="0" anchor="ctr">
            <a:normAutofit/>
          </a:bodyPr>
          <a:lstStyle/>
          <a:p>
            <a:pPr algn="ctr" indent="0" marL="0">
              <a:buNone/>
            </a:pPr>
            <a:r>
              <a:rPr lang="en-US" sz="2300" b="1" dirty="0">
                <a:solidFill>
                  <a:srgbClr val="15131A"/>
                </a:solidFill>
                <a:latin typeface="Aptos" pitchFamily="34" charset="0"/>
                <a:ea typeface="Aptos" pitchFamily="34" charset="-122"/>
                <a:cs typeface="Aptos" pitchFamily="34" charset="-120"/>
              </a:rPr>
              <a:t>"Do not edit"</a:t>
            </a:r>
            <a:endParaRPr lang="en-US" sz="2300" dirty="0"/>
          </a:p>
        </p:txBody>
      </p:sp>
      <p:sp>
        <p:nvSpPr>
          <p:cNvPr id="25" name="Text 22"/>
          <p:cNvSpPr/>
          <p:nvPr/>
        </p:nvSpPr>
        <p:spPr>
          <a:xfrm>
            <a:off x="877824" y="3621024"/>
            <a:ext cx="2642616" cy="329184"/>
          </a:xfrm>
          <a:prstGeom prst="rect">
            <a:avLst/>
          </a:prstGeom>
          <a:noFill/>
          <a:ln/>
        </p:spPr>
        <p:txBody>
          <a:bodyPr wrap="square" lIns="0" tIns="0" rIns="0" bIns="0" rtlCol="0" anchor="ctr">
            <a:normAutofit/>
          </a:bodyPr>
          <a:lstStyle/>
          <a:p>
            <a:pPr algn="ctr" indent="0" marL="0">
              <a:buNone/>
            </a:pPr>
            <a:r>
              <a:rPr lang="en-US" sz="2000" dirty="0">
                <a:solidFill>
                  <a:srgbClr val="5C5765"/>
                </a:solidFill>
                <a:latin typeface="Aptos" pitchFamily="34" charset="0"/>
                <a:ea typeface="Aptos" pitchFamily="34" charset="-122"/>
                <a:cs typeface="Aptos" pitchFamily="34" charset="-120"/>
              </a:rPr>
              <a:t>guides behavior</a:t>
            </a:r>
            <a:endParaRPr lang="en-US" sz="2000" dirty="0"/>
          </a:p>
        </p:txBody>
      </p:sp>
      <p:sp>
        <p:nvSpPr>
          <p:cNvPr id="26" name="Shape 23"/>
          <p:cNvSpPr/>
          <p:nvPr/>
        </p:nvSpPr>
        <p:spPr>
          <a:xfrm>
            <a:off x="4069080" y="2697480"/>
            <a:ext cx="2971800" cy="1417320"/>
          </a:xfrm>
          <a:prstGeom prst="rect">
            <a:avLst/>
          </a:prstGeom>
          <a:solidFill>
            <a:srgbClr val="FCE6F4"/>
          </a:solidFill>
          <a:ln w="12700">
            <a:solidFill>
              <a:srgbClr val="FCE6F4"/>
            </a:solidFill>
            <a:prstDash val="solid"/>
          </a:ln>
        </p:spPr>
      </p:sp>
      <p:sp>
        <p:nvSpPr>
          <p:cNvPr id="27" name="Text 24"/>
          <p:cNvSpPr/>
          <p:nvPr/>
        </p:nvSpPr>
        <p:spPr>
          <a:xfrm>
            <a:off x="4297680" y="2816352"/>
            <a:ext cx="2514600" cy="310896"/>
          </a:xfrm>
          <a:prstGeom prst="rect">
            <a:avLst/>
          </a:prstGeom>
          <a:noFill/>
          <a:ln/>
        </p:spPr>
        <p:txBody>
          <a:bodyPr wrap="square" lIns="0" tIns="0" rIns="0" bIns="0" rtlCol="0" anchor="ctr">
            <a:normAutofit/>
          </a:bodyPr>
          <a:lstStyle/>
          <a:p>
            <a:pPr algn="ctr" indent="0" marL="0">
              <a:buNone/>
            </a:pPr>
            <a:r>
              <a:rPr lang="en-US" sz="2000" b="1" dirty="0">
                <a:solidFill>
                  <a:srgbClr val="AD0C72"/>
                </a:solidFill>
                <a:latin typeface="Aptos Mono" pitchFamily="34" charset="0"/>
                <a:ea typeface="Aptos Mono" pitchFamily="34" charset="-122"/>
                <a:cs typeface="Aptos Mono" pitchFamily="34" charset="-120"/>
              </a:rPr>
              <a:t>POLICY</a:t>
            </a:r>
            <a:endParaRPr lang="en-US" sz="2000" dirty="0"/>
          </a:p>
        </p:txBody>
      </p:sp>
      <p:sp>
        <p:nvSpPr>
          <p:cNvPr id="28" name="Text 25"/>
          <p:cNvSpPr/>
          <p:nvPr/>
        </p:nvSpPr>
        <p:spPr>
          <a:xfrm>
            <a:off x="4251960" y="3182112"/>
            <a:ext cx="2606040" cy="384048"/>
          </a:xfrm>
          <a:prstGeom prst="rect">
            <a:avLst/>
          </a:prstGeom>
          <a:noFill/>
          <a:ln/>
        </p:spPr>
        <p:txBody>
          <a:bodyPr wrap="square" lIns="0" tIns="0" rIns="0" bIns="0" rtlCol="0" anchor="ctr">
            <a:normAutofit/>
          </a:bodyPr>
          <a:lstStyle/>
          <a:p>
            <a:pPr algn="ctr" indent="0" marL="0">
              <a:buNone/>
            </a:pPr>
            <a:r>
              <a:rPr lang="en-US" sz="2300" b="1" dirty="0">
                <a:solidFill>
                  <a:srgbClr val="15131A"/>
                </a:solidFill>
                <a:latin typeface="Aptos" pitchFamily="34" charset="0"/>
                <a:ea typeface="Aptos" pitchFamily="34" charset="-122"/>
                <a:cs typeface="Aptos" pitchFamily="34" charset="-120"/>
              </a:rPr>
              <a:t>allow · ask · deny</a:t>
            </a:r>
            <a:endParaRPr lang="en-US" sz="2300" dirty="0"/>
          </a:p>
        </p:txBody>
      </p:sp>
      <p:sp>
        <p:nvSpPr>
          <p:cNvPr id="29" name="Text 26"/>
          <p:cNvSpPr/>
          <p:nvPr/>
        </p:nvSpPr>
        <p:spPr>
          <a:xfrm>
            <a:off x="4233672" y="3621024"/>
            <a:ext cx="2642616" cy="329184"/>
          </a:xfrm>
          <a:prstGeom prst="rect">
            <a:avLst/>
          </a:prstGeom>
          <a:noFill/>
          <a:ln/>
        </p:spPr>
        <p:txBody>
          <a:bodyPr wrap="square" lIns="0" tIns="0" rIns="0" bIns="0" rtlCol="0" anchor="ctr">
            <a:normAutofit/>
          </a:bodyPr>
          <a:lstStyle/>
          <a:p>
            <a:pPr algn="ctr" indent="0" marL="0">
              <a:buNone/>
            </a:pPr>
            <a:r>
              <a:rPr lang="en-US" sz="2000" dirty="0">
                <a:solidFill>
                  <a:srgbClr val="5C5765"/>
                </a:solidFill>
                <a:latin typeface="Aptos" pitchFamily="34" charset="0"/>
                <a:ea typeface="Aptos" pitchFamily="34" charset="-122"/>
                <a:cs typeface="Aptos" pitchFamily="34" charset="-120"/>
              </a:rPr>
              <a:t>decides on observed actions</a:t>
            </a:r>
            <a:endParaRPr lang="en-US" sz="2000" dirty="0"/>
          </a:p>
        </p:txBody>
      </p:sp>
      <p:sp>
        <p:nvSpPr>
          <p:cNvPr id="30" name="Shape 27"/>
          <p:cNvSpPr/>
          <p:nvPr/>
        </p:nvSpPr>
        <p:spPr>
          <a:xfrm>
            <a:off x="7424928" y="2697480"/>
            <a:ext cx="2971800" cy="1417320"/>
          </a:xfrm>
          <a:prstGeom prst="rect">
            <a:avLst/>
          </a:prstGeom>
          <a:solidFill>
            <a:srgbClr val="E4F7F1"/>
          </a:solidFill>
          <a:ln w="12700">
            <a:solidFill>
              <a:srgbClr val="E4F7F1"/>
            </a:solidFill>
            <a:prstDash val="solid"/>
          </a:ln>
        </p:spPr>
      </p:sp>
      <p:sp>
        <p:nvSpPr>
          <p:cNvPr id="31" name="Text 28"/>
          <p:cNvSpPr/>
          <p:nvPr/>
        </p:nvSpPr>
        <p:spPr>
          <a:xfrm>
            <a:off x="7653528" y="2816352"/>
            <a:ext cx="2514600" cy="310896"/>
          </a:xfrm>
          <a:prstGeom prst="rect">
            <a:avLst/>
          </a:prstGeom>
          <a:noFill/>
          <a:ln/>
        </p:spPr>
        <p:txBody>
          <a:bodyPr wrap="square" lIns="0" tIns="0" rIns="0" bIns="0" rtlCol="0" anchor="ctr">
            <a:normAutofit/>
          </a:bodyPr>
          <a:lstStyle/>
          <a:p>
            <a:pPr algn="ctr" indent="0" marL="0">
              <a:buNone/>
            </a:pPr>
            <a:r>
              <a:rPr lang="en-US" sz="2000" b="1" dirty="0">
                <a:solidFill>
                  <a:srgbClr val="267D63"/>
                </a:solidFill>
                <a:latin typeface="Aptos Mono" pitchFamily="34" charset="0"/>
                <a:ea typeface="Aptos Mono" pitchFamily="34" charset="-122"/>
                <a:cs typeface="Aptos Mono" pitchFamily="34" charset="-120"/>
              </a:rPr>
              <a:t>SANDBOX</a:t>
            </a:r>
            <a:endParaRPr lang="en-US" sz="2000" dirty="0"/>
          </a:p>
        </p:txBody>
      </p:sp>
      <p:sp>
        <p:nvSpPr>
          <p:cNvPr id="32" name="Text 29"/>
          <p:cNvSpPr/>
          <p:nvPr/>
        </p:nvSpPr>
        <p:spPr>
          <a:xfrm>
            <a:off x="7607808" y="3182112"/>
            <a:ext cx="2606040" cy="384048"/>
          </a:xfrm>
          <a:prstGeom prst="rect">
            <a:avLst/>
          </a:prstGeom>
          <a:noFill/>
          <a:ln/>
        </p:spPr>
        <p:txBody>
          <a:bodyPr wrap="square" lIns="0" tIns="0" rIns="0" bIns="0" rtlCol="0" anchor="ctr">
            <a:normAutofit/>
          </a:bodyPr>
          <a:lstStyle/>
          <a:p>
            <a:pPr algn="ctr" indent="0" marL="0">
              <a:buNone/>
            </a:pPr>
            <a:r>
              <a:rPr lang="en-US" sz="2300" b="1" dirty="0">
                <a:solidFill>
                  <a:srgbClr val="15131A"/>
                </a:solidFill>
                <a:latin typeface="Aptos" pitchFamily="34" charset="0"/>
                <a:ea typeface="Aptos" pitchFamily="34" charset="-122"/>
                <a:cs typeface="Aptos" pitchFamily="34" charset="-120"/>
              </a:rPr>
              <a:t>filesystem · process · network</a:t>
            </a:r>
            <a:endParaRPr lang="en-US" sz="2300" dirty="0"/>
          </a:p>
        </p:txBody>
      </p:sp>
      <p:sp>
        <p:nvSpPr>
          <p:cNvPr id="33" name="Text 30"/>
          <p:cNvSpPr/>
          <p:nvPr/>
        </p:nvSpPr>
        <p:spPr>
          <a:xfrm>
            <a:off x="7589520" y="3621024"/>
            <a:ext cx="2642616" cy="329184"/>
          </a:xfrm>
          <a:prstGeom prst="rect">
            <a:avLst/>
          </a:prstGeom>
          <a:noFill/>
          <a:ln/>
        </p:spPr>
        <p:txBody>
          <a:bodyPr wrap="square" lIns="0" tIns="0" rIns="0" bIns="0" rtlCol="0" anchor="ctr">
            <a:normAutofit/>
          </a:bodyPr>
          <a:lstStyle/>
          <a:p>
            <a:pPr algn="ctr" indent="0" marL="0">
              <a:buNone/>
            </a:pPr>
            <a:r>
              <a:rPr lang="en-US" sz="2000" dirty="0">
                <a:solidFill>
                  <a:srgbClr val="5C5765"/>
                </a:solidFill>
                <a:latin typeface="Aptos" pitchFamily="34" charset="0"/>
                <a:ea typeface="Aptos" pitchFamily="34" charset="-122"/>
                <a:cs typeface="Aptos" pitchFamily="34" charset="-120"/>
              </a:rPr>
              <a:t>enforces an OS boundary</a:t>
            </a:r>
            <a:endParaRPr lang="en-US" sz="2000" dirty="0"/>
          </a:p>
        </p:txBody>
      </p:sp>
      <p:sp>
        <p:nvSpPr>
          <p:cNvPr id="34" name="Shape 31"/>
          <p:cNvSpPr/>
          <p:nvPr/>
        </p:nvSpPr>
        <p:spPr>
          <a:xfrm>
            <a:off x="713232" y="4434840"/>
            <a:ext cx="3246120" cy="1234440"/>
          </a:xfrm>
          <a:prstGeom prst="rect">
            <a:avLst/>
          </a:prstGeom>
          <a:solidFill>
            <a:srgbClr val="FAF7F9"/>
          </a:solidFill>
          <a:ln w="12700">
            <a:solidFill>
              <a:srgbClr val="ECE8EE"/>
            </a:solidFill>
            <a:prstDash val="solid"/>
          </a:ln>
        </p:spPr>
      </p:sp>
      <p:sp>
        <p:nvSpPr>
          <p:cNvPr id="35" name="Text 32"/>
          <p:cNvSpPr/>
          <p:nvPr/>
        </p:nvSpPr>
        <p:spPr>
          <a:xfrm>
            <a:off x="877824" y="4617720"/>
            <a:ext cx="2926080" cy="274320"/>
          </a:xfrm>
          <a:prstGeom prst="rect">
            <a:avLst/>
          </a:prstGeom>
          <a:noFill/>
          <a:ln/>
        </p:spPr>
        <p:txBody>
          <a:bodyPr wrap="square" lIns="0" tIns="0" rIns="0" bIns="0" rtlCol="0" anchor="ctr">
            <a:normAutofit/>
          </a:bodyPr>
          <a:lstStyle/>
          <a:p>
            <a:pPr algn="l" indent="0" marL="0">
              <a:buNone/>
            </a:pPr>
            <a:r>
              <a:rPr lang="en-US" sz="1400" b="1" dirty="0">
                <a:solidFill>
                  <a:srgbClr val="AD0C72"/>
                </a:solidFill>
                <a:latin typeface="Aptos Mono" pitchFamily="34" charset="0"/>
                <a:ea typeface="Aptos Mono" pitchFamily="34" charset="-122"/>
                <a:cs typeface="Aptos Mono" pitchFamily="34" charset="-120"/>
              </a:rPr>
              <a:t>MULTI-HOST RUNNERS</a:t>
            </a:r>
            <a:endParaRPr lang="en-US" sz="1400" dirty="0"/>
          </a:p>
        </p:txBody>
      </p:sp>
      <p:sp>
        <p:nvSpPr>
          <p:cNvPr id="36" name="Text 33"/>
          <p:cNvSpPr/>
          <p:nvPr/>
        </p:nvSpPr>
        <p:spPr>
          <a:xfrm>
            <a:off x="877824" y="4937760"/>
            <a:ext cx="2926080" cy="594360"/>
          </a:xfrm>
          <a:prstGeom prst="rect">
            <a:avLst/>
          </a:prstGeom>
          <a:noFill/>
          <a:ln/>
        </p:spPr>
        <p:txBody>
          <a:bodyPr wrap="square" lIns="0" tIns="0" rIns="0" bIns="0" rtlCol="0" anchor="ctr">
            <a:normAutofit/>
          </a:bodyPr>
          <a:lstStyle/>
          <a:p>
            <a:pPr algn="l" indent="0" marL="0">
              <a:buNone/>
            </a:pPr>
            <a:r>
              <a:rPr lang="en-US" sz="1800" dirty="0">
                <a:solidFill>
                  <a:srgbClr val="15131A"/>
                </a:solidFill>
                <a:latin typeface="Aptos" pitchFamily="34" charset="0"/>
                <a:ea typeface="Aptos" pitchFamily="34" charset="-122"/>
                <a:cs typeface="Aptos" pitchFamily="34" charset="-120"/>
              </a:rPr>
              <a:t>Local laptop, remote SSH server, or cloud box</a:t>
            </a:r>
            <a:endParaRPr lang="en-US" sz="1800" dirty="0"/>
          </a:p>
        </p:txBody>
      </p:sp>
      <p:sp>
        <p:nvSpPr>
          <p:cNvPr id="37" name="Shape 34"/>
          <p:cNvSpPr/>
          <p:nvPr/>
        </p:nvSpPr>
        <p:spPr>
          <a:xfrm>
            <a:off x="4142232" y="4434840"/>
            <a:ext cx="3246120" cy="1234440"/>
          </a:xfrm>
          <a:prstGeom prst="rect">
            <a:avLst/>
          </a:prstGeom>
          <a:solidFill>
            <a:srgbClr val="FAF7F9"/>
          </a:solidFill>
          <a:ln w="12700">
            <a:solidFill>
              <a:srgbClr val="ECE8EE"/>
            </a:solidFill>
            <a:prstDash val="solid"/>
          </a:ln>
        </p:spPr>
      </p:sp>
      <p:sp>
        <p:nvSpPr>
          <p:cNvPr id="38" name="Text 35"/>
          <p:cNvSpPr/>
          <p:nvPr/>
        </p:nvSpPr>
        <p:spPr>
          <a:xfrm>
            <a:off x="4306824" y="4617720"/>
            <a:ext cx="2926080" cy="274320"/>
          </a:xfrm>
          <a:prstGeom prst="rect">
            <a:avLst/>
          </a:prstGeom>
          <a:noFill/>
          <a:ln/>
        </p:spPr>
        <p:txBody>
          <a:bodyPr wrap="square" lIns="0" tIns="0" rIns="0" bIns="0" rtlCol="0" anchor="ctr">
            <a:normAutofit/>
          </a:bodyPr>
          <a:lstStyle/>
          <a:p>
            <a:pPr algn="l" indent="0" marL="0">
              <a:buNone/>
            </a:pPr>
            <a:r>
              <a:rPr lang="en-US" sz="1400" b="1" dirty="0">
                <a:solidFill>
                  <a:srgbClr val="AD0C72"/>
                </a:solidFill>
                <a:latin typeface="Aptos Mono" pitchFamily="34" charset="0"/>
                <a:ea typeface="Aptos Mono" pitchFamily="34" charset="-122"/>
                <a:cs typeface="Aptos Mono" pitchFamily="34" charset="-120"/>
              </a:rPr>
              <a:t>CONTEXTUAL POLICY</a:t>
            </a:r>
            <a:endParaRPr lang="en-US" sz="1400" dirty="0"/>
          </a:p>
        </p:txBody>
      </p:sp>
      <p:sp>
        <p:nvSpPr>
          <p:cNvPr id="39" name="Text 36"/>
          <p:cNvSpPr/>
          <p:nvPr/>
        </p:nvSpPr>
        <p:spPr>
          <a:xfrm>
            <a:off x="4306824" y="4937760"/>
            <a:ext cx="2926080" cy="594360"/>
          </a:xfrm>
          <a:prstGeom prst="rect">
            <a:avLst/>
          </a:prstGeom>
          <a:noFill/>
          <a:ln/>
        </p:spPr>
        <p:txBody>
          <a:bodyPr wrap="square" lIns="0" tIns="0" rIns="0" bIns="0" rtlCol="0" anchor="ctr">
            <a:normAutofit/>
          </a:bodyPr>
          <a:lstStyle/>
          <a:p>
            <a:pPr algn="l" indent="0" marL="0">
              <a:buNone/>
            </a:pPr>
            <a:r>
              <a:rPr lang="en-US" sz="1800" dirty="0">
                <a:solidFill>
                  <a:srgbClr val="15131A"/>
                </a:solidFill>
                <a:latin typeface="Aptos" pitchFamily="34" charset="0"/>
                <a:ea typeface="Aptos" pitchFamily="34" charset="-122"/>
                <a:cs typeface="Aptos" pitchFamily="34" charset="-120"/>
              </a:rPr>
              <a:t>Dynamic data protection and live spend caps</a:t>
            </a:r>
            <a:endParaRPr lang="en-US" sz="1800" dirty="0"/>
          </a:p>
        </p:txBody>
      </p:sp>
      <p:sp>
        <p:nvSpPr>
          <p:cNvPr id="40" name="Shape 37"/>
          <p:cNvSpPr/>
          <p:nvPr/>
        </p:nvSpPr>
        <p:spPr>
          <a:xfrm>
            <a:off x="7571232" y="4434840"/>
            <a:ext cx="3246120" cy="1234440"/>
          </a:xfrm>
          <a:prstGeom prst="rect">
            <a:avLst/>
          </a:prstGeom>
          <a:solidFill>
            <a:srgbClr val="FAF7F9"/>
          </a:solidFill>
          <a:ln w="12700">
            <a:solidFill>
              <a:srgbClr val="ECE8EE"/>
            </a:solidFill>
            <a:prstDash val="solid"/>
          </a:ln>
        </p:spPr>
      </p:sp>
      <p:sp>
        <p:nvSpPr>
          <p:cNvPr id="41" name="Text 38"/>
          <p:cNvSpPr/>
          <p:nvPr/>
        </p:nvSpPr>
        <p:spPr>
          <a:xfrm>
            <a:off x="7735824" y="4617720"/>
            <a:ext cx="2926080" cy="274320"/>
          </a:xfrm>
          <a:prstGeom prst="rect">
            <a:avLst/>
          </a:prstGeom>
          <a:noFill/>
          <a:ln/>
        </p:spPr>
        <p:txBody>
          <a:bodyPr wrap="square" lIns="0" tIns="0" rIns="0" bIns="0" rtlCol="0" anchor="ctr">
            <a:normAutofit/>
          </a:bodyPr>
          <a:lstStyle/>
          <a:p>
            <a:pPr algn="l" indent="0" marL="0">
              <a:buNone/>
            </a:pPr>
            <a:r>
              <a:rPr lang="en-US" sz="1400" b="1" dirty="0">
                <a:solidFill>
                  <a:srgbClr val="AD0C72"/>
                </a:solidFill>
                <a:latin typeface="Aptos Mono" pitchFamily="34" charset="0"/>
                <a:ea typeface="Aptos Mono" pitchFamily="34" charset="-122"/>
                <a:cs typeface="Aptos Mono" pitchFamily="34" charset="-120"/>
              </a:rPr>
              <a:t>KERNEL SANDBOXING</a:t>
            </a:r>
            <a:endParaRPr lang="en-US" sz="1400" dirty="0"/>
          </a:p>
        </p:txBody>
      </p:sp>
      <p:sp>
        <p:nvSpPr>
          <p:cNvPr id="42" name="Text 39"/>
          <p:cNvSpPr/>
          <p:nvPr/>
        </p:nvSpPr>
        <p:spPr>
          <a:xfrm>
            <a:off x="7735824" y="4937760"/>
            <a:ext cx="2926080" cy="594360"/>
          </a:xfrm>
          <a:prstGeom prst="rect">
            <a:avLst/>
          </a:prstGeom>
          <a:noFill/>
          <a:ln/>
        </p:spPr>
        <p:txBody>
          <a:bodyPr wrap="square" lIns="0" tIns="0" rIns="0" bIns="0" rtlCol="0" anchor="ctr">
            <a:normAutofit/>
          </a:bodyPr>
          <a:lstStyle/>
          <a:p>
            <a:pPr algn="l" indent="0" marL="0">
              <a:buNone/>
            </a:pPr>
            <a:r>
              <a:rPr lang="en-US" sz="1800" dirty="0">
                <a:solidFill>
                  <a:srgbClr val="15131A"/>
                </a:solidFill>
                <a:latin typeface="Aptos" pitchFamily="34" charset="0"/>
                <a:ea typeface="Aptos" pitchFamily="34" charset="-122"/>
                <a:cs typeface="Aptos" pitchFamily="34" charset="-120"/>
              </a:rPr>
              <a:t>Docker, Bubblewrap, seccomp, and Kubernetes</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56032"/>
            <a:ext cx="411480" cy="201168"/>
          </a:xfrm>
          <a:prstGeom prst="rect">
            <a:avLst/>
          </a:prstGeom>
          <a:noFill/>
          <a:ln/>
        </p:spPr>
        <p:txBody>
          <a:bodyPr wrap="square" lIns="0" tIns="0" rIns="0" bIns="0" rtlCol="0" anchor="ctr">
            <a:normAutofit/>
          </a:bodyPr>
          <a:lstStyle/>
          <a:p>
            <a:pPr algn="l" indent="0" marL="0">
              <a:buNone/>
            </a:pPr>
            <a:r>
              <a:rPr lang="en-US" sz="1100" b="1" dirty="0">
                <a:solidFill>
                  <a:srgbClr val="AD0C72"/>
                </a:solidFill>
                <a:latin typeface="Aptos Mono" pitchFamily="34" charset="0"/>
                <a:ea typeface="Aptos Mono" pitchFamily="34" charset="-122"/>
                <a:cs typeface="Aptos Mono" pitchFamily="34" charset="-120"/>
              </a:rPr>
              <a:t>16</a:t>
            </a:r>
            <a:endParaRPr lang="en-US" sz="1100" dirty="0"/>
          </a:p>
        </p:txBody>
      </p:sp>
      <p:sp>
        <p:nvSpPr>
          <p:cNvPr id="3" name="Text 1"/>
          <p:cNvSpPr/>
          <p:nvPr/>
        </p:nvSpPr>
        <p:spPr>
          <a:xfrm>
            <a:off x="8961120" y="256032"/>
            <a:ext cx="2606040" cy="201168"/>
          </a:xfrm>
          <a:prstGeom prst="rect">
            <a:avLst/>
          </a:prstGeom>
          <a:noFill/>
          <a:ln/>
        </p:spPr>
        <p:txBody>
          <a:bodyPr wrap="square" lIns="0" tIns="0" rIns="0" bIns="0" rtlCol="0" anchor="ctr">
            <a:normAutofit/>
          </a:bodyPr>
          <a:lstStyle/>
          <a:p>
            <a:pPr algn="r" indent="0" marL="0">
              <a:buNone/>
            </a:pPr>
            <a:r>
              <a:rPr lang="en-US" sz="1000" b="1" dirty="0">
                <a:solidFill>
                  <a:srgbClr val="5C5765"/>
                </a:solidFill>
                <a:latin typeface="Aptos" pitchFamily="34" charset="0"/>
                <a:ea typeface="Aptos" pitchFamily="34" charset="-122"/>
                <a:cs typeface="Aptos" pitchFamily="34" charset="-120"/>
              </a:rPr>
              <a:t>Operational rules</a:t>
            </a:r>
            <a:endParaRPr lang="en-US" sz="1000" dirty="0"/>
          </a:p>
        </p:txBody>
      </p:sp>
      <p:sp>
        <p:nvSpPr>
          <p:cNvPr id="4" name="Shape 2"/>
          <p:cNvSpPr/>
          <p:nvPr/>
        </p:nvSpPr>
        <p:spPr>
          <a:xfrm>
            <a:off x="566928" y="566928"/>
            <a:ext cx="11045952" cy="0"/>
          </a:xfrm>
          <a:prstGeom prst="line">
            <a:avLst/>
          </a:prstGeom>
          <a:noFill/>
          <a:ln w="12700">
            <a:solidFill>
              <a:srgbClr val="ECE8EE"/>
            </a:solidFill>
            <a:prstDash val="solid"/>
          </a:ln>
        </p:spPr>
      </p:sp>
      <p:sp>
        <p:nvSpPr>
          <p:cNvPr id="5" name="Text 3"/>
          <p:cNvSpPr/>
          <p:nvPr/>
        </p:nvSpPr>
        <p:spPr>
          <a:xfrm>
            <a:off x="658368" y="786384"/>
            <a:ext cx="10881360" cy="566928"/>
          </a:xfrm>
          <a:prstGeom prst="rect">
            <a:avLst/>
          </a:prstGeom>
          <a:noFill/>
          <a:ln/>
        </p:spPr>
        <p:txBody>
          <a:bodyPr wrap="square" lIns="0" tIns="0" rIns="0" bIns="0" rtlCol="0" anchor="ctr">
            <a:normAutofit/>
          </a:bodyPr>
          <a:lstStyle/>
          <a:p>
            <a:pPr algn="l" indent="0" marL="0">
              <a:buNone/>
            </a:pPr>
            <a:r>
              <a:rPr lang="en-US" sz="3100" b="1" dirty="0">
                <a:solidFill>
                  <a:srgbClr val="15131A"/>
                </a:solidFill>
                <a:latin typeface="Aptos Display" pitchFamily="34" charset="0"/>
                <a:ea typeface="Aptos Display" pitchFamily="34" charset="-122"/>
                <a:cs typeface="Aptos Display" pitchFamily="34" charset="-120"/>
              </a:rPr>
              <a:t>Use the smallest workflow that works</a:t>
            </a:r>
            <a:endParaRPr lang="en-US" sz="3100" dirty="0"/>
          </a:p>
        </p:txBody>
      </p:sp>
      <p:sp>
        <p:nvSpPr>
          <p:cNvPr id="6" name="Text 4"/>
          <p:cNvSpPr/>
          <p:nvPr/>
        </p:nvSpPr>
        <p:spPr>
          <a:xfrm>
            <a:off x="658368" y="6144768"/>
            <a:ext cx="10789920" cy="182880"/>
          </a:xfrm>
          <a:prstGeom prst="rect">
            <a:avLst/>
          </a:prstGeom>
          <a:noFill/>
          <a:ln/>
        </p:spPr>
        <p:txBody>
          <a:bodyPr wrap="square" lIns="0" tIns="0" rIns="0" bIns="0" rtlCol="0" anchor="ctr">
            <a:normAutofit/>
          </a:bodyPr>
          <a:lstStyle/>
          <a:p>
            <a:pPr algn="l" indent="0" marL="0">
              <a:buNone/>
            </a:pPr>
            <a:r>
              <a:rPr lang="en-US" sz="1100" dirty="0">
                <a:solidFill>
                  <a:srgbClr val="5C5765"/>
                </a:solidFill>
                <a:latin typeface="Aptos" pitchFamily="34" charset="0"/>
                <a:ea typeface="Aptos" pitchFamily="34" charset="-122"/>
                <a:cs typeface="Aptos" pitchFamily="34" charset="-120"/>
              </a:rPr>
              <a:t>Omnigent: Apache-2.0 · alpha</a:t>
            </a:r>
            <a:endParaRPr lang="en-US" sz="1100" dirty="0"/>
          </a:p>
        </p:txBody>
      </p:sp>
      <p:sp>
        <p:nvSpPr>
          <p:cNvPr id="7" name="Text 5"/>
          <p:cNvSpPr/>
          <p:nvPr/>
        </p:nvSpPr>
        <p:spPr>
          <a:xfrm>
            <a:off x="658368" y="6400800"/>
            <a:ext cx="10469880" cy="219456"/>
          </a:xfrm>
          <a:prstGeom prst="rect">
            <a:avLst/>
          </a:prstGeom>
          <a:noFill/>
          <a:ln/>
        </p:spPr>
        <p:txBody>
          <a:bodyPr wrap="square" lIns="0" tIns="0" rIns="0" bIns="0" rtlCol="0" anchor="ctr">
            <a:normAutofit/>
          </a:bodyPr>
          <a:lstStyle/>
          <a:p>
            <a:pPr algn="l" indent="0" marL="0">
              <a:buNone/>
            </a:pPr>
            <a:r>
              <a:rPr lang="en-US" sz="1450" b="1" dirty="0">
                <a:solidFill>
                  <a:srgbClr val="AD0C72"/>
                </a:solidFill>
                <a:latin typeface="Aptos" pitchFamily="34" charset="0"/>
                <a:ea typeface="Aptos" pitchFamily="34" charset="-122"/>
                <a:cs typeface="Aptos" pitchFamily="34" charset="-120"/>
              </a:rPr>
              <a:t>@anxkhn</a:t>
            </a:r>
            <a:pPr algn="l" indent="0" marL="0">
              <a:buNone/>
            </a:pPr>
            <a:r>
              <a:rPr lang="en-US" sz="1450" b="1" dirty="0">
                <a:solidFill>
                  <a:srgbClr val="5C5765"/>
                </a:solidFill>
                <a:latin typeface="Aptos" pitchFamily="34" charset="0"/>
                <a:ea typeface="Aptos" pitchFamily="34" charset="-122"/>
                <a:cs typeface="Aptos" pitchFamily="34" charset="-120"/>
              </a:rPr>
              <a:t>  ·  #DevDays  ·  #DevDaysMumbai  ·  #mumtechup</a:t>
            </a:r>
            <a:endParaRPr lang="en-US" sz="1450" dirty="0"/>
          </a:p>
        </p:txBody>
      </p:sp>
      <p:sp>
        <p:nvSpPr>
          <p:cNvPr id="8" name="Text 6"/>
          <p:cNvSpPr/>
          <p:nvPr/>
        </p:nvSpPr>
        <p:spPr>
          <a:xfrm>
            <a:off x="11064240" y="6419088"/>
            <a:ext cx="438912" cy="182880"/>
          </a:xfrm>
          <a:prstGeom prst="rect">
            <a:avLst/>
          </a:prstGeom>
          <a:noFill/>
          <a:ln/>
        </p:spPr>
        <p:txBody>
          <a:bodyPr wrap="square" lIns="0" tIns="0" rIns="0" bIns="0" rtlCol="0" anchor="ctr">
            <a:normAutofit/>
          </a:bodyPr>
          <a:lstStyle/>
          <a:p>
            <a:pPr algn="r" indent="0" marL="0">
              <a:buNone/>
            </a:pPr>
            <a:r>
              <a:rPr lang="en-US" sz="1200" b="1" dirty="0">
                <a:solidFill>
                  <a:srgbClr val="5C5765"/>
                </a:solidFill>
                <a:latin typeface="Aptos Mono" pitchFamily="34" charset="0"/>
                <a:ea typeface="Aptos Mono" pitchFamily="34" charset="-122"/>
                <a:cs typeface="Aptos Mono" pitchFamily="34" charset="-120"/>
              </a:rPr>
              <a:t>16</a:t>
            </a:r>
            <a:endParaRPr lang="en-US" sz="1200" dirty="0"/>
          </a:p>
        </p:txBody>
      </p:sp>
      <p:sp>
        <p:nvSpPr>
          <p:cNvPr id="10" name="Text 7"/>
          <p:cNvSpPr/>
          <p:nvPr/>
        </p:nvSpPr>
        <p:spPr>
          <a:xfrm>
            <a:off x="822960" y="1609344"/>
            <a:ext cx="420624" cy="347472"/>
          </a:xfrm>
          <a:prstGeom prst="rect">
            <a:avLst/>
          </a:prstGeom>
          <a:noFill/>
          <a:ln/>
        </p:spPr>
        <p:txBody>
          <a:bodyPr wrap="square" lIns="0" tIns="0" rIns="0" bIns="0" rtlCol="0" anchor="ctr">
            <a:normAutofit/>
          </a:bodyPr>
          <a:lstStyle/>
          <a:p>
            <a:pPr algn="ctr" indent="0" marL="0">
              <a:buNone/>
            </a:pPr>
            <a:r>
              <a:rPr lang="en-US" sz="1800" b="1" dirty="0">
                <a:solidFill>
                  <a:srgbClr val="AD0C72"/>
                </a:solidFill>
                <a:latin typeface="Aptos Mono" pitchFamily="34" charset="0"/>
                <a:ea typeface="Aptos Mono" pitchFamily="34" charset="-122"/>
                <a:cs typeface="Aptos Mono" pitchFamily="34" charset="-120"/>
              </a:rPr>
              <a:t>1</a:t>
            </a:r>
            <a:endParaRPr lang="en-US" sz="1800" dirty="0"/>
          </a:p>
        </p:txBody>
      </p:sp>
      <p:sp>
        <p:nvSpPr>
          <p:cNvPr id="11" name="Text 8"/>
          <p:cNvSpPr/>
          <p:nvPr/>
        </p:nvSpPr>
        <p:spPr>
          <a:xfrm>
            <a:off x="1444752" y="1572768"/>
            <a:ext cx="8961120" cy="438912"/>
          </a:xfrm>
          <a:prstGeom prst="rect">
            <a:avLst/>
          </a:prstGeom>
          <a:noFill/>
          <a:ln/>
        </p:spPr>
        <p:txBody>
          <a:bodyPr wrap="square" lIns="0" tIns="0" rIns="0" bIns="0" rtlCol="0" anchor="ctr">
            <a:normAutofit/>
          </a:bodyPr>
          <a:lstStyle/>
          <a:p>
            <a:pPr algn="l" indent="0" marL="0">
              <a:buNone/>
            </a:pPr>
            <a:r>
              <a:rPr lang="en-US" sz="2400" b="1" dirty="0">
                <a:solidFill>
                  <a:srgbClr val="15131A"/>
                </a:solidFill>
                <a:latin typeface="Aptos" pitchFamily="34" charset="0"/>
                <a:ea typeface="Aptos" pitchFamily="34" charset="-122"/>
                <a:cs typeface="Aptos" pitchFamily="34" charset="-120"/>
              </a:rPr>
              <a:t>Keep Copilot primary when it handles the task.</a:t>
            </a:r>
            <a:endParaRPr lang="en-US" sz="2400" dirty="0"/>
          </a:p>
        </p:txBody>
      </p:sp>
      <p:sp>
        <p:nvSpPr>
          <p:cNvPr id="12" name="Shape 9"/>
          <p:cNvSpPr/>
          <p:nvPr/>
        </p:nvSpPr>
        <p:spPr>
          <a:xfrm>
            <a:off x="1444752" y="2093976"/>
            <a:ext cx="9326880" cy="0"/>
          </a:xfrm>
          <a:prstGeom prst="line">
            <a:avLst/>
          </a:prstGeom>
          <a:noFill/>
          <a:ln w="12700">
            <a:solidFill>
              <a:srgbClr val="ECE8EE"/>
            </a:solidFill>
            <a:prstDash val="solid"/>
          </a:ln>
        </p:spPr>
      </p:sp>
      <p:sp>
        <p:nvSpPr>
          <p:cNvPr id="13" name="Text 10"/>
          <p:cNvSpPr/>
          <p:nvPr/>
        </p:nvSpPr>
        <p:spPr>
          <a:xfrm>
            <a:off x="822960" y="2322576"/>
            <a:ext cx="420624" cy="347472"/>
          </a:xfrm>
          <a:prstGeom prst="rect">
            <a:avLst/>
          </a:prstGeom>
          <a:noFill/>
          <a:ln/>
        </p:spPr>
        <p:txBody>
          <a:bodyPr wrap="square" lIns="0" tIns="0" rIns="0" bIns="0" rtlCol="0" anchor="ctr">
            <a:normAutofit/>
          </a:bodyPr>
          <a:lstStyle/>
          <a:p>
            <a:pPr algn="ctr" indent="0" marL="0">
              <a:buNone/>
            </a:pPr>
            <a:r>
              <a:rPr lang="en-US" sz="1800" b="1" dirty="0">
                <a:solidFill>
                  <a:srgbClr val="AD0C72"/>
                </a:solidFill>
                <a:latin typeface="Aptos Mono" pitchFamily="34" charset="0"/>
                <a:ea typeface="Aptos Mono" pitchFamily="34" charset="-122"/>
                <a:cs typeface="Aptos Mono" pitchFamily="34" charset="-120"/>
              </a:rPr>
              <a:t>2</a:t>
            </a:r>
            <a:endParaRPr lang="en-US" sz="1800" dirty="0"/>
          </a:p>
        </p:txBody>
      </p:sp>
      <p:sp>
        <p:nvSpPr>
          <p:cNvPr id="14" name="Text 11"/>
          <p:cNvSpPr/>
          <p:nvPr/>
        </p:nvSpPr>
        <p:spPr>
          <a:xfrm>
            <a:off x="1444752" y="2286000"/>
            <a:ext cx="8961120" cy="438912"/>
          </a:xfrm>
          <a:prstGeom prst="rect">
            <a:avLst/>
          </a:prstGeom>
          <a:noFill/>
          <a:ln/>
        </p:spPr>
        <p:txBody>
          <a:bodyPr wrap="square" lIns="0" tIns="0" rIns="0" bIns="0" rtlCol="0" anchor="ctr">
            <a:normAutofit/>
          </a:bodyPr>
          <a:lstStyle/>
          <a:p>
            <a:pPr algn="l" indent="0" marL="0">
              <a:buNone/>
            </a:pPr>
            <a:r>
              <a:rPr lang="en-US" sz="2400" dirty="0">
                <a:solidFill>
                  <a:srgbClr val="15131A"/>
                </a:solidFill>
                <a:latin typeface="Aptos" pitchFamily="34" charset="0"/>
                <a:ea typeface="Aptos" pitchFamily="34" charset="-122"/>
                <a:cs typeface="Aptos" pitchFamily="34" charset="-120"/>
              </a:rPr>
              <a:t>Fork to another harness for a specific role.</a:t>
            </a:r>
            <a:endParaRPr lang="en-US" sz="2400" dirty="0"/>
          </a:p>
        </p:txBody>
      </p:sp>
      <p:sp>
        <p:nvSpPr>
          <p:cNvPr id="15" name="Shape 12"/>
          <p:cNvSpPr/>
          <p:nvPr/>
        </p:nvSpPr>
        <p:spPr>
          <a:xfrm>
            <a:off x="1444752" y="2807208"/>
            <a:ext cx="9326880" cy="0"/>
          </a:xfrm>
          <a:prstGeom prst="line">
            <a:avLst/>
          </a:prstGeom>
          <a:noFill/>
          <a:ln w="12700">
            <a:solidFill>
              <a:srgbClr val="ECE8EE"/>
            </a:solidFill>
            <a:prstDash val="solid"/>
          </a:ln>
        </p:spPr>
      </p:sp>
      <p:sp>
        <p:nvSpPr>
          <p:cNvPr id="16" name="Text 13"/>
          <p:cNvSpPr/>
          <p:nvPr/>
        </p:nvSpPr>
        <p:spPr>
          <a:xfrm>
            <a:off x="822960" y="3035808"/>
            <a:ext cx="420624" cy="347472"/>
          </a:xfrm>
          <a:prstGeom prst="rect">
            <a:avLst/>
          </a:prstGeom>
          <a:noFill/>
          <a:ln/>
        </p:spPr>
        <p:txBody>
          <a:bodyPr wrap="square" lIns="0" tIns="0" rIns="0" bIns="0" rtlCol="0" anchor="ctr">
            <a:normAutofit/>
          </a:bodyPr>
          <a:lstStyle/>
          <a:p>
            <a:pPr algn="ctr" indent="0" marL="0">
              <a:buNone/>
            </a:pPr>
            <a:r>
              <a:rPr lang="en-US" sz="1800" b="1" dirty="0">
                <a:solidFill>
                  <a:srgbClr val="AD0C72"/>
                </a:solidFill>
                <a:latin typeface="Aptos Mono" pitchFamily="34" charset="0"/>
                <a:ea typeface="Aptos Mono" pitchFamily="34" charset="-122"/>
                <a:cs typeface="Aptos Mono" pitchFamily="34" charset="-120"/>
              </a:rPr>
              <a:t>3</a:t>
            </a:r>
            <a:endParaRPr lang="en-US" sz="1800" dirty="0"/>
          </a:p>
        </p:txBody>
      </p:sp>
      <p:sp>
        <p:nvSpPr>
          <p:cNvPr id="17" name="Text 14"/>
          <p:cNvSpPr/>
          <p:nvPr/>
        </p:nvSpPr>
        <p:spPr>
          <a:xfrm>
            <a:off x="1444752" y="2999232"/>
            <a:ext cx="8961120" cy="438912"/>
          </a:xfrm>
          <a:prstGeom prst="rect">
            <a:avLst/>
          </a:prstGeom>
          <a:noFill/>
          <a:ln/>
        </p:spPr>
        <p:txBody>
          <a:bodyPr wrap="square" lIns="0" tIns="0" rIns="0" bIns="0" rtlCol="0" anchor="ctr">
            <a:normAutofit/>
          </a:bodyPr>
          <a:lstStyle/>
          <a:p>
            <a:pPr algn="l" indent="0" marL="0">
              <a:buNone/>
            </a:pPr>
            <a:r>
              <a:rPr lang="en-US" sz="2400" dirty="0">
                <a:solidFill>
                  <a:srgbClr val="15131A"/>
                </a:solidFill>
                <a:latin typeface="Aptos" pitchFamily="34" charset="0"/>
                <a:ea typeface="Aptos" pitchFamily="34" charset="-122"/>
                <a:cs typeface="Aptos" pitchFamily="34" charset="-120"/>
              </a:rPr>
              <a:t>Bind the target host and workspace explicitly.</a:t>
            </a:r>
            <a:endParaRPr lang="en-US" sz="2400" dirty="0"/>
          </a:p>
        </p:txBody>
      </p:sp>
      <p:sp>
        <p:nvSpPr>
          <p:cNvPr id="18" name="Shape 15"/>
          <p:cNvSpPr/>
          <p:nvPr/>
        </p:nvSpPr>
        <p:spPr>
          <a:xfrm>
            <a:off x="1444752" y="3520440"/>
            <a:ext cx="9326880" cy="0"/>
          </a:xfrm>
          <a:prstGeom prst="line">
            <a:avLst/>
          </a:prstGeom>
          <a:noFill/>
          <a:ln w="12700">
            <a:solidFill>
              <a:srgbClr val="ECE8EE"/>
            </a:solidFill>
            <a:prstDash val="solid"/>
          </a:ln>
        </p:spPr>
      </p:sp>
      <p:sp>
        <p:nvSpPr>
          <p:cNvPr id="19" name="Text 16"/>
          <p:cNvSpPr/>
          <p:nvPr/>
        </p:nvSpPr>
        <p:spPr>
          <a:xfrm>
            <a:off x="822960" y="3749040"/>
            <a:ext cx="420624" cy="347472"/>
          </a:xfrm>
          <a:prstGeom prst="rect">
            <a:avLst/>
          </a:prstGeom>
          <a:noFill/>
          <a:ln/>
        </p:spPr>
        <p:txBody>
          <a:bodyPr wrap="square" lIns="0" tIns="0" rIns="0" bIns="0" rtlCol="0" anchor="ctr">
            <a:normAutofit/>
          </a:bodyPr>
          <a:lstStyle/>
          <a:p>
            <a:pPr algn="ctr" indent="0" marL="0">
              <a:buNone/>
            </a:pPr>
            <a:r>
              <a:rPr lang="en-US" sz="1800" b="1" dirty="0">
                <a:solidFill>
                  <a:srgbClr val="AD0C72"/>
                </a:solidFill>
                <a:latin typeface="Aptos Mono" pitchFamily="34" charset="0"/>
                <a:ea typeface="Aptos Mono" pitchFamily="34" charset="-122"/>
                <a:cs typeface="Aptos Mono" pitchFamily="34" charset="-120"/>
              </a:rPr>
              <a:t>4</a:t>
            </a:r>
            <a:endParaRPr lang="en-US" sz="1800" dirty="0"/>
          </a:p>
        </p:txBody>
      </p:sp>
      <p:sp>
        <p:nvSpPr>
          <p:cNvPr id="20" name="Text 17"/>
          <p:cNvSpPr/>
          <p:nvPr/>
        </p:nvSpPr>
        <p:spPr>
          <a:xfrm>
            <a:off x="1444752" y="3712464"/>
            <a:ext cx="8961120" cy="438912"/>
          </a:xfrm>
          <a:prstGeom prst="rect">
            <a:avLst/>
          </a:prstGeom>
          <a:noFill/>
          <a:ln/>
        </p:spPr>
        <p:txBody>
          <a:bodyPr wrap="square" lIns="0" tIns="0" rIns="0" bIns="0" rtlCol="0" anchor="ctr">
            <a:normAutofit/>
          </a:bodyPr>
          <a:lstStyle/>
          <a:p>
            <a:pPr algn="l" indent="0" marL="0">
              <a:buNone/>
            </a:pPr>
            <a:r>
              <a:rPr lang="en-US" sz="2400" dirty="0">
                <a:solidFill>
                  <a:srgbClr val="15131A"/>
                </a:solidFill>
                <a:latin typeface="Aptos" pitchFamily="34" charset="0"/>
                <a:ea typeface="Aptos" pitchFamily="34" charset="-122"/>
                <a:cs typeface="Aptos" pitchFamily="34" charset="-120"/>
              </a:rPr>
              <a:t>Verify with tests after branching.</a:t>
            </a:r>
            <a:endParaRPr lang="en-US" sz="2400" dirty="0"/>
          </a:p>
        </p:txBody>
      </p:sp>
      <p:sp>
        <p:nvSpPr>
          <p:cNvPr id="21" name="Shape 18"/>
          <p:cNvSpPr/>
          <p:nvPr/>
        </p:nvSpPr>
        <p:spPr>
          <a:xfrm>
            <a:off x="1444752" y="4233672"/>
            <a:ext cx="9326880" cy="0"/>
          </a:xfrm>
          <a:prstGeom prst="line">
            <a:avLst/>
          </a:prstGeom>
          <a:noFill/>
          <a:ln w="12700">
            <a:solidFill>
              <a:srgbClr val="ECE8EE"/>
            </a:solidFill>
            <a:prstDash val="solid"/>
          </a:ln>
        </p:spPr>
      </p:sp>
      <p:sp>
        <p:nvSpPr>
          <p:cNvPr id="22" name="Text 19"/>
          <p:cNvSpPr/>
          <p:nvPr/>
        </p:nvSpPr>
        <p:spPr>
          <a:xfrm>
            <a:off x="822960" y="4462272"/>
            <a:ext cx="420624" cy="347472"/>
          </a:xfrm>
          <a:prstGeom prst="rect">
            <a:avLst/>
          </a:prstGeom>
          <a:noFill/>
          <a:ln/>
        </p:spPr>
        <p:txBody>
          <a:bodyPr wrap="square" lIns="0" tIns="0" rIns="0" bIns="0" rtlCol="0" anchor="ctr">
            <a:normAutofit/>
          </a:bodyPr>
          <a:lstStyle/>
          <a:p>
            <a:pPr algn="ctr" indent="0" marL="0">
              <a:buNone/>
            </a:pPr>
            <a:r>
              <a:rPr lang="en-US" sz="1800" b="1" dirty="0">
                <a:solidFill>
                  <a:srgbClr val="AD0C72"/>
                </a:solidFill>
                <a:latin typeface="Aptos Mono" pitchFamily="34" charset="0"/>
                <a:ea typeface="Aptos Mono" pitchFamily="34" charset="-122"/>
                <a:cs typeface="Aptos Mono" pitchFamily="34" charset="-120"/>
              </a:rPr>
              <a:t>5</a:t>
            </a:r>
            <a:endParaRPr lang="en-US" sz="1800" dirty="0"/>
          </a:p>
        </p:txBody>
      </p:sp>
      <p:sp>
        <p:nvSpPr>
          <p:cNvPr id="23" name="Text 20"/>
          <p:cNvSpPr/>
          <p:nvPr/>
        </p:nvSpPr>
        <p:spPr>
          <a:xfrm>
            <a:off x="1444752" y="4425696"/>
            <a:ext cx="8961120" cy="438912"/>
          </a:xfrm>
          <a:prstGeom prst="rect">
            <a:avLst/>
          </a:prstGeom>
          <a:noFill/>
          <a:ln/>
        </p:spPr>
        <p:txBody>
          <a:bodyPr wrap="square" lIns="0" tIns="0" rIns="0" bIns="0" rtlCol="0" anchor="ctr">
            <a:normAutofit/>
          </a:bodyPr>
          <a:lstStyle/>
          <a:p>
            <a:pPr algn="l" indent="0" marL="0">
              <a:buNone/>
            </a:pPr>
            <a:r>
              <a:rPr lang="en-US" sz="2400" dirty="0">
                <a:solidFill>
                  <a:srgbClr val="15131A"/>
                </a:solidFill>
                <a:latin typeface="Aptos" pitchFamily="34" charset="0"/>
                <a:ea typeface="Aptos" pitchFamily="34" charset="-122"/>
                <a:cs typeface="Aptos" pitchFamily="34" charset="-120"/>
              </a:rPr>
              <a:t>Stop once the job is verified.</a:t>
            </a:r>
            <a:endParaRPr lang="en-US" sz="2400" dirty="0"/>
          </a:p>
        </p:txBody>
      </p:sp>
      <p:sp>
        <p:nvSpPr>
          <p:cNvPr id="24" name="Shape 21"/>
          <p:cNvSpPr/>
          <p:nvPr/>
        </p:nvSpPr>
        <p:spPr>
          <a:xfrm>
            <a:off x="1444752" y="4946904"/>
            <a:ext cx="9326880" cy="0"/>
          </a:xfrm>
          <a:prstGeom prst="line">
            <a:avLst/>
          </a:prstGeom>
          <a:noFill/>
          <a:ln w="12700">
            <a:solidFill>
              <a:srgbClr val="ECE8EE"/>
            </a:solidFill>
            <a:prstDash val="solid"/>
          </a:ln>
        </p:spPr>
      </p:sp>
      <p:sp>
        <p:nvSpPr>
          <p:cNvPr id="25" name="Shape 22"/>
          <p:cNvSpPr/>
          <p:nvPr/>
        </p:nvSpPr>
        <p:spPr>
          <a:xfrm>
            <a:off x="713232" y="5349240"/>
            <a:ext cx="10561320" cy="640080"/>
          </a:xfrm>
          <a:prstGeom prst="rect">
            <a:avLst/>
          </a:prstGeom>
          <a:solidFill>
            <a:srgbClr val="FCE6F4"/>
          </a:solidFill>
          <a:ln w="12700">
            <a:solidFill>
              <a:srgbClr val="FCE6F4"/>
            </a:solidFill>
            <a:prstDash val="solid"/>
          </a:ln>
        </p:spPr>
      </p:sp>
      <p:sp>
        <p:nvSpPr>
          <p:cNvPr id="26" name="Text 23"/>
          <p:cNvSpPr/>
          <p:nvPr/>
        </p:nvSpPr>
        <p:spPr>
          <a:xfrm>
            <a:off x="914400" y="5513832"/>
            <a:ext cx="7132320" cy="256032"/>
          </a:xfrm>
          <a:prstGeom prst="rect">
            <a:avLst/>
          </a:prstGeom>
          <a:noFill/>
          <a:ln/>
        </p:spPr>
        <p:txBody>
          <a:bodyPr wrap="square" lIns="0" tIns="0" rIns="0" bIns="0" rtlCol="0" anchor="ctr">
            <a:normAutofit/>
          </a:bodyPr>
          <a:lstStyle/>
          <a:p>
            <a:pPr algn="l" indent="0" marL="0">
              <a:buNone/>
            </a:pPr>
            <a:r>
              <a:rPr lang="en-US" sz="1800" b="1" dirty="0">
                <a:solidFill>
                  <a:srgbClr val="AD0C72"/>
                </a:solidFill>
                <a:latin typeface="Aptos" pitchFamily="34" charset="0"/>
                <a:ea typeface="Aptos" pitchFamily="34" charset="-122"/>
                <a:cs typeface="Aptos" pitchFamily="34" charset="-120"/>
              </a:rPr>
              <a:t>Usage records provide operational telemetry, separate from the provider invoice.</a:t>
            </a:r>
            <a:endParaRPr lang="en-US" sz="1800" dirty="0"/>
          </a:p>
        </p:txBody>
      </p:sp>
      <p:sp>
        <p:nvSpPr>
          <p:cNvPr id="27" name="Text 24"/>
          <p:cNvSpPr/>
          <p:nvPr/>
        </p:nvSpPr>
        <p:spPr>
          <a:xfrm>
            <a:off x="8046720" y="5513832"/>
            <a:ext cx="2834640" cy="256032"/>
          </a:xfrm>
          <a:prstGeom prst="rect">
            <a:avLst/>
          </a:prstGeom>
          <a:noFill/>
          <a:ln/>
        </p:spPr>
        <p:txBody>
          <a:bodyPr wrap="square" lIns="0" tIns="0" rIns="0" bIns="0" rtlCol="0" anchor="ctr">
            <a:normAutofit/>
          </a:bodyPr>
          <a:lstStyle/>
          <a:p>
            <a:pPr algn="r" indent="0" marL="0">
              <a:buNone/>
            </a:pPr>
            <a:r>
              <a:rPr lang="en-US" sz="1600" b="1" dirty="0">
                <a:solidFill>
                  <a:srgbClr val="5C5765"/>
                </a:solidFill>
                <a:latin typeface="Aptos" pitchFamily="34" charset="0"/>
                <a:ea typeface="Aptos" pitchFamily="34" charset="-122"/>
                <a:cs typeface="Aptos" pitchFamily="34" charset="-120"/>
              </a:rPr>
              <a:t>Omnigent labels itself alpha.</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5131A"/>
        </a:solidFill>
      </p:bgPr>
    </p:bg>
    <p:spTree>
      <p:nvGrpSpPr>
        <p:cNvPr id="1" name=""/>
        <p:cNvGrpSpPr/>
        <p:nvPr/>
      </p:nvGrpSpPr>
      <p:grpSpPr>
        <a:xfrm>
          <a:off x="0" y="0"/>
          <a:ext cx="0" cy="0"/>
          <a:chOff x="0" y="0"/>
          <a:chExt cx="0" cy="0"/>
        </a:xfrm>
      </p:grpSpPr>
      <p:sp>
        <p:nvSpPr>
          <p:cNvPr id="2" name="Text 0"/>
          <p:cNvSpPr/>
          <p:nvPr/>
        </p:nvSpPr>
        <p:spPr>
          <a:xfrm>
            <a:off x="566928" y="256032"/>
            <a:ext cx="411480" cy="201168"/>
          </a:xfrm>
          <a:prstGeom prst="rect">
            <a:avLst/>
          </a:prstGeom>
          <a:noFill/>
          <a:ln/>
        </p:spPr>
        <p:txBody>
          <a:bodyPr wrap="square" lIns="0" tIns="0" rIns="0" bIns="0" rtlCol="0" anchor="ctr">
            <a:normAutofit/>
          </a:bodyPr>
          <a:lstStyle/>
          <a:p>
            <a:pPr algn="l" indent="0" marL="0">
              <a:buNone/>
            </a:pPr>
            <a:r>
              <a:rPr lang="en-US" sz="1100" b="1" dirty="0">
                <a:solidFill>
                  <a:srgbClr val="AD0C72"/>
                </a:solidFill>
                <a:latin typeface="Aptos Mono" pitchFamily="34" charset="0"/>
                <a:ea typeface="Aptos Mono" pitchFamily="34" charset="-122"/>
                <a:cs typeface="Aptos Mono" pitchFamily="34" charset="-120"/>
              </a:rPr>
              <a:t>17</a:t>
            </a:r>
            <a:endParaRPr lang="en-US" sz="1100" dirty="0"/>
          </a:p>
        </p:txBody>
      </p:sp>
      <p:sp>
        <p:nvSpPr>
          <p:cNvPr id="3" name="Text 1"/>
          <p:cNvSpPr/>
          <p:nvPr/>
        </p:nvSpPr>
        <p:spPr>
          <a:xfrm>
            <a:off x="8961120" y="256032"/>
            <a:ext cx="2606040" cy="201168"/>
          </a:xfrm>
          <a:prstGeom prst="rect">
            <a:avLst/>
          </a:prstGeom>
          <a:noFill/>
          <a:ln/>
        </p:spPr>
        <p:txBody>
          <a:bodyPr wrap="square" lIns="0" tIns="0" rIns="0" bIns="0" rtlCol="0" anchor="ctr">
            <a:normAutofit/>
          </a:bodyPr>
          <a:lstStyle/>
          <a:p>
            <a:pPr algn="r" indent="0" marL="0">
              <a:buNone/>
            </a:pPr>
            <a:r>
              <a:rPr lang="en-US" sz="1000" b="1" dirty="0">
                <a:solidFill>
                  <a:srgbClr val="BDB5C4"/>
                </a:solidFill>
                <a:latin typeface="Aptos" pitchFamily="34" charset="0"/>
                <a:ea typeface="Aptos" pitchFamily="34" charset="-122"/>
                <a:cs typeface="Aptos" pitchFamily="34" charset="-120"/>
              </a:rPr>
              <a:t>Closing synthesis</a:t>
            </a:r>
            <a:endParaRPr lang="en-US" sz="1000" dirty="0"/>
          </a:p>
        </p:txBody>
      </p:sp>
      <p:sp>
        <p:nvSpPr>
          <p:cNvPr id="4" name="Shape 2"/>
          <p:cNvSpPr/>
          <p:nvPr/>
        </p:nvSpPr>
        <p:spPr>
          <a:xfrm>
            <a:off x="566928" y="566928"/>
            <a:ext cx="11045952" cy="0"/>
          </a:xfrm>
          <a:prstGeom prst="line">
            <a:avLst/>
          </a:prstGeom>
          <a:noFill/>
          <a:ln w="12700">
            <a:solidFill>
              <a:srgbClr val="3A3441"/>
            </a:solidFill>
            <a:prstDash val="solid"/>
          </a:ln>
        </p:spPr>
      </p:sp>
      <p:sp>
        <p:nvSpPr>
          <p:cNvPr id="5" name="Text 3"/>
          <p:cNvSpPr/>
          <p:nvPr/>
        </p:nvSpPr>
        <p:spPr>
          <a:xfrm>
            <a:off x="658368" y="786384"/>
            <a:ext cx="10881360" cy="566928"/>
          </a:xfrm>
          <a:prstGeom prst="rect">
            <a:avLst/>
          </a:prstGeom>
          <a:noFill/>
          <a:ln/>
        </p:spPr>
        <p:txBody>
          <a:bodyPr wrap="square" lIns="0" tIns="0" rIns="0" bIns="0" rtlCol="0" anchor="ctr">
            <a:normAutofit/>
          </a:bodyPr>
          <a:lstStyle/>
          <a:p>
            <a:pPr algn="l" indent="0" marL="0">
              <a:buNone/>
            </a:pPr>
            <a:r>
              <a:rPr lang="en-US" sz="3100" b="1" dirty="0">
                <a:solidFill>
                  <a:srgbClr val="F4EEF2"/>
                </a:solidFill>
                <a:latin typeface="Aptos Display" pitchFamily="34" charset="0"/>
                <a:ea typeface="Aptos Display" pitchFamily="34" charset="-122"/>
                <a:cs typeface="Aptos Display" pitchFamily="34" charset="-120"/>
              </a:rPr>
              <a:t>Keep the evidence portable</a:t>
            </a:r>
            <a:endParaRPr lang="en-US" sz="3100" dirty="0"/>
          </a:p>
        </p:txBody>
      </p:sp>
      <p:sp>
        <p:nvSpPr>
          <p:cNvPr id="6" name="Text 4"/>
          <p:cNvSpPr/>
          <p:nvPr/>
        </p:nvSpPr>
        <p:spPr>
          <a:xfrm>
            <a:off x="658368" y="6400800"/>
            <a:ext cx="10469880" cy="219456"/>
          </a:xfrm>
          <a:prstGeom prst="rect">
            <a:avLst/>
          </a:prstGeom>
          <a:noFill/>
          <a:ln/>
        </p:spPr>
        <p:txBody>
          <a:bodyPr wrap="square" lIns="0" tIns="0" rIns="0" bIns="0" rtlCol="0" anchor="ctr">
            <a:normAutofit/>
          </a:bodyPr>
          <a:lstStyle/>
          <a:p>
            <a:pPr algn="l" indent="0" marL="0">
              <a:buNone/>
            </a:pPr>
            <a:r>
              <a:rPr lang="en-US" sz="1450" b="1" dirty="0">
                <a:solidFill>
                  <a:srgbClr val="AD0C72"/>
                </a:solidFill>
                <a:latin typeface="Aptos" pitchFamily="34" charset="0"/>
                <a:ea typeface="Aptos" pitchFamily="34" charset="-122"/>
                <a:cs typeface="Aptos" pitchFamily="34" charset="-120"/>
              </a:rPr>
              <a:t>@anxkhn</a:t>
            </a:r>
            <a:pPr algn="l" indent="0" marL="0">
              <a:buNone/>
            </a:pPr>
            <a:r>
              <a:rPr lang="en-US" sz="1450" b="1" dirty="0">
                <a:solidFill>
                  <a:srgbClr val="F4EEF2"/>
                </a:solidFill>
                <a:latin typeface="Aptos" pitchFamily="34" charset="0"/>
                <a:ea typeface="Aptos" pitchFamily="34" charset="-122"/>
                <a:cs typeface="Aptos" pitchFamily="34" charset="-120"/>
              </a:rPr>
              <a:t>  ·  #DevDays  ·  #DevDaysMumbai  ·  #mumtechup</a:t>
            </a:r>
            <a:endParaRPr lang="en-US" sz="1450" dirty="0"/>
          </a:p>
        </p:txBody>
      </p:sp>
      <p:sp>
        <p:nvSpPr>
          <p:cNvPr id="7" name="Text 5"/>
          <p:cNvSpPr/>
          <p:nvPr/>
        </p:nvSpPr>
        <p:spPr>
          <a:xfrm>
            <a:off x="11064240" y="6419088"/>
            <a:ext cx="438912" cy="182880"/>
          </a:xfrm>
          <a:prstGeom prst="rect">
            <a:avLst/>
          </a:prstGeom>
          <a:noFill/>
          <a:ln/>
        </p:spPr>
        <p:txBody>
          <a:bodyPr wrap="square" lIns="0" tIns="0" rIns="0" bIns="0" rtlCol="0" anchor="ctr">
            <a:normAutofit/>
          </a:bodyPr>
          <a:lstStyle/>
          <a:p>
            <a:pPr algn="r" indent="0" marL="0">
              <a:buNone/>
            </a:pPr>
            <a:r>
              <a:rPr lang="en-US" sz="1200" b="1" dirty="0">
                <a:solidFill>
                  <a:srgbClr val="BDB5C4"/>
                </a:solidFill>
                <a:latin typeface="Aptos Mono" pitchFamily="34" charset="0"/>
                <a:ea typeface="Aptos Mono" pitchFamily="34" charset="-122"/>
                <a:cs typeface="Aptos Mono" pitchFamily="34" charset="-120"/>
              </a:rPr>
              <a:t>17</a:t>
            </a:r>
            <a:endParaRPr lang="en-US" sz="1200" dirty="0"/>
          </a:p>
        </p:txBody>
      </p:sp>
      <p:sp>
        <p:nvSpPr>
          <p:cNvPr id="9" name="Text 6"/>
          <p:cNvSpPr/>
          <p:nvPr/>
        </p:nvSpPr>
        <p:spPr>
          <a:xfrm>
            <a:off x="731520" y="1463040"/>
            <a:ext cx="10698480" cy="502920"/>
          </a:xfrm>
          <a:prstGeom prst="rect">
            <a:avLst/>
          </a:prstGeom>
          <a:noFill/>
          <a:ln/>
        </p:spPr>
        <p:txBody>
          <a:bodyPr wrap="square" lIns="0" tIns="0" rIns="0" bIns="0" rtlCol="0" anchor="ctr">
            <a:normAutofit/>
          </a:bodyPr>
          <a:lstStyle/>
          <a:p>
            <a:pPr algn="l" indent="0" marL="0">
              <a:buNone/>
            </a:pPr>
            <a:r>
              <a:rPr lang="en-US" sz="2800" b="1" dirty="0">
                <a:solidFill>
                  <a:srgbClr val="ED1C9C"/>
                </a:solidFill>
                <a:latin typeface="Aptos Mono" pitchFamily="34" charset="0"/>
                <a:ea typeface="Aptos Mono" pitchFamily="34" charset="-122"/>
                <a:cs typeface="Aptos Mono" pitchFamily="34" charset="-120"/>
              </a:rPr>
              <a:t>EMPOWERING DEVELOPERS WITH META-HARNESSES</a:t>
            </a:r>
            <a:endParaRPr lang="en-US" sz="2800" dirty="0"/>
          </a:p>
        </p:txBody>
      </p:sp>
      <p:sp>
        <p:nvSpPr>
          <p:cNvPr id="10" name="Shape 7"/>
          <p:cNvSpPr/>
          <p:nvPr/>
        </p:nvSpPr>
        <p:spPr>
          <a:xfrm>
            <a:off x="731520" y="2240280"/>
            <a:ext cx="3337560" cy="2468880"/>
          </a:xfrm>
          <a:prstGeom prst="rect">
            <a:avLst/>
          </a:prstGeom>
          <a:solidFill>
            <a:srgbClr val="1F1B27"/>
          </a:solidFill>
          <a:ln w="12700">
            <a:solidFill>
              <a:srgbClr val="3A3441"/>
            </a:solidFill>
            <a:prstDash val="solid"/>
          </a:ln>
        </p:spPr>
      </p:sp>
      <p:sp>
        <p:nvSpPr>
          <p:cNvPr id="11" name="Text 8"/>
          <p:cNvSpPr/>
          <p:nvPr/>
        </p:nvSpPr>
        <p:spPr>
          <a:xfrm>
            <a:off x="960120" y="2514600"/>
            <a:ext cx="2880360" cy="320040"/>
          </a:xfrm>
          <a:prstGeom prst="rect">
            <a:avLst/>
          </a:prstGeom>
          <a:noFill/>
          <a:ln/>
        </p:spPr>
        <p:txBody>
          <a:bodyPr wrap="square" lIns="0" tIns="0" rIns="0" bIns="0" rtlCol="0" anchor="ctr">
            <a:normAutofit/>
          </a:bodyPr>
          <a:lstStyle/>
          <a:p>
            <a:pPr algn="l" indent="0" marL="0">
              <a:buNone/>
            </a:pPr>
            <a:r>
              <a:rPr lang="en-US" sz="1800" b="1" dirty="0">
                <a:solidFill>
                  <a:srgbClr val="4DC5A0"/>
                </a:solidFill>
                <a:latin typeface="Aptos Mono" pitchFamily="34" charset="0"/>
                <a:ea typeface="Aptos Mono" pitchFamily="34" charset="-122"/>
                <a:cs typeface="Aptos Mono" pitchFamily="34" charset="-120"/>
              </a:rPr>
              <a:t>SUBSIDIZED ACCESS</a:t>
            </a:r>
            <a:endParaRPr lang="en-US" sz="1800" dirty="0"/>
          </a:p>
        </p:txBody>
      </p:sp>
      <p:sp>
        <p:nvSpPr>
          <p:cNvPr id="12" name="Text 9"/>
          <p:cNvSpPr/>
          <p:nvPr/>
        </p:nvSpPr>
        <p:spPr>
          <a:xfrm>
            <a:off x="960120" y="3017520"/>
            <a:ext cx="2880360" cy="1463040"/>
          </a:xfrm>
          <a:prstGeom prst="rect">
            <a:avLst/>
          </a:prstGeom>
          <a:noFill/>
          <a:ln/>
        </p:spPr>
        <p:txBody>
          <a:bodyPr wrap="square" lIns="0" tIns="0" rIns="0" bIns="0" rtlCol="0" anchor="ctr">
            <a:normAutofit/>
          </a:bodyPr>
          <a:lstStyle/>
          <a:p>
            <a:pPr algn="l" indent="0" marL="0">
              <a:buNone/>
            </a:pPr>
            <a:r>
              <a:rPr lang="en-US" sz="2000" dirty="0">
                <a:solidFill>
                  <a:srgbClr val="BDB5C4"/>
                </a:solidFill>
                <a:latin typeface="Aptos" pitchFamily="34" charset="0"/>
                <a:ea typeface="Aptos" pitchFamily="34" charset="-122"/>
                <a:cs typeface="Aptos" pitchFamily="34" charset="-120"/>
              </a:rPr>
              <a:t>Flat-rate coding plans give developers</a:t>
            </a:r>
            <a:endParaRPr lang="en-US" sz="2000" dirty="0"/>
          </a:p>
          <a:p>
            <a:pPr algn="l" indent="0" marL="0">
              <a:buNone/>
            </a:pPr>
            <a:r>
              <a:rPr lang="en-US" sz="2000" dirty="0">
                <a:solidFill>
                  <a:srgbClr val="BDB5C4"/>
                </a:solidFill>
                <a:latin typeface="Aptos" pitchFamily="34" charset="0"/>
                <a:ea typeface="Aptos" pitchFamily="34" charset="-122"/>
                <a:cs typeface="Aptos" pitchFamily="34" charset="-120"/>
              </a:rPr>
              <a:t>frontier reasoning models without</a:t>
            </a:r>
            <a:endParaRPr lang="en-US" sz="2000" dirty="0"/>
          </a:p>
          <a:p>
            <a:pPr algn="l" indent="0" marL="0">
              <a:buNone/>
            </a:pPr>
            <a:r>
              <a:rPr lang="en-US" sz="2000" dirty="0">
                <a:solidFill>
                  <a:srgbClr val="BDB5C4"/>
                </a:solidFill>
                <a:latin typeface="Aptos" pitchFamily="34" charset="0"/>
                <a:ea typeface="Aptos" pitchFamily="34" charset="-122"/>
                <a:cs typeface="Aptos" pitchFamily="34" charset="-120"/>
              </a:rPr>
              <a:t>runaway per-token API bills.</a:t>
            </a:r>
            <a:endParaRPr lang="en-US" sz="2000" dirty="0"/>
          </a:p>
        </p:txBody>
      </p:sp>
      <p:sp>
        <p:nvSpPr>
          <p:cNvPr id="13" name="Shape 10"/>
          <p:cNvSpPr/>
          <p:nvPr/>
        </p:nvSpPr>
        <p:spPr>
          <a:xfrm>
            <a:off x="4297680" y="2240280"/>
            <a:ext cx="3337560" cy="2468880"/>
          </a:xfrm>
          <a:prstGeom prst="rect">
            <a:avLst/>
          </a:prstGeom>
          <a:solidFill>
            <a:srgbClr val="1F1B27"/>
          </a:solidFill>
          <a:ln w="12700">
            <a:solidFill>
              <a:srgbClr val="3A3441"/>
            </a:solidFill>
            <a:prstDash val="solid"/>
          </a:ln>
        </p:spPr>
      </p:sp>
      <p:sp>
        <p:nvSpPr>
          <p:cNvPr id="14" name="Text 11"/>
          <p:cNvSpPr/>
          <p:nvPr/>
        </p:nvSpPr>
        <p:spPr>
          <a:xfrm>
            <a:off x="4526280" y="2514600"/>
            <a:ext cx="2880360" cy="320040"/>
          </a:xfrm>
          <a:prstGeom prst="rect">
            <a:avLst/>
          </a:prstGeom>
          <a:noFill/>
          <a:ln/>
        </p:spPr>
        <p:txBody>
          <a:bodyPr wrap="square" lIns="0" tIns="0" rIns="0" bIns="0" rtlCol="0" anchor="ctr">
            <a:normAutofit/>
          </a:bodyPr>
          <a:lstStyle/>
          <a:p>
            <a:pPr algn="l" indent="0" marL="0">
              <a:buNone/>
            </a:pPr>
            <a:r>
              <a:rPr lang="en-US" sz="1800" b="1" dirty="0">
                <a:solidFill>
                  <a:srgbClr val="F4EEF2"/>
                </a:solidFill>
                <a:latin typeface="Aptos Mono" pitchFamily="34" charset="0"/>
                <a:ea typeface="Aptos Mono" pitchFamily="34" charset="-122"/>
                <a:cs typeface="Aptos Mono" pitchFamily="34" charset="-120"/>
              </a:rPr>
              <a:t>ZERO RE-LEARNING</a:t>
            </a:r>
            <a:endParaRPr lang="en-US" sz="1800" dirty="0"/>
          </a:p>
        </p:txBody>
      </p:sp>
      <p:sp>
        <p:nvSpPr>
          <p:cNvPr id="15" name="Text 12"/>
          <p:cNvSpPr/>
          <p:nvPr/>
        </p:nvSpPr>
        <p:spPr>
          <a:xfrm>
            <a:off x="4526280" y="3017520"/>
            <a:ext cx="2880360" cy="1463040"/>
          </a:xfrm>
          <a:prstGeom prst="rect">
            <a:avLst/>
          </a:prstGeom>
          <a:noFill/>
          <a:ln/>
        </p:spPr>
        <p:txBody>
          <a:bodyPr wrap="square" lIns="0" tIns="0" rIns="0" bIns="0" rtlCol="0" anchor="ctr">
            <a:normAutofit/>
          </a:bodyPr>
          <a:lstStyle/>
          <a:p>
            <a:pPr algn="l" indent="0" marL="0">
              <a:buNone/>
            </a:pPr>
            <a:r>
              <a:rPr lang="en-US" sz="2000" dirty="0">
                <a:solidFill>
                  <a:srgbClr val="BDB5C4"/>
                </a:solidFill>
                <a:latin typeface="Aptos" pitchFamily="34" charset="0"/>
                <a:ea typeface="Aptos" pitchFamily="34" charset="-122"/>
                <a:cs typeface="Aptos" pitchFamily="34" charset="-120"/>
              </a:rPr>
              <a:t>Maintain all context in a single session</a:t>
            </a:r>
            <a:endParaRPr lang="en-US" sz="2000" dirty="0"/>
          </a:p>
          <a:p>
            <a:pPr algn="l" indent="0" marL="0">
              <a:buNone/>
            </a:pPr>
            <a:r>
              <a:rPr lang="en-US" sz="2000" dirty="0">
                <a:solidFill>
                  <a:srgbClr val="BDB5C4"/>
                </a:solidFill>
                <a:latin typeface="Aptos" pitchFamily="34" charset="0"/>
                <a:ea typeface="Aptos" pitchFamily="34" charset="-122"/>
                <a:cs typeface="Aptos" pitchFamily="34" charset="-120"/>
              </a:rPr>
              <a:t>instead of re-learning ten disparate</a:t>
            </a:r>
            <a:endParaRPr lang="en-US" sz="2000" dirty="0"/>
          </a:p>
          <a:p>
            <a:pPr algn="l" indent="0" marL="0">
              <a:buNone/>
            </a:pPr>
            <a:r>
              <a:rPr lang="en-US" sz="2000" dirty="0">
                <a:solidFill>
                  <a:srgbClr val="BDB5C4"/>
                </a:solidFill>
                <a:latin typeface="Aptos" pitchFamily="34" charset="0"/>
                <a:ea typeface="Aptos" pitchFamily="34" charset="-122"/>
                <a:cs typeface="Aptos" pitchFamily="34" charset="-120"/>
              </a:rPr>
              <a:t>CLI harnesses, prompt tools, and configs.</a:t>
            </a:r>
            <a:endParaRPr lang="en-US" sz="2000" dirty="0"/>
          </a:p>
        </p:txBody>
      </p:sp>
      <p:sp>
        <p:nvSpPr>
          <p:cNvPr id="16" name="Shape 13"/>
          <p:cNvSpPr/>
          <p:nvPr/>
        </p:nvSpPr>
        <p:spPr>
          <a:xfrm>
            <a:off x="7863840" y="2240280"/>
            <a:ext cx="3337560" cy="2468880"/>
          </a:xfrm>
          <a:prstGeom prst="rect">
            <a:avLst/>
          </a:prstGeom>
          <a:solidFill>
            <a:srgbClr val="1F1B27"/>
          </a:solidFill>
          <a:ln w="12700">
            <a:solidFill>
              <a:srgbClr val="3A3441"/>
            </a:solidFill>
            <a:prstDash val="solid"/>
          </a:ln>
        </p:spPr>
      </p:sp>
      <p:sp>
        <p:nvSpPr>
          <p:cNvPr id="17" name="Text 14"/>
          <p:cNvSpPr/>
          <p:nvPr/>
        </p:nvSpPr>
        <p:spPr>
          <a:xfrm>
            <a:off x="8092440" y="2514600"/>
            <a:ext cx="2880360" cy="320040"/>
          </a:xfrm>
          <a:prstGeom prst="rect">
            <a:avLst/>
          </a:prstGeom>
          <a:noFill/>
          <a:ln/>
        </p:spPr>
        <p:txBody>
          <a:bodyPr wrap="square" lIns="0" tIns="0" rIns="0" bIns="0" rtlCol="0" anchor="ctr">
            <a:normAutofit/>
          </a:bodyPr>
          <a:lstStyle/>
          <a:p>
            <a:pPr algn="l" indent="0" marL="0">
              <a:buNone/>
            </a:pPr>
            <a:r>
              <a:rPr lang="en-US" sz="1800" b="1" dirty="0">
                <a:solidFill>
                  <a:srgbClr val="F4EEF2"/>
                </a:solidFill>
                <a:latin typeface="Aptos Mono" pitchFamily="34" charset="0"/>
                <a:ea typeface="Aptos Mono" pitchFamily="34" charset="-122"/>
                <a:cs typeface="Aptos Mono" pitchFamily="34" charset="-120"/>
              </a:rPr>
              <a:t>COLLABORATIVE VIEWS</a:t>
            </a:r>
            <a:endParaRPr lang="en-US" sz="1800" dirty="0"/>
          </a:p>
        </p:txBody>
      </p:sp>
      <p:sp>
        <p:nvSpPr>
          <p:cNvPr id="18" name="Text 15"/>
          <p:cNvSpPr/>
          <p:nvPr/>
        </p:nvSpPr>
        <p:spPr>
          <a:xfrm>
            <a:off x="8092440" y="3017520"/>
            <a:ext cx="2880360" cy="1463040"/>
          </a:xfrm>
          <a:prstGeom prst="rect">
            <a:avLst/>
          </a:prstGeom>
          <a:noFill/>
          <a:ln/>
        </p:spPr>
        <p:txBody>
          <a:bodyPr wrap="square" lIns="0" tIns="0" rIns="0" bIns="0" rtlCol="0" anchor="ctr">
            <a:normAutofit/>
          </a:bodyPr>
          <a:lstStyle/>
          <a:p>
            <a:pPr algn="l" indent="0" marL="0">
              <a:buNone/>
            </a:pPr>
            <a:r>
              <a:rPr lang="en-US" sz="2000" dirty="0">
                <a:solidFill>
                  <a:srgbClr val="BDB5C4"/>
                </a:solidFill>
                <a:latin typeface="Aptos" pitchFamily="34" charset="0"/>
                <a:ea typeface="Aptos" pitchFamily="34" charset="-122"/>
                <a:cs typeface="Aptos" pitchFamily="34" charset="-120"/>
              </a:rPr>
              <a:t>Invite teammates into live runs,</a:t>
            </a:r>
            <a:endParaRPr lang="en-US" sz="2000" dirty="0"/>
          </a:p>
          <a:p>
            <a:pPr algn="l" indent="0" marL="0">
              <a:buNone/>
            </a:pPr>
            <a:r>
              <a:rPr lang="en-US" sz="2000" dirty="0">
                <a:solidFill>
                  <a:srgbClr val="BDB5C4"/>
                </a:solidFill>
                <a:latin typeface="Aptos" pitchFamily="34" charset="0"/>
                <a:ea typeface="Aptos" pitchFamily="34" charset="-122"/>
                <a:cs typeface="Aptos" pitchFamily="34" charset="-120"/>
              </a:rPr>
              <a:t>comment directly on code diffs, and</a:t>
            </a:r>
            <a:endParaRPr lang="en-US" sz="2000" dirty="0"/>
          </a:p>
          <a:p>
            <a:pPr algn="l" indent="0" marL="0">
              <a:buNone/>
            </a:pPr>
            <a:r>
              <a:rPr lang="en-US" sz="2000" dirty="0">
                <a:solidFill>
                  <a:srgbClr val="BDB5C4"/>
                </a:solidFill>
                <a:latin typeface="Aptos" pitchFamily="34" charset="0"/>
                <a:ea typeface="Aptos" pitchFamily="34" charset="-122"/>
                <a:cs typeface="Aptos" pitchFamily="34" charset="-120"/>
              </a:rPr>
              <a:t>inspect transparent session DAG lineage.</a:t>
            </a:r>
            <a:endParaRPr lang="en-US" sz="2000" dirty="0"/>
          </a:p>
        </p:txBody>
      </p:sp>
      <p:sp>
        <p:nvSpPr>
          <p:cNvPr id="19" name="Text 16"/>
          <p:cNvSpPr/>
          <p:nvPr/>
        </p:nvSpPr>
        <p:spPr>
          <a:xfrm>
            <a:off x="731520" y="5303520"/>
            <a:ext cx="10698480" cy="457200"/>
          </a:xfrm>
          <a:prstGeom prst="rect">
            <a:avLst/>
          </a:prstGeom>
          <a:noFill/>
          <a:ln/>
        </p:spPr>
        <p:txBody>
          <a:bodyPr wrap="square" lIns="0" tIns="0" rIns="0" bIns="0" rtlCol="0" anchor="ctr">
            <a:normAutofit/>
          </a:bodyPr>
          <a:lstStyle/>
          <a:p>
            <a:pPr algn="ctr" indent="0" marL="0">
              <a:buNone/>
            </a:pPr>
            <a:r>
              <a:rPr lang="en-US" sz="2600" b="1" dirty="0">
                <a:solidFill>
                  <a:srgbClr val="4DC5A0"/>
                </a:solidFill>
                <a:latin typeface="Aptos" pitchFamily="34" charset="0"/>
                <a:ea typeface="Aptos" pitchFamily="34" charset="-122"/>
                <a:cs typeface="Aptos" pitchFamily="34" charset="-120"/>
              </a:rPr>
              <a:t>When work must move, carry evidence, not confidence.</a:t>
            </a:r>
            <a:endParaRPr lang="en-US" sz="2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3" name="Image 0" descr="Anas Khan speaking at a technology event">    </p:cNvPr>
          <p:cNvPicPr>
            <a:picLocks noChangeAspect="1"/>
          </p:cNvPicPr>
          <p:nvPr/>
        </p:nvPicPr>
        <p:blipFill>
          <a:blip r:embed="rId1"/>
          <a:stretch>
            <a:fillRect/>
          </a:stretch>
        </p:blipFill>
        <p:spPr>
          <a:xfrm>
            <a:off x="6583680" y="0"/>
            <a:ext cx="5605272" cy="6858000"/>
          </a:xfrm>
          <a:prstGeom prst="rect">
            <a:avLst/>
          </a:prstGeom>
        </p:spPr>
      </p:pic>
      <p:sp>
        <p:nvSpPr>
          <p:cNvPr id="4" name="Text 0"/>
          <p:cNvSpPr/>
          <p:nvPr/>
        </p:nvSpPr>
        <p:spPr>
          <a:xfrm>
            <a:off x="658368" y="2468880"/>
            <a:ext cx="5349240" cy="822960"/>
          </a:xfrm>
          <a:prstGeom prst="rect">
            <a:avLst/>
          </a:prstGeom>
          <a:noFill/>
          <a:ln/>
        </p:spPr>
        <p:txBody>
          <a:bodyPr wrap="square" lIns="0" tIns="0" rIns="0" bIns="0" rtlCol="0" anchor="ctr">
            <a:normAutofit/>
          </a:bodyPr>
          <a:lstStyle/>
          <a:p>
            <a:pPr algn="ctr" indent="0" marL="0">
              <a:buNone/>
            </a:pPr>
            <a:r>
              <a:rPr lang="en-US" sz="5600" b="1" dirty="0">
                <a:solidFill>
                  <a:srgbClr val="15131A"/>
                </a:solidFill>
                <a:latin typeface="Aptos Display" pitchFamily="34" charset="0"/>
                <a:ea typeface="Aptos Display" pitchFamily="34" charset="-122"/>
                <a:cs typeface="Aptos Display" pitchFamily="34" charset="-120"/>
              </a:rPr>
              <a:t>Questions?</a:t>
            </a:r>
            <a:endParaRPr lang="en-US" sz="5600" dirty="0"/>
          </a:p>
        </p:txBody>
      </p:sp>
      <p:sp>
        <p:nvSpPr>
          <p:cNvPr id="5" name="Text 1"/>
          <p:cNvSpPr/>
          <p:nvPr/>
        </p:nvSpPr>
        <p:spPr>
          <a:xfrm>
            <a:off x="658368" y="3493008"/>
            <a:ext cx="5349240" cy="320040"/>
          </a:xfrm>
          <a:prstGeom prst="rect">
            <a:avLst/>
          </a:prstGeom>
          <a:noFill/>
          <a:ln/>
        </p:spPr>
        <p:txBody>
          <a:bodyPr wrap="square" lIns="0" tIns="0" rIns="0" bIns="0" rtlCol="0" anchor="ctr">
            <a:normAutofit/>
          </a:bodyPr>
          <a:lstStyle/>
          <a:p>
            <a:pPr algn="ctr" indent="0" marL="0">
              <a:buNone/>
            </a:pPr>
            <a:r>
              <a:rPr lang="en-US" sz="1700" b="1" dirty="0">
                <a:solidFill>
                  <a:srgbClr val="AD0C72"/>
                </a:solidFill>
                <a:latin typeface="Aptos" pitchFamily="34" charset="0"/>
                <a:ea typeface="Aptos" pitchFamily="34" charset="-122"/>
                <a:cs typeface="Aptos" pitchFamily="34" charset="-120"/>
              </a:rPr>
              <a:t>LinkedIn · anxkhn    ·    X · @anxkhn</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Independent technical talk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One Interface, Infinite Agents: Using Copilot with Omnigent</dc:title>
  <dc:subject>GitHub Copilot, Omnigent, session continuity, and agent forks</dc:subject>
  <dc:creator>Anas Khan</dc:creator>
  <cp:lastModifiedBy>Anas Khan</cp:lastModifiedBy>
  <cp:revision>1</cp:revision>
  <dcterms:created xsi:type="dcterms:W3CDTF">2026-09-05T04:32:44Z</dcterms:created>
  <dcterms:modified xsi:type="dcterms:W3CDTF">2026-09-05T04:32:44Z</dcterms:modified>
</cp:coreProperties>
</file>